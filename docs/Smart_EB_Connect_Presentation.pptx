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embeddedFontLst>
    <p:embeddedFont>
      <p:font typeface="Inter SemiBold"/>
      <p:regular r:id="rId16"/>
      <p:bold r:id="rId17"/>
      <p:italic r:id="rId18"/>
      <p:boldItalic r:id="rId19"/>
    </p:embeddedFont>
    <p:embeddedFont>
      <p:font typeface="Inter"/>
      <p:regular r:id="rId20"/>
      <p:bold r:id="rId21"/>
      <p:italic r:id="rId22"/>
      <p:boldItalic r:id="rId23"/>
    </p:embeddedFont>
    <p:embeddedFont>
      <p:font typeface="Fira Code Medium"/>
      <p:regular r:id="rId24"/>
      <p:bold r:id="rId25"/>
    </p:embeddedFont>
    <p:embeddedFont>
      <p:font typeface="Outfit"/>
      <p:bold r:id="rId26"/>
    </p:embeddedFont>
    <p:embeddedFont>
      <p:font typeface="Outfit SemiBold"/>
      <p:regular r:id="rId27"/>
      <p:bold r:id="rId28"/>
    </p:embeddedFont>
    <p:embeddedFont>
      <p:font typeface="Fira Code"/>
      <p:bold r:id="rId29"/>
    </p:embeddedFont>
    <p:embeddedFont>
      <p:font typeface="Inter Medium"/>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Inter-regular.fntdata"/><Relationship Id="rId22" Type="http://schemas.openxmlformats.org/officeDocument/2006/relationships/font" Target="fonts/Inter-italic.fntdata"/><Relationship Id="rId21" Type="http://schemas.openxmlformats.org/officeDocument/2006/relationships/font" Target="fonts/Inter-bold.fntdata"/><Relationship Id="rId24" Type="http://schemas.openxmlformats.org/officeDocument/2006/relationships/font" Target="fonts/FiraCodeMedium-regular.fntdata"/><Relationship Id="rId23" Type="http://schemas.openxmlformats.org/officeDocument/2006/relationships/font" Target="fonts/Inter-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Outfit-bold.fntdata"/><Relationship Id="rId25" Type="http://schemas.openxmlformats.org/officeDocument/2006/relationships/font" Target="fonts/FiraCodeMedium-bold.fntdata"/><Relationship Id="rId28" Type="http://schemas.openxmlformats.org/officeDocument/2006/relationships/font" Target="fonts/OutfitSemiBold-bold.fntdata"/><Relationship Id="rId27" Type="http://schemas.openxmlformats.org/officeDocument/2006/relationships/font" Target="fonts/OutfitSemiBold-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FiraCode-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InterMedium-bold.fntdata"/><Relationship Id="rId30" Type="http://schemas.openxmlformats.org/officeDocument/2006/relationships/font" Target="fonts/InterMedium-regular.fntdata"/><Relationship Id="rId11" Type="http://schemas.openxmlformats.org/officeDocument/2006/relationships/slide" Target="slides/slide6.xml"/><Relationship Id="rId33" Type="http://schemas.openxmlformats.org/officeDocument/2006/relationships/font" Target="fonts/InterMedium-boldItalic.fntdata"/><Relationship Id="rId10" Type="http://schemas.openxmlformats.org/officeDocument/2006/relationships/slide" Target="slides/slide5.xml"/><Relationship Id="rId32" Type="http://schemas.openxmlformats.org/officeDocument/2006/relationships/font" Target="fonts/InterMedium-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InterSemiBold-bold.fntdata"/><Relationship Id="rId16" Type="http://schemas.openxmlformats.org/officeDocument/2006/relationships/font" Target="fonts/InterSemiBold-regular.fntdata"/><Relationship Id="rId19" Type="http://schemas.openxmlformats.org/officeDocument/2006/relationships/font" Target="fonts/InterSemiBold-boldItalic.fntdata"/><Relationship Id="rId18" Type="http://schemas.openxmlformats.org/officeDocument/2006/relationships/font" Target="fonts/InterSemi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h21885c83127d3e16_11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3" name="Google Shape;53;h21885c83127d3e16_1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h21885c83127d3e16_10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h21885c83127d3e16_1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h21885c83127d3e16_9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h21885c83127d3e16_9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h21885c83127d3e16_8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h21885c83127d3e16_8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h21885c83127d3e16_7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h21885c83127d3e16_7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h21885c83127d3e16_6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h21885c83127d3e16_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h21885c83127d3e16_5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h21885c83127d3e16_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h21885c83127d3e16_4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367" name="Google Shape;367;h21885c83127d3e16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h21885c83127d3e16_3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479" name="Google Shape;479;h21885c83127d3e16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h21885c83127d3e16_2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15" name="Google Shape;515;h21885c83127d3e16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h21885c83127d3e16_1_0)">
  <p:cSld name="Generated (h21885c83127d3e16_1_0)">
    <p:spTree>
      <p:nvGrpSpPr>
        <p:cNvPr id="9" name="Shape 9"/>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2" name="Google Shape;12;p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4"/>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6" name="Google Shape;16;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9" name="Google Shape;19;p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0" name="Google Shape;20;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3" name="Google Shape;23;p6"/>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6"/>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 name="Google Shape;25;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8" name="Google Shape;2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8"/>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1" name="Google Shape;31;p8"/>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 name="Google Shape;32;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3" name="Shape 33"/>
        <p:cNvGrpSpPr/>
        <p:nvPr/>
      </p:nvGrpSpPr>
      <p:grpSpPr>
        <a:xfrm>
          <a:off x="0" y="0"/>
          <a:ext cx="0" cy="0"/>
          <a:chOff x="0" y="0"/>
          <a:chExt cx="0" cy="0"/>
        </a:xfrm>
      </p:grpSpPr>
      <p:sp>
        <p:nvSpPr>
          <p:cNvPr id="34" name="Google Shape;34;p9"/>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5" name="Google Shape;35;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1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10"/>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9" name="Google Shape;39;p10"/>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0" name="Google Shape;40;p10"/>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1" name="Google Shape;41;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2" name="Shape 42"/>
        <p:cNvGrpSpPr/>
        <p:nvPr/>
      </p:nvGrpSpPr>
      <p:grpSpPr>
        <a:xfrm>
          <a:off x="0" y="0"/>
          <a:ext cx="0" cy="0"/>
          <a:chOff x="0" y="0"/>
          <a:chExt cx="0" cy="0"/>
        </a:xfrm>
      </p:grpSpPr>
      <p:sp>
        <p:nvSpPr>
          <p:cNvPr id="43" name="Google Shape;43;p11"/>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4" name="Google Shape;44;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5" name="Shape 45"/>
        <p:cNvGrpSpPr/>
        <p:nvPr/>
      </p:nvGrpSpPr>
      <p:grpSpPr>
        <a:xfrm>
          <a:off x="0" y="0"/>
          <a:ext cx="0" cy="0"/>
          <a:chOff x="0" y="0"/>
          <a:chExt cx="0" cy="0"/>
        </a:xfrm>
      </p:grpSpPr>
      <p:sp>
        <p:nvSpPr>
          <p:cNvPr id="46" name="Google Shape;46;p12"/>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7" name="Google Shape;47;p12"/>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8" name="Google Shape;48;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9" name="Shape 49"/>
        <p:cNvGrpSpPr/>
        <p:nvPr/>
      </p:nvGrpSpPr>
      <p:grpSpPr>
        <a:xfrm>
          <a:off x="0" y="0"/>
          <a:ext cx="0" cy="0"/>
          <a:chOff x="0" y="0"/>
          <a:chExt cx="0" cy="0"/>
        </a:xfrm>
      </p:grpSpPr>
      <p:sp>
        <p:nvSpPr>
          <p:cNvPr id="50" name="Google Shape;50;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13.png"/><Relationship Id="rId5" Type="http://schemas.openxmlformats.org/officeDocument/2006/relationships/image" Target="../media/image1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16.png"/><Relationship Id="rId5" Type="http://schemas.openxmlformats.org/officeDocument/2006/relationships/image" Target="../media/image14.png"/><Relationship Id="rId6" Type="http://schemas.openxmlformats.org/officeDocument/2006/relationships/image" Target="../media/image21.png"/><Relationship Id="rId7" Type="http://schemas.openxmlformats.org/officeDocument/2006/relationships/image" Target="../media/image15.png"/><Relationship Id="rId8"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10.png"/><Relationship Id="rId5"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325"/>
        </a:solidFill>
      </p:bgPr>
    </p:bg>
    <p:spTree>
      <p:nvGrpSpPr>
        <p:cNvPr id="54" name="Shape 54"/>
        <p:cNvGrpSpPr/>
        <p:nvPr/>
      </p:nvGrpSpPr>
      <p:grpSpPr>
        <a:xfrm>
          <a:off x="0" y="0"/>
          <a:ext cx="0" cy="0"/>
          <a:chOff x="0" y="0"/>
          <a:chExt cx="0" cy="0"/>
        </a:xfrm>
      </p:grpSpPr>
      <p:sp>
        <p:nvSpPr>
          <p:cNvPr id="55" name="Google Shape;55;p14"/>
          <p:cNvSpPr/>
          <p:nvPr/>
        </p:nvSpPr>
        <p:spPr>
          <a:xfrm>
            <a:off x="0" y="0"/>
            <a:ext cx="9144000" cy="5143500"/>
          </a:xfrm>
          <a:prstGeom prst="rect">
            <a:avLst/>
          </a:prstGeom>
          <a:gradFill>
            <a:gsLst>
              <a:gs pos="0">
                <a:srgbClr val="172554">
                  <a:alpha val="74902"/>
                </a:srgbClr>
              </a:gs>
              <a:gs pos="100000">
                <a:srgbClr val="0B1325">
                  <a:alpha val="0"/>
                </a:srgbClr>
              </a:gs>
            </a:gsLst>
            <a:path path="circle">
              <a:fillToRect b="50%" l="50%" r="50%" t="50%"/>
            </a:path>
            <a:tileRect/>
          </a:gra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56" name="Google Shape;56;p14"/>
          <p:cNvPicPr preferRelativeResize="0"/>
          <p:nvPr/>
        </p:nvPicPr>
        <p:blipFill rotWithShape="1">
          <a:blip r:embed="rId3">
            <a:alphaModFix/>
          </a:blip>
          <a:srcRect b="0" l="0" r="0" t="0"/>
          <a:stretch/>
        </p:blipFill>
        <p:spPr>
          <a:xfrm>
            <a:off x="0" y="0"/>
            <a:ext cx="9144000" cy="5143500"/>
          </a:xfrm>
          <a:prstGeom prst="rect">
            <a:avLst/>
          </a:prstGeom>
          <a:noFill/>
          <a:ln>
            <a:noFill/>
          </a:ln>
        </p:spPr>
      </p:pic>
      <p:pic>
        <p:nvPicPr>
          <p:cNvPr id="57" name="Google Shape;57;p14"/>
          <p:cNvPicPr preferRelativeResize="0"/>
          <p:nvPr/>
        </p:nvPicPr>
        <p:blipFill rotWithShape="1">
          <a:blip r:embed="rId4">
            <a:alphaModFix/>
          </a:blip>
          <a:srcRect b="0" l="0" r="0" t="0"/>
          <a:stretch/>
        </p:blipFill>
        <p:spPr>
          <a:xfrm>
            <a:off x="447675" y="447675"/>
            <a:ext cx="314400" cy="314400"/>
          </a:xfrm>
          <a:prstGeom prst="rect">
            <a:avLst/>
          </a:prstGeom>
          <a:noFill/>
          <a:ln>
            <a:noFill/>
          </a:ln>
        </p:spPr>
      </p:pic>
      <p:pic>
        <p:nvPicPr>
          <p:cNvPr id="58" name="Google Shape;58;p14"/>
          <p:cNvPicPr preferRelativeResize="0"/>
          <p:nvPr/>
        </p:nvPicPr>
        <p:blipFill rotWithShape="1">
          <a:blip r:embed="rId5">
            <a:alphaModFix/>
          </a:blip>
          <a:srcRect b="0" l="0" r="0" t="0"/>
          <a:stretch/>
        </p:blipFill>
        <p:spPr>
          <a:xfrm>
            <a:off x="8382000" y="447675"/>
            <a:ext cx="314400" cy="314400"/>
          </a:xfrm>
          <a:prstGeom prst="rect">
            <a:avLst/>
          </a:prstGeom>
          <a:noFill/>
          <a:ln>
            <a:noFill/>
          </a:ln>
        </p:spPr>
      </p:pic>
      <p:grpSp>
        <p:nvGrpSpPr>
          <p:cNvPr id="59" name="Google Shape;59;p14"/>
          <p:cNvGrpSpPr/>
          <p:nvPr/>
        </p:nvGrpSpPr>
        <p:grpSpPr>
          <a:xfrm>
            <a:off x="4191000" y="552450"/>
            <a:ext cx="762000" cy="952500"/>
            <a:chOff x="0" y="0"/>
            <a:chExt cx="304800" cy="381000"/>
          </a:xfrm>
        </p:grpSpPr>
        <p:sp>
          <p:nvSpPr>
            <p:cNvPr id="60" name="Google Shape;60;p14"/>
            <p:cNvSpPr/>
            <p:nvPr/>
          </p:nvSpPr>
          <p:spPr>
            <a:xfrm>
              <a:off x="0" y="0"/>
              <a:ext cx="304800" cy="381000"/>
            </a:xfrm>
            <a:custGeom>
              <a:rect b="b" l="l" r="r" t="t"/>
              <a:pathLst>
                <a:path extrusionOk="0" h="120000" w="120000">
                  <a:moveTo>
                    <a:pt x="60000" y="0"/>
                  </a:moveTo>
                  <a:cubicBezTo>
                    <a:pt x="26861" y="0"/>
                    <a:pt x="0" y="21489"/>
                    <a:pt x="0" y="48000"/>
                  </a:cubicBezTo>
                  <a:cubicBezTo>
                    <a:pt x="0" y="81600"/>
                    <a:pt x="60000" y="120000"/>
                    <a:pt x="60000" y="120000"/>
                  </a:cubicBezTo>
                  <a:lnTo>
                    <a:pt x="120000" y="81600"/>
                  </a:lnTo>
                  <a:lnTo>
                    <a:pt x="120000" y="48000"/>
                  </a:lnTo>
                  <a:cubicBezTo>
                    <a:pt x="120000" y="21489"/>
                    <a:pt x="93139" y="0"/>
                    <a:pt x="60000" y="0"/>
                  </a:cubicBezTo>
                  <a:close/>
                </a:path>
              </a:pathLst>
            </a:custGeom>
            <a:solidFill>
              <a:srgbClr val="1E293B"/>
            </a:solidFill>
            <a:ln cap="flat" cmpd="sng" w="19050">
              <a:solidFill>
                <a:srgbClr val="F59E0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1" name="Google Shape;61;p14"/>
            <p:cNvSpPr/>
            <p:nvPr/>
          </p:nvSpPr>
          <p:spPr>
            <a:xfrm>
              <a:off x="85725" y="57150"/>
              <a:ext cx="123900" cy="190500"/>
            </a:xfrm>
            <a:custGeom>
              <a:rect b="b" l="l" r="r" t="t"/>
              <a:pathLst>
                <a:path extrusionOk="0" h="120000" w="120000">
                  <a:moveTo>
                    <a:pt x="64615" y="0"/>
                  </a:moveTo>
                  <a:lnTo>
                    <a:pt x="0" y="60000"/>
                  </a:lnTo>
                  <a:lnTo>
                    <a:pt x="55385" y="60000"/>
                  </a:lnTo>
                  <a:lnTo>
                    <a:pt x="55385" y="120000"/>
                  </a:lnTo>
                  <a:lnTo>
                    <a:pt x="120000" y="60000"/>
                  </a:lnTo>
                  <a:lnTo>
                    <a:pt x="64615" y="60000"/>
                  </a:lnTo>
                  <a:lnTo>
                    <a:pt x="101538" y="0"/>
                  </a:lnTo>
                  <a:close/>
                </a:path>
              </a:pathLst>
            </a:cu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62" name="Google Shape;62;p14"/>
          <p:cNvSpPr txBox="1"/>
          <p:nvPr/>
        </p:nvSpPr>
        <p:spPr>
          <a:xfrm>
            <a:off x="571500" y="1619250"/>
            <a:ext cx="8001000" cy="2190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1100">
                <a:solidFill>
                  <a:srgbClr val="38BDF8"/>
                </a:solidFill>
                <a:latin typeface="Inter SemiBold"/>
                <a:ea typeface="Inter SemiBold"/>
                <a:cs typeface="Inter SemiBold"/>
                <a:sym typeface="Inter SemiBold"/>
              </a:rPr>
              <a:t>FULL-STACK DEVELOPMENT (FSD) ACADEMIC PROJECT</a:t>
            </a:r>
            <a:endParaRPr b="0" sz="1100">
              <a:solidFill>
                <a:srgbClr val="38BDF8"/>
              </a:solidFill>
              <a:latin typeface="Inter SemiBold"/>
              <a:ea typeface="Inter SemiBold"/>
              <a:cs typeface="Inter SemiBold"/>
              <a:sym typeface="Inter SemiBold"/>
            </a:endParaRPr>
          </a:p>
          <a:p>
            <a:pPr indent="0" lvl="0" marL="0" rtl="0" algn="ctr">
              <a:spcBef>
                <a:spcPts val="900"/>
              </a:spcBef>
              <a:spcAft>
                <a:spcPts val="0"/>
              </a:spcAft>
              <a:buNone/>
            </a:pPr>
            <a:r>
              <a:rPr b="1" lang="en-GB" sz="4000">
                <a:solidFill>
                  <a:srgbClr val="F8FAFC"/>
                </a:solidFill>
                <a:latin typeface="Outfit"/>
                <a:ea typeface="Outfit"/>
                <a:cs typeface="Outfit"/>
                <a:sym typeface="Outfit"/>
              </a:rPr>
              <a:t>Smart EB Connect</a:t>
            </a:r>
            <a:endParaRPr b="1" sz="4000">
              <a:solidFill>
                <a:srgbClr val="F8FAFC"/>
              </a:solidFill>
              <a:latin typeface="Outfit"/>
              <a:ea typeface="Outfit"/>
              <a:cs typeface="Outfit"/>
              <a:sym typeface="Outfit"/>
            </a:endParaRPr>
          </a:p>
          <a:p>
            <a:pPr indent="0" lvl="0" marL="0" rtl="0" algn="ctr">
              <a:spcBef>
                <a:spcPts val="1050"/>
              </a:spcBef>
              <a:spcAft>
                <a:spcPts val="0"/>
              </a:spcAft>
              <a:buNone/>
            </a:pPr>
            <a:r>
              <a:rPr b="0" lang="en-GB" sz="1800">
                <a:solidFill>
                  <a:srgbClr val="F59E0B"/>
                </a:solidFill>
                <a:latin typeface="Outfit SemiBold"/>
                <a:ea typeface="Outfit SemiBold"/>
                <a:cs typeface="Outfit SemiBold"/>
                <a:sym typeface="Outfit SemiBold"/>
              </a:rPr>
              <a:t>Location-Based Electricity Fault Reporting &amp; Technician Assistance Web Application</a:t>
            </a:r>
            <a:endParaRPr b="0" sz="1800">
              <a:solidFill>
                <a:srgbClr val="F59E0B"/>
              </a:solidFill>
              <a:latin typeface="Outfit SemiBold"/>
              <a:ea typeface="Outfit SemiBold"/>
              <a:cs typeface="Outfit SemiBold"/>
              <a:sym typeface="Outfit SemiBold"/>
            </a:endParaRPr>
          </a:p>
          <a:p>
            <a:pPr indent="0" lvl="0" marL="0" rtl="0" algn="ctr">
              <a:spcBef>
                <a:spcPts val="1050"/>
              </a:spcBef>
              <a:spcAft>
                <a:spcPts val="0"/>
              </a:spcAft>
              <a:buNone/>
            </a:pPr>
            <a:r>
              <a:rPr b="0" lang="en-GB" sz="1300">
                <a:solidFill>
                  <a:srgbClr val="94A3B8"/>
                </a:solidFill>
                <a:latin typeface="Inter"/>
                <a:ea typeface="Inter"/>
                <a:cs typeface="Inter"/>
                <a:sym typeface="Inter"/>
              </a:rPr>
              <a:t>A full-stack web platform designed to streamline power outage reporting and fault resolution by bridging consumers, field technicians, and system administrators.</a:t>
            </a:r>
            <a:endParaRPr b="0" sz="1300">
              <a:solidFill>
                <a:srgbClr val="94A3B8"/>
              </a:solidFill>
              <a:latin typeface="Inter"/>
              <a:ea typeface="Inter"/>
              <a:cs typeface="Inter"/>
              <a:sym typeface="Inter"/>
            </a:endParaRPr>
          </a:p>
        </p:txBody>
      </p:sp>
      <p:grpSp>
        <p:nvGrpSpPr>
          <p:cNvPr id="63" name="Google Shape;63;p14"/>
          <p:cNvGrpSpPr/>
          <p:nvPr/>
        </p:nvGrpSpPr>
        <p:grpSpPr>
          <a:xfrm>
            <a:off x="1866900" y="4019550"/>
            <a:ext cx="1238400" cy="266700"/>
            <a:chOff x="0" y="0"/>
            <a:chExt cx="1238400" cy="266700"/>
          </a:xfrm>
        </p:grpSpPr>
        <p:sp>
          <p:nvSpPr>
            <p:cNvPr id="64" name="Google Shape;64;p14"/>
            <p:cNvSpPr/>
            <p:nvPr/>
          </p:nvSpPr>
          <p:spPr>
            <a:xfrm>
              <a:off x="0" y="0"/>
              <a:ext cx="1238400" cy="266700"/>
            </a:xfrm>
            <a:prstGeom prst="roundRect">
              <a:avLst>
                <a:gd fmla="val 50000" name="adj"/>
              </a:avLst>
            </a:prstGeom>
            <a:solidFill>
              <a:srgbClr val="1E293B"/>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5" name="Google Shape;65;p14"/>
            <p:cNvSpPr txBox="1"/>
            <p:nvPr/>
          </p:nvSpPr>
          <p:spPr>
            <a:xfrm>
              <a:off x="0" y="38100"/>
              <a:ext cx="12384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850">
                  <a:solidFill>
                    <a:srgbClr val="38BDF8"/>
                  </a:solidFill>
                  <a:latin typeface="Inter SemiBold"/>
                  <a:ea typeface="Inter SemiBold"/>
                  <a:cs typeface="Inter SemiBold"/>
                  <a:sym typeface="Inter SemiBold"/>
                </a:rPr>
                <a:t>REACT.JS + VITE</a:t>
              </a:r>
              <a:endParaRPr b="0" sz="850">
                <a:solidFill>
                  <a:srgbClr val="38BDF8"/>
                </a:solidFill>
                <a:latin typeface="Inter SemiBold"/>
                <a:ea typeface="Inter SemiBold"/>
                <a:cs typeface="Inter SemiBold"/>
                <a:sym typeface="Inter SemiBold"/>
              </a:endParaRPr>
            </a:p>
          </p:txBody>
        </p:sp>
      </p:grpSp>
      <p:grpSp>
        <p:nvGrpSpPr>
          <p:cNvPr id="66" name="Google Shape;66;p14"/>
          <p:cNvGrpSpPr/>
          <p:nvPr/>
        </p:nvGrpSpPr>
        <p:grpSpPr>
          <a:xfrm>
            <a:off x="3257550" y="4019550"/>
            <a:ext cx="1238400" cy="266700"/>
            <a:chOff x="0" y="0"/>
            <a:chExt cx="1238400" cy="266700"/>
          </a:xfrm>
        </p:grpSpPr>
        <p:sp>
          <p:nvSpPr>
            <p:cNvPr id="67" name="Google Shape;67;p14"/>
            <p:cNvSpPr/>
            <p:nvPr/>
          </p:nvSpPr>
          <p:spPr>
            <a:xfrm>
              <a:off x="0" y="0"/>
              <a:ext cx="1238400" cy="266700"/>
            </a:xfrm>
            <a:prstGeom prst="roundRect">
              <a:avLst>
                <a:gd fmla="val 50000" name="adj"/>
              </a:avLst>
            </a:prstGeom>
            <a:solidFill>
              <a:srgbClr val="1E293B"/>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8" name="Google Shape;68;p14"/>
            <p:cNvSpPr txBox="1"/>
            <p:nvPr/>
          </p:nvSpPr>
          <p:spPr>
            <a:xfrm>
              <a:off x="0" y="38100"/>
              <a:ext cx="12384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850">
                  <a:solidFill>
                    <a:srgbClr val="38BDF8"/>
                  </a:solidFill>
                  <a:latin typeface="Inter SemiBold"/>
                  <a:ea typeface="Inter SemiBold"/>
                  <a:cs typeface="Inter SemiBold"/>
                  <a:sym typeface="Inter SemiBold"/>
                </a:rPr>
                <a:t>NODE + EXPRESS</a:t>
              </a:r>
              <a:endParaRPr b="0" sz="850">
                <a:solidFill>
                  <a:srgbClr val="38BDF8"/>
                </a:solidFill>
                <a:latin typeface="Inter SemiBold"/>
                <a:ea typeface="Inter SemiBold"/>
                <a:cs typeface="Inter SemiBold"/>
                <a:sym typeface="Inter SemiBold"/>
              </a:endParaRPr>
            </a:p>
          </p:txBody>
        </p:sp>
      </p:grpSp>
      <p:grpSp>
        <p:nvGrpSpPr>
          <p:cNvPr id="69" name="Google Shape;69;p14"/>
          <p:cNvGrpSpPr/>
          <p:nvPr/>
        </p:nvGrpSpPr>
        <p:grpSpPr>
          <a:xfrm>
            <a:off x="4648200" y="4019550"/>
            <a:ext cx="1238400" cy="266700"/>
            <a:chOff x="0" y="0"/>
            <a:chExt cx="1238400" cy="266700"/>
          </a:xfrm>
        </p:grpSpPr>
        <p:sp>
          <p:nvSpPr>
            <p:cNvPr id="70" name="Google Shape;70;p14"/>
            <p:cNvSpPr/>
            <p:nvPr/>
          </p:nvSpPr>
          <p:spPr>
            <a:xfrm>
              <a:off x="0" y="0"/>
              <a:ext cx="1238400" cy="266700"/>
            </a:xfrm>
            <a:prstGeom prst="roundRect">
              <a:avLst>
                <a:gd fmla="val 50000" name="adj"/>
              </a:avLst>
            </a:prstGeom>
            <a:solidFill>
              <a:srgbClr val="1E293B"/>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1" name="Google Shape;71;p14"/>
            <p:cNvSpPr txBox="1"/>
            <p:nvPr/>
          </p:nvSpPr>
          <p:spPr>
            <a:xfrm>
              <a:off x="0" y="38100"/>
              <a:ext cx="12384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850">
                  <a:solidFill>
                    <a:srgbClr val="38BDF8"/>
                  </a:solidFill>
                  <a:latin typeface="Inter SemiBold"/>
                  <a:ea typeface="Inter SemiBold"/>
                  <a:cs typeface="Inter SemiBold"/>
                  <a:sym typeface="Inter SemiBold"/>
                </a:rPr>
                <a:t>MONGODB GEOJSON</a:t>
              </a:r>
              <a:endParaRPr b="0" sz="850">
                <a:solidFill>
                  <a:srgbClr val="38BDF8"/>
                </a:solidFill>
                <a:latin typeface="Inter SemiBold"/>
                <a:ea typeface="Inter SemiBold"/>
                <a:cs typeface="Inter SemiBold"/>
                <a:sym typeface="Inter SemiBold"/>
              </a:endParaRPr>
            </a:p>
          </p:txBody>
        </p:sp>
      </p:grpSp>
      <p:grpSp>
        <p:nvGrpSpPr>
          <p:cNvPr id="72" name="Google Shape;72;p14"/>
          <p:cNvGrpSpPr/>
          <p:nvPr/>
        </p:nvGrpSpPr>
        <p:grpSpPr>
          <a:xfrm>
            <a:off x="6038850" y="4019550"/>
            <a:ext cx="1238400" cy="266700"/>
            <a:chOff x="0" y="0"/>
            <a:chExt cx="1238400" cy="266700"/>
          </a:xfrm>
        </p:grpSpPr>
        <p:sp>
          <p:nvSpPr>
            <p:cNvPr id="73" name="Google Shape;73;p14"/>
            <p:cNvSpPr/>
            <p:nvPr/>
          </p:nvSpPr>
          <p:spPr>
            <a:xfrm>
              <a:off x="0" y="0"/>
              <a:ext cx="1238400" cy="266700"/>
            </a:xfrm>
            <a:prstGeom prst="roundRect">
              <a:avLst>
                <a:gd fmla="val 50000" name="adj"/>
              </a:avLst>
            </a:prstGeom>
            <a:solidFill>
              <a:srgbClr val="1E293B"/>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4" name="Google Shape;74;p14"/>
            <p:cNvSpPr txBox="1"/>
            <p:nvPr/>
          </p:nvSpPr>
          <p:spPr>
            <a:xfrm>
              <a:off x="0" y="38100"/>
              <a:ext cx="12384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850">
                  <a:solidFill>
                    <a:srgbClr val="38BDF8"/>
                  </a:solidFill>
                  <a:latin typeface="Inter SemiBold"/>
                  <a:ea typeface="Inter SemiBold"/>
                  <a:cs typeface="Inter SemiBold"/>
                  <a:sym typeface="Inter SemiBold"/>
                </a:rPr>
                <a:t>LEAFLET + OSM</a:t>
              </a:r>
              <a:endParaRPr b="0" sz="850">
                <a:solidFill>
                  <a:srgbClr val="38BDF8"/>
                </a:solidFill>
                <a:latin typeface="Inter SemiBold"/>
                <a:ea typeface="Inter SemiBold"/>
                <a:cs typeface="Inter SemiBold"/>
                <a:sym typeface="Inter SemiBold"/>
              </a:endParaRPr>
            </a:p>
          </p:txBody>
        </p:sp>
      </p:grpSp>
      <p:grpSp>
        <p:nvGrpSpPr>
          <p:cNvPr id="75" name="Google Shape;75;p14"/>
          <p:cNvGrpSpPr/>
          <p:nvPr/>
        </p:nvGrpSpPr>
        <p:grpSpPr>
          <a:xfrm>
            <a:off x="457200" y="4619625"/>
            <a:ext cx="8229600" cy="285750"/>
            <a:chOff x="457200" y="4619625"/>
            <a:chExt cx="8229600" cy="285750"/>
          </a:xfrm>
        </p:grpSpPr>
        <p:sp>
          <p:nvSpPr>
            <p:cNvPr id="76" name="Google Shape;76;p14"/>
            <p:cNvSpPr/>
            <p:nvPr/>
          </p:nvSpPr>
          <p:spPr>
            <a:xfrm>
              <a:off x="457200" y="4619625"/>
              <a:ext cx="8229600" cy="9600"/>
            </a:xfrm>
            <a:prstGeom prst="rect">
              <a:avLst/>
            </a:prstGeom>
            <a:solidFill>
              <a:srgbClr val="F59E0B">
                <a:alpha val="4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7" name="Google Shape;77;p14"/>
            <p:cNvSpPr txBox="1"/>
            <p:nvPr/>
          </p:nvSpPr>
          <p:spPr>
            <a:xfrm>
              <a:off x="457200" y="4714875"/>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950">
                  <a:solidFill>
                    <a:srgbClr val="94A3B8"/>
                  </a:solidFill>
                  <a:latin typeface="Inter SemiBold"/>
                  <a:ea typeface="Inter SemiBold"/>
                  <a:cs typeface="Inter SemiBold"/>
                  <a:sym typeface="Inter SemiBold"/>
                </a:rPr>
                <a:t>Smart EB Connect | Executive Summary &amp; Overview</a:t>
              </a:r>
              <a:endParaRPr b="0" sz="950">
                <a:solidFill>
                  <a:srgbClr val="94A3B8"/>
                </a:solidFill>
                <a:latin typeface="Inter SemiBold"/>
                <a:ea typeface="Inter SemiBold"/>
                <a:cs typeface="Inter SemiBold"/>
                <a:sym typeface="Inter SemiBold"/>
              </a:endParaRPr>
            </a:p>
          </p:txBody>
        </p:sp>
        <p:sp>
          <p:nvSpPr>
            <p:cNvPr id="78" name="Google Shape;78;p14"/>
            <p:cNvSpPr txBox="1"/>
            <p:nvPr/>
          </p:nvSpPr>
          <p:spPr>
            <a:xfrm>
              <a:off x="4876800" y="4714875"/>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GB" sz="950">
                  <a:solidFill>
                    <a:srgbClr val="94A3B8"/>
                  </a:solidFill>
                  <a:latin typeface="Inter SemiBold"/>
                  <a:ea typeface="Inter SemiBold"/>
                  <a:cs typeface="Inter SemiBold"/>
                  <a:sym typeface="Inter SemiBold"/>
                </a:rPr>
                <a:t>Full-Stack Development Architecture</a:t>
              </a:r>
              <a:endParaRPr b="0" sz="950">
                <a:solidFill>
                  <a:srgbClr val="94A3B8"/>
                </a:solidFill>
                <a:latin typeface="Inter SemiBold"/>
                <a:ea typeface="Inter SemiBold"/>
                <a:cs typeface="Inter SemiBold"/>
                <a:sym typeface="Inter SemiBold"/>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5"/>
          <p:cNvSpPr/>
          <p:nvPr/>
        </p:nvSpPr>
        <p:spPr>
          <a:xfrm>
            <a:off x="0" y="0"/>
            <a:ext cx="9144000" cy="5143500"/>
          </a:xfrm>
          <a:prstGeom prst="rect">
            <a:avLst/>
          </a:prstGeom>
          <a:solidFill>
            <a:srgbClr val="0B132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84" name="Google Shape;84;p15"/>
          <p:cNvPicPr preferRelativeResize="0"/>
          <p:nvPr/>
        </p:nvPicPr>
        <p:blipFill rotWithShape="1">
          <a:blip r:embed="rId3">
            <a:alphaModFix/>
          </a:blip>
          <a:srcRect b="0" l="0" r="0" t="0"/>
          <a:stretch/>
        </p:blipFill>
        <p:spPr>
          <a:xfrm>
            <a:off x="0" y="0"/>
            <a:ext cx="9144000" cy="5143500"/>
          </a:xfrm>
          <a:prstGeom prst="rect">
            <a:avLst/>
          </a:prstGeom>
          <a:noFill/>
          <a:ln>
            <a:noFill/>
          </a:ln>
        </p:spPr>
      </p:pic>
      <p:grpSp>
        <p:nvGrpSpPr>
          <p:cNvPr id="85" name="Google Shape;85;p15"/>
          <p:cNvGrpSpPr/>
          <p:nvPr/>
        </p:nvGrpSpPr>
        <p:grpSpPr>
          <a:xfrm>
            <a:off x="457200" y="342900"/>
            <a:ext cx="876300" cy="38100"/>
            <a:chOff x="0" y="0"/>
            <a:chExt cx="876300" cy="38100"/>
          </a:xfrm>
        </p:grpSpPr>
        <p:sp>
          <p:nvSpPr>
            <p:cNvPr id="86" name="Google Shape;86;p15"/>
            <p:cNvSpPr/>
            <p:nvPr/>
          </p:nvSpPr>
          <p:spPr>
            <a:xfrm>
              <a:off x="0" y="0"/>
              <a:ext cx="571500" cy="38100"/>
            </a:xfrm>
            <a:prstGeom prst="roundRect">
              <a:avLst>
                <a:gd fmla="val 50000" name="adj"/>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7" name="Google Shape;87;p15"/>
            <p:cNvSpPr/>
            <p:nvPr/>
          </p:nvSpPr>
          <p:spPr>
            <a:xfrm>
              <a:off x="609600" y="0"/>
              <a:ext cx="152400" cy="38100"/>
            </a:xfrm>
            <a:prstGeom prst="roundRect">
              <a:avLst>
                <a:gd fmla="val 50000" name="adj"/>
              </a:avLst>
            </a:prstGeom>
            <a:solidFill>
              <a:srgbClr val="38BDF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8" name="Google Shape;88;p15"/>
            <p:cNvSpPr/>
            <p:nvPr/>
          </p:nvSpPr>
          <p:spPr>
            <a:xfrm>
              <a:off x="800100" y="0"/>
              <a:ext cx="76200" cy="38100"/>
            </a:xfrm>
            <a:prstGeom prst="roundRect">
              <a:avLst>
                <a:gd fmla="val 50000" name="adj"/>
              </a:avLst>
            </a:prstGeom>
            <a:solidFill>
              <a:srgbClr val="38BDF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89" name="Google Shape;89;p15"/>
          <p:cNvSpPr txBox="1"/>
          <p:nvPr/>
        </p:nvSpPr>
        <p:spPr>
          <a:xfrm>
            <a:off x="457200" y="457200"/>
            <a:ext cx="8229600" cy="476400"/>
          </a:xfrm>
          <a:prstGeom prst="rect">
            <a:avLst/>
          </a:prstGeom>
          <a:noFill/>
          <a:ln>
            <a:noFill/>
          </a:ln>
        </p:spPr>
        <p:txBody>
          <a:bodyPr anchorCtr="0" anchor="t" bIns="0" lIns="0" spcFirstLastPara="1" rIns="0" wrap="square" tIns="0">
            <a:noAutofit/>
          </a:bodyPr>
          <a:lstStyle/>
          <a:p>
            <a:pPr indent="0" lvl="0" marL="0" rtl="0" algn="l">
              <a:spcBef>
                <a:spcPts val="0"/>
              </a:spcBef>
              <a:spcAft>
                <a:spcPts val="1200"/>
              </a:spcAft>
              <a:buNone/>
            </a:pPr>
            <a:r>
              <a:rPr b="1" lang="en-GB" sz="2600">
                <a:solidFill>
                  <a:srgbClr val="F8FAFC"/>
                </a:solidFill>
                <a:latin typeface="Outfit"/>
                <a:ea typeface="Outfit"/>
                <a:cs typeface="Outfit"/>
                <a:sym typeface="Outfit"/>
              </a:rPr>
              <a:t>Problem Statement &amp; Project Scope</a:t>
            </a:r>
            <a:endParaRPr b="1" sz="2600">
              <a:solidFill>
                <a:srgbClr val="F8FAFC"/>
              </a:solidFill>
              <a:latin typeface="Outfit"/>
              <a:ea typeface="Outfit"/>
              <a:cs typeface="Outfit"/>
              <a:sym typeface="Outfit"/>
            </a:endParaRPr>
          </a:p>
        </p:txBody>
      </p:sp>
      <p:grpSp>
        <p:nvGrpSpPr>
          <p:cNvPr id="90" name="Google Shape;90;p15"/>
          <p:cNvGrpSpPr/>
          <p:nvPr/>
        </p:nvGrpSpPr>
        <p:grpSpPr>
          <a:xfrm>
            <a:off x="457200" y="1085850"/>
            <a:ext cx="4000500" cy="1666800"/>
            <a:chOff x="0" y="0"/>
            <a:chExt cx="4000500" cy="1666800"/>
          </a:xfrm>
        </p:grpSpPr>
        <p:sp>
          <p:nvSpPr>
            <p:cNvPr id="91" name="Google Shape;91;p15"/>
            <p:cNvSpPr/>
            <p:nvPr/>
          </p:nvSpPr>
          <p:spPr>
            <a:xfrm>
              <a:off x="0" y="0"/>
              <a:ext cx="4000500" cy="1666800"/>
            </a:xfrm>
            <a:prstGeom prst="roundRect">
              <a:avLst>
                <a:gd fmla="val 4571" name="adj"/>
              </a:avLst>
            </a:prstGeom>
            <a:solidFill>
              <a:srgbClr val="1E293B"/>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2" name="Google Shape;92;p15"/>
            <p:cNvSpPr/>
            <p:nvPr/>
          </p:nvSpPr>
          <p:spPr>
            <a:xfrm>
              <a:off x="0" y="0"/>
              <a:ext cx="4000500" cy="38100"/>
            </a:xfrm>
            <a:prstGeom prst="roundRect">
              <a:avLst>
                <a:gd fmla="val 50000" name="adj"/>
              </a:avLst>
            </a:prstGeom>
            <a:solidFill>
              <a:srgbClr val="EF44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3" name="Google Shape;93;p15"/>
            <p:cNvSpPr txBox="1"/>
            <p:nvPr/>
          </p:nvSpPr>
          <p:spPr>
            <a:xfrm>
              <a:off x="190500" y="152400"/>
              <a:ext cx="3619500" cy="136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1600">
                  <a:solidFill>
                    <a:srgbClr val="EF4444"/>
                  </a:solidFill>
                  <a:latin typeface="Outfit SemiBold"/>
                  <a:ea typeface="Outfit SemiBold"/>
                  <a:cs typeface="Outfit SemiBold"/>
                  <a:sym typeface="Outfit SemiBold"/>
                </a:rPr>
                <a:t>Core Challenges in Fault Reporting</a:t>
              </a:r>
              <a:endParaRPr b="0" sz="1600">
                <a:solidFill>
                  <a:srgbClr val="EF4444"/>
                </a:solidFill>
                <a:latin typeface="Outfit SemiBold"/>
                <a:ea typeface="Outfit SemiBold"/>
                <a:cs typeface="Outfit SemiBold"/>
                <a:sym typeface="Outfit SemiBold"/>
              </a:endParaRPr>
            </a:p>
            <a:p>
              <a:pPr indent="0" lvl="0" marL="0" rtl="0" algn="l">
                <a:spcBef>
                  <a:spcPts val="600"/>
                </a:spcBef>
                <a:spcAft>
                  <a:spcPts val="750"/>
                </a:spcAft>
                <a:buNone/>
              </a:pPr>
              <a:r>
                <a:rPr b="0" lang="en-GB" sz="1100">
                  <a:solidFill>
                    <a:srgbClr val="94A3B8"/>
                  </a:solidFill>
                  <a:latin typeface="Inter"/>
                  <a:ea typeface="Inter"/>
                  <a:cs typeface="Inter"/>
                  <a:sym typeface="Inter"/>
                </a:rPr>
                <a:t>Traditional utility fault management suffers from opaque complaint tracking and imprecise, text-only location descriptions—causing delayed technician coordination and prolonged power outages.</a:t>
              </a:r>
              <a:endParaRPr b="0" sz="1100">
                <a:solidFill>
                  <a:srgbClr val="94A3B8"/>
                </a:solidFill>
                <a:latin typeface="Inter"/>
                <a:ea typeface="Inter"/>
                <a:cs typeface="Inter"/>
                <a:sym typeface="Inter"/>
              </a:endParaRPr>
            </a:p>
          </p:txBody>
        </p:sp>
      </p:grpSp>
      <p:grpSp>
        <p:nvGrpSpPr>
          <p:cNvPr id="94" name="Google Shape;94;p15"/>
          <p:cNvGrpSpPr/>
          <p:nvPr/>
        </p:nvGrpSpPr>
        <p:grpSpPr>
          <a:xfrm>
            <a:off x="457200" y="2905125"/>
            <a:ext cx="4000500" cy="1714500"/>
            <a:chOff x="0" y="0"/>
            <a:chExt cx="4000500" cy="1714500"/>
          </a:xfrm>
        </p:grpSpPr>
        <p:sp>
          <p:nvSpPr>
            <p:cNvPr id="95" name="Google Shape;95;p15"/>
            <p:cNvSpPr/>
            <p:nvPr/>
          </p:nvSpPr>
          <p:spPr>
            <a:xfrm>
              <a:off x="0" y="0"/>
              <a:ext cx="4000500" cy="1714500"/>
            </a:xfrm>
            <a:prstGeom prst="roundRect">
              <a:avLst>
                <a:gd fmla="val 4444" name="adj"/>
              </a:avLst>
            </a:prstGeom>
            <a:solidFill>
              <a:srgbClr val="1E293B"/>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6" name="Google Shape;96;p15"/>
            <p:cNvSpPr/>
            <p:nvPr/>
          </p:nvSpPr>
          <p:spPr>
            <a:xfrm>
              <a:off x="0" y="0"/>
              <a:ext cx="4000500" cy="38100"/>
            </a:xfrm>
            <a:prstGeom prst="roundRect">
              <a:avLst>
                <a:gd fmla="val 50000" name="adj"/>
              </a:avLst>
            </a:prstGeom>
            <a:solidFill>
              <a:srgbClr val="38BDF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7" name="Google Shape;97;p15"/>
            <p:cNvSpPr txBox="1"/>
            <p:nvPr/>
          </p:nvSpPr>
          <p:spPr>
            <a:xfrm>
              <a:off x="190500" y="152400"/>
              <a:ext cx="3619500" cy="1409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1600">
                  <a:solidFill>
                    <a:srgbClr val="38BDF8"/>
                  </a:solidFill>
                  <a:latin typeface="Outfit SemiBold"/>
                  <a:ea typeface="Outfit SemiBold"/>
                  <a:cs typeface="Outfit SemiBold"/>
                  <a:sym typeface="Outfit SemiBold"/>
                </a:rPr>
                <a:t>The Smart EB Connect Solution</a:t>
              </a:r>
              <a:endParaRPr b="0" sz="1600">
                <a:solidFill>
                  <a:srgbClr val="38BDF8"/>
                </a:solidFill>
                <a:latin typeface="Outfit SemiBold"/>
                <a:ea typeface="Outfit SemiBold"/>
                <a:cs typeface="Outfit SemiBold"/>
                <a:sym typeface="Outfit SemiBold"/>
              </a:endParaRPr>
            </a:p>
            <a:p>
              <a:pPr indent="0" lvl="0" marL="0" rtl="0" algn="l">
                <a:spcBef>
                  <a:spcPts val="600"/>
                </a:spcBef>
                <a:spcAft>
                  <a:spcPts val="750"/>
                </a:spcAft>
                <a:buNone/>
              </a:pPr>
              <a:r>
                <a:rPr b="0" lang="en-GB" sz="1100">
                  <a:solidFill>
                    <a:srgbClr val="94A3B8"/>
                  </a:solidFill>
                  <a:latin typeface="Inter"/>
                  <a:ea typeface="Inter"/>
                  <a:cs typeface="Inter"/>
                  <a:sym typeface="Inter"/>
                </a:rPr>
                <a:t>A centralized web platform directly connecting Customers, Field Technicians, and Administrators. Provides real-time status tracking and geospatial proximity ranking for efficient dispatch.</a:t>
              </a:r>
              <a:endParaRPr b="0" sz="1100">
                <a:solidFill>
                  <a:srgbClr val="94A3B8"/>
                </a:solidFill>
                <a:latin typeface="Inter"/>
                <a:ea typeface="Inter"/>
                <a:cs typeface="Inter"/>
                <a:sym typeface="Inter"/>
              </a:endParaRPr>
            </a:p>
          </p:txBody>
        </p:sp>
      </p:grpSp>
      <p:grpSp>
        <p:nvGrpSpPr>
          <p:cNvPr id="98" name="Google Shape;98;p15"/>
          <p:cNvGrpSpPr/>
          <p:nvPr/>
        </p:nvGrpSpPr>
        <p:grpSpPr>
          <a:xfrm>
            <a:off x="4686300" y="1085850"/>
            <a:ext cx="4000500" cy="1666800"/>
            <a:chOff x="0" y="0"/>
            <a:chExt cx="4000500" cy="1666800"/>
          </a:xfrm>
        </p:grpSpPr>
        <p:sp>
          <p:nvSpPr>
            <p:cNvPr id="99" name="Google Shape;99;p15"/>
            <p:cNvSpPr/>
            <p:nvPr/>
          </p:nvSpPr>
          <p:spPr>
            <a:xfrm>
              <a:off x="0" y="0"/>
              <a:ext cx="4000500" cy="1666800"/>
            </a:xfrm>
            <a:prstGeom prst="roundRect">
              <a:avLst>
                <a:gd fmla="val 4571" name="adj"/>
              </a:avLst>
            </a:prstGeom>
            <a:solidFill>
              <a:srgbClr val="1E293B"/>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0" name="Google Shape;100;p15"/>
            <p:cNvSpPr/>
            <p:nvPr/>
          </p:nvSpPr>
          <p:spPr>
            <a:xfrm>
              <a:off x="0" y="0"/>
              <a:ext cx="4000500" cy="38100"/>
            </a:xfrm>
            <a:prstGeom prst="roundRect">
              <a:avLst>
                <a:gd fmla="val 50000" name="adj"/>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1" name="Google Shape;101;p15"/>
            <p:cNvSpPr txBox="1"/>
            <p:nvPr/>
          </p:nvSpPr>
          <p:spPr>
            <a:xfrm>
              <a:off x="190500" y="152400"/>
              <a:ext cx="3619500" cy="136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1600">
                  <a:solidFill>
                    <a:srgbClr val="F59E0B"/>
                  </a:solidFill>
                  <a:latin typeface="Outfit SemiBold"/>
                  <a:ea typeface="Outfit SemiBold"/>
                  <a:cs typeface="Outfit SemiBold"/>
                  <a:sym typeface="Outfit SemiBold"/>
                </a:rPr>
                <a:t>Academic Prototype Scope</a:t>
              </a:r>
              <a:endParaRPr b="0" sz="1600">
                <a:solidFill>
                  <a:srgbClr val="F59E0B"/>
                </a:solidFill>
                <a:latin typeface="Outfit SemiBold"/>
                <a:ea typeface="Outfit SemiBold"/>
                <a:cs typeface="Outfit SemiBold"/>
                <a:sym typeface="Outfit SemiBold"/>
              </a:endParaRPr>
            </a:p>
            <a:p>
              <a:pPr indent="0" lvl="0" marL="0" rtl="0" algn="l">
                <a:spcBef>
                  <a:spcPts val="600"/>
                </a:spcBef>
                <a:spcAft>
                  <a:spcPts val="0"/>
                </a:spcAft>
                <a:buNone/>
              </a:pPr>
              <a:r>
                <a:rPr b="1" lang="en-GB" sz="1100">
                  <a:solidFill>
                    <a:srgbClr val="F59E0B"/>
                  </a:solidFill>
                  <a:latin typeface="Inter"/>
                  <a:ea typeface="Inter"/>
                  <a:cs typeface="Inter"/>
                  <a:sym typeface="Inter"/>
                </a:rPr>
                <a:t>• Software-Only:</a:t>
              </a:r>
              <a:r>
                <a:rPr b="0" lang="en-GB" sz="1100">
                  <a:solidFill>
                    <a:srgbClr val="F8FAFC"/>
                  </a:solidFill>
                  <a:latin typeface="Inter"/>
                  <a:ea typeface="Inter"/>
                  <a:cs typeface="Inter"/>
                  <a:sym typeface="Inter"/>
                </a:rPr>
                <a:t> Explicitly excludes ESP32 or IoT hardware sensors for automated fault detection.</a:t>
              </a:r>
              <a:endParaRPr b="0" sz="1100">
                <a:solidFill>
                  <a:srgbClr val="F8FAFC"/>
                </a:solidFill>
                <a:latin typeface="Inter"/>
                <a:ea typeface="Inter"/>
                <a:cs typeface="Inter"/>
                <a:sym typeface="Inter"/>
              </a:endParaRPr>
            </a:p>
            <a:p>
              <a:pPr indent="0" lvl="0" marL="0" rtl="0" algn="l">
                <a:spcBef>
                  <a:spcPts val="450"/>
                </a:spcBef>
                <a:spcAft>
                  <a:spcPts val="750"/>
                </a:spcAft>
                <a:buNone/>
              </a:pPr>
              <a:r>
                <a:rPr b="1" lang="en-GB" sz="1100">
                  <a:solidFill>
                    <a:srgbClr val="F59E0B"/>
                  </a:solidFill>
                  <a:latin typeface="Inter"/>
                  <a:ea typeface="Inter"/>
                  <a:cs typeface="Inter"/>
                  <a:sym typeface="Inter"/>
                </a:rPr>
                <a:t>• No Official Dispatch:</a:t>
              </a:r>
              <a:r>
                <a:rPr b="0" lang="en-GB" sz="1100">
                  <a:solidFill>
                    <a:srgbClr val="F8FAFC"/>
                  </a:solidFill>
                  <a:latin typeface="Inter"/>
                  <a:ea typeface="Inter"/>
                  <a:cs typeface="Inter"/>
                  <a:sym typeface="Inter"/>
                </a:rPr>
                <a:t> Does not integrate with or authorize official government utility systems.</a:t>
              </a:r>
              <a:endParaRPr b="0" sz="1100">
                <a:solidFill>
                  <a:srgbClr val="F8FAFC"/>
                </a:solidFill>
                <a:latin typeface="Inter"/>
                <a:ea typeface="Inter"/>
                <a:cs typeface="Inter"/>
                <a:sym typeface="Inter"/>
              </a:endParaRPr>
            </a:p>
          </p:txBody>
        </p:sp>
      </p:grpSp>
      <p:grpSp>
        <p:nvGrpSpPr>
          <p:cNvPr id="102" name="Google Shape;102;p15"/>
          <p:cNvGrpSpPr/>
          <p:nvPr/>
        </p:nvGrpSpPr>
        <p:grpSpPr>
          <a:xfrm>
            <a:off x="4686300" y="2905125"/>
            <a:ext cx="4000500" cy="1714500"/>
            <a:chOff x="0" y="0"/>
            <a:chExt cx="4000500" cy="1714500"/>
          </a:xfrm>
        </p:grpSpPr>
        <p:sp>
          <p:nvSpPr>
            <p:cNvPr id="103" name="Google Shape;103;p15"/>
            <p:cNvSpPr/>
            <p:nvPr/>
          </p:nvSpPr>
          <p:spPr>
            <a:xfrm>
              <a:off x="0" y="0"/>
              <a:ext cx="4000500" cy="1714500"/>
            </a:xfrm>
            <a:prstGeom prst="roundRect">
              <a:avLst>
                <a:gd fmla="val 4444" name="adj"/>
              </a:avLst>
            </a:prstGeom>
            <a:solidFill>
              <a:srgbClr val="450A0A"/>
            </a:solidFill>
            <a:ln cap="flat" cmpd="sng" w="19050">
              <a:solidFill>
                <a:srgbClr val="EF444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04" name="Google Shape;104;p15"/>
            <p:cNvGrpSpPr/>
            <p:nvPr/>
          </p:nvGrpSpPr>
          <p:grpSpPr>
            <a:xfrm>
              <a:off x="209550" y="209550"/>
              <a:ext cx="266700" cy="247800"/>
              <a:chOff x="19050" y="19050"/>
              <a:chExt cx="266700" cy="247800"/>
            </a:xfrm>
          </p:grpSpPr>
          <p:sp>
            <p:nvSpPr>
              <p:cNvPr id="105" name="Google Shape;105;p15"/>
              <p:cNvSpPr/>
              <p:nvPr/>
            </p:nvSpPr>
            <p:spPr>
              <a:xfrm>
                <a:off x="19050" y="19050"/>
                <a:ext cx="266700" cy="247800"/>
              </a:xfrm>
              <a:custGeom>
                <a:rect b="b" l="l" r="r" t="t"/>
                <a:pathLst>
                  <a:path extrusionOk="0" h="120000" w="120000">
                    <a:moveTo>
                      <a:pt x="60000" y="0"/>
                    </a:moveTo>
                    <a:lnTo>
                      <a:pt x="120000" y="120000"/>
                    </a:lnTo>
                    <a:lnTo>
                      <a:pt x="0" y="120000"/>
                    </a:lnTo>
                    <a:close/>
                  </a:path>
                </a:pathLst>
              </a:custGeom>
              <a:solidFill>
                <a:srgbClr val="000000">
                  <a:alpha val="0"/>
                </a:srgbClr>
              </a:solidFill>
              <a:ln cap="flat" cmpd="sng" w="23825">
                <a:solidFill>
                  <a:srgbClr val="EF444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6" name="Google Shape;106;p15"/>
              <p:cNvSpPr/>
              <p:nvPr/>
            </p:nvSpPr>
            <p:spPr>
              <a:xfrm>
                <a:off x="152400" y="104775"/>
                <a:ext cx="0" cy="133500"/>
              </a:xfrm>
              <a:custGeom>
                <a:rect b="b" l="l" r="r" t="t"/>
                <a:pathLst>
                  <a:path extrusionOk="0" fill="none" h="120000" w="120000">
                    <a:moveTo>
                      <a:pt x="0" y="0"/>
                    </a:moveTo>
                    <a:lnTo>
                      <a:pt x="0" y="68571"/>
                    </a:lnTo>
                    <a:moveTo>
                      <a:pt x="0" y="102857"/>
                    </a:moveTo>
                    <a:lnTo>
                      <a:pt x="0" y="120000"/>
                    </a:lnTo>
                  </a:path>
                </a:pathLst>
              </a:custGeom>
              <a:solidFill>
                <a:srgbClr val="FFFFFF"/>
              </a:solidFill>
              <a:ln cap="rnd" cmpd="sng" w="23825">
                <a:solidFill>
                  <a:srgbClr val="EF444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07" name="Google Shape;107;p15"/>
            <p:cNvSpPr txBox="1"/>
            <p:nvPr/>
          </p:nvSpPr>
          <p:spPr>
            <a:xfrm>
              <a:off x="571500" y="152400"/>
              <a:ext cx="3238500" cy="1409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1600">
                  <a:solidFill>
                    <a:srgbClr val="EF4444"/>
                  </a:solidFill>
                  <a:latin typeface="Outfit SemiBold"/>
                  <a:ea typeface="Outfit SemiBold"/>
                  <a:cs typeface="Outfit SemiBold"/>
                  <a:sym typeface="Outfit SemiBold"/>
                </a:rPr>
                <a:t>Emergency Protocols &amp; Hazards</a:t>
              </a:r>
              <a:endParaRPr b="0" sz="1600">
                <a:solidFill>
                  <a:srgbClr val="EF4444"/>
                </a:solidFill>
                <a:latin typeface="Outfit SemiBold"/>
                <a:ea typeface="Outfit SemiBold"/>
                <a:cs typeface="Outfit SemiBold"/>
                <a:sym typeface="Outfit SemiBold"/>
              </a:endParaRPr>
            </a:p>
            <a:p>
              <a:pPr indent="0" lvl="0" marL="0" rtl="0" algn="l">
                <a:spcBef>
                  <a:spcPts val="600"/>
                </a:spcBef>
                <a:spcAft>
                  <a:spcPts val="0"/>
                </a:spcAft>
                <a:buNone/>
              </a:pPr>
              <a:r>
                <a:rPr b="0" lang="en-GB" sz="1050">
                  <a:solidFill>
                    <a:srgbClr val="F8FAFC"/>
                  </a:solidFill>
                  <a:latin typeface="Inter"/>
                  <a:ea typeface="Inter"/>
                  <a:cs typeface="Inter"/>
                  <a:sym typeface="Inter"/>
                </a:rPr>
                <a:t>For critical hazards (sparking, exposed wires, burning smells), users must NOT rely on the web platform.</a:t>
              </a:r>
              <a:endParaRPr b="0" sz="1050">
                <a:solidFill>
                  <a:srgbClr val="F8FAFC"/>
                </a:solidFill>
                <a:latin typeface="Inter"/>
                <a:ea typeface="Inter"/>
                <a:cs typeface="Inter"/>
                <a:sym typeface="Inter"/>
              </a:endParaRPr>
            </a:p>
            <a:p>
              <a:pPr indent="0" lvl="0" marL="0" rtl="0" algn="l">
                <a:spcBef>
                  <a:spcPts val="600"/>
                </a:spcBef>
                <a:spcAft>
                  <a:spcPts val="0"/>
                </a:spcAft>
                <a:buNone/>
              </a:pPr>
              <a:r>
                <a:rPr b="1" lang="en-GB" sz="1100">
                  <a:solidFill>
                    <a:srgbClr val="EF4444"/>
                  </a:solidFill>
                  <a:latin typeface="Inter"/>
                  <a:ea typeface="Inter"/>
                  <a:cs typeface="Inter"/>
                  <a:sym typeface="Inter"/>
                </a:rPr>
                <a:t>Directly contact official emergency helplines:</a:t>
              </a:r>
              <a:endParaRPr b="1" sz="1100">
                <a:solidFill>
                  <a:srgbClr val="EF4444"/>
                </a:solidFill>
                <a:latin typeface="Inter"/>
                <a:ea typeface="Inter"/>
                <a:cs typeface="Inter"/>
                <a:sym typeface="Inter"/>
              </a:endParaRPr>
            </a:p>
            <a:p>
              <a:pPr indent="0" lvl="0" marL="0" rtl="0" algn="l">
                <a:spcBef>
                  <a:spcPts val="450"/>
                </a:spcBef>
                <a:spcAft>
                  <a:spcPts val="0"/>
                </a:spcAft>
                <a:buNone/>
              </a:pPr>
              <a:r>
                <a:rPr b="1" lang="en-GB" sz="1100">
                  <a:solidFill>
                    <a:srgbClr val="FFFFFF"/>
                  </a:solidFill>
                  <a:latin typeface="Fira Code"/>
                  <a:ea typeface="Fira Code"/>
                  <a:cs typeface="Fira Code"/>
                  <a:sym typeface="Fira Code"/>
                </a:rPr>
                <a:t>1912</a:t>
              </a:r>
              <a:r>
                <a:rPr lang="en-GB"/>
                <a:t> </a:t>
              </a:r>
              <a:r>
                <a:rPr b="1" lang="en-GB" sz="1100">
                  <a:solidFill>
                    <a:srgbClr val="FFFFFF"/>
                  </a:solidFill>
                  <a:latin typeface="Fira Code"/>
                  <a:ea typeface="Fira Code"/>
                  <a:cs typeface="Fira Code"/>
                  <a:sym typeface="Fira Code"/>
                </a:rPr>
                <a:t>112</a:t>
              </a:r>
              <a:endParaRPr/>
            </a:p>
          </p:txBody>
        </p:sp>
      </p:grpSp>
      <p:grpSp>
        <p:nvGrpSpPr>
          <p:cNvPr id="108" name="Google Shape;108;p15"/>
          <p:cNvGrpSpPr/>
          <p:nvPr/>
        </p:nvGrpSpPr>
        <p:grpSpPr>
          <a:xfrm>
            <a:off x="457200" y="4762500"/>
            <a:ext cx="8229600" cy="266700"/>
            <a:chOff x="457200" y="4762500"/>
            <a:chExt cx="8229600" cy="266700"/>
          </a:xfrm>
        </p:grpSpPr>
        <p:sp>
          <p:nvSpPr>
            <p:cNvPr id="109" name="Google Shape;109;p15"/>
            <p:cNvSpPr/>
            <p:nvPr/>
          </p:nvSpPr>
          <p:spPr>
            <a:xfrm>
              <a:off x="457200" y="4762500"/>
              <a:ext cx="8229600" cy="9600"/>
            </a:xfrm>
            <a:prstGeom prst="rect">
              <a:avLst/>
            </a:prstGeom>
            <a:solidFill>
              <a:srgbClr val="F59E0B">
                <a:alpha val="5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0" name="Google Shape;110;p15"/>
            <p:cNvSpPr txBox="1"/>
            <p:nvPr/>
          </p:nvSpPr>
          <p:spPr>
            <a:xfrm>
              <a:off x="457200" y="48387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1100">
                  <a:solidFill>
                    <a:srgbClr val="94A3B8"/>
                  </a:solidFill>
                  <a:latin typeface="Inter SemiBold"/>
                  <a:ea typeface="Inter SemiBold"/>
                  <a:cs typeface="Inter SemiBold"/>
                  <a:sym typeface="Inter SemiBold"/>
                </a:rPr>
                <a:t>Smart EB Connect | System Architecture</a:t>
              </a:r>
              <a:endParaRPr b="0" sz="1100">
                <a:solidFill>
                  <a:srgbClr val="94A3B8"/>
                </a:solidFill>
                <a:latin typeface="Inter SemiBold"/>
                <a:ea typeface="Inter SemiBold"/>
                <a:cs typeface="Inter SemiBold"/>
                <a:sym typeface="Inter SemiBold"/>
              </a:endParaRPr>
            </a:p>
          </p:txBody>
        </p:sp>
        <p:sp>
          <p:nvSpPr>
            <p:cNvPr id="111" name="Google Shape;111;p15"/>
            <p:cNvSpPr txBox="1"/>
            <p:nvPr/>
          </p:nvSpPr>
          <p:spPr>
            <a:xfrm>
              <a:off x="4876800" y="48387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GB" sz="1100">
                  <a:solidFill>
                    <a:srgbClr val="94A3B8"/>
                  </a:solidFill>
                  <a:latin typeface="Inter SemiBold"/>
                  <a:ea typeface="Inter SemiBold"/>
                  <a:cs typeface="Inter SemiBold"/>
                  <a:sym typeface="Inter SemiBold"/>
                </a:rPr>
                <a:t>Academic Prototype Scope</a:t>
              </a:r>
              <a:endParaRPr b="0" sz="1100">
                <a:solidFill>
                  <a:srgbClr val="94A3B8"/>
                </a:solidFill>
                <a:latin typeface="Inter SemiBold"/>
                <a:ea typeface="Inter SemiBold"/>
                <a:cs typeface="Inter SemiBold"/>
                <a:sym typeface="Inter SemiBold"/>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325"/>
        </a:solidFill>
      </p:bgPr>
    </p:bg>
    <p:spTree>
      <p:nvGrpSpPr>
        <p:cNvPr id="115" name="Shape 115"/>
        <p:cNvGrpSpPr/>
        <p:nvPr/>
      </p:nvGrpSpPr>
      <p:grpSpPr>
        <a:xfrm>
          <a:off x="0" y="0"/>
          <a:ext cx="0" cy="0"/>
          <a:chOff x="0" y="0"/>
          <a:chExt cx="0" cy="0"/>
        </a:xfrm>
      </p:grpSpPr>
      <p:pic>
        <p:nvPicPr>
          <p:cNvPr id="116" name="Google Shape;116;p16"/>
          <p:cNvPicPr preferRelativeResize="0"/>
          <p:nvPr/>
        </p:nvPicPr>
        <p:blipFill rotWithShape="1">
          <a:blip r:embed="rId3">
            <a:alphaModFix/>
          </a:blip>
          <a:srcRect b="0" l="0" r="0" t="0"/>
          <a:stretch/>
        </p:blipFill>
        <p:spPr>
          <a:xfrm>
            <a:off x="0" y="0"/>
            <a:ext cx="9144000" cy="5143500"/>
          </a:xfrm>
          <a:prstGeom prst="rect">
            <a:avLst/>
          </a:prstGeom>
          <a:noFill/>
          <a:ln>
            <a:noFill/>
          </a:ln>
        </p:spPr>
      </p:pic>
      <p:grpSp>
        <p:nvGrpSpPr>
          <p:cNvPr id="117" name="Google Shape;117;p16"/>
          <p:cNvGrpSpPr/>
          <p:nvPr/>
        </p:nvGrpSpPr>
        <p:grpSpPr>
          <a:xfrm>
            <a:off x="457200" y="266700"/>
            <a:ext cx="8229600" cy="523950"/>
            <a:chOff x="457200" y="266700"/>
            <a:chExt cx="8229600" cy="523950"/>
          </a:xfrm>
        </p:grpSpPr>
        <p:grpSp>
          <p:nvGrpSpPr>
            <p:cNvPr id="118" name="Google Shape;118;p16"/>
            <p:cNvGrpSpPr/>
            <p:nvPr/>
          </p:nvGrpSpPr>
          <p:grpSpPr>
            <a:xfrm>
              <a:off x="457200" y="266700"/>
              <a:ext cx="876300" cy="38100"/>
              <a:chOff x="0" y="0"/>
              <a:chExt cx="876300" cy="38100"/>
            </a:xfrm>
          </p:grpSpPr>
          <p:sp>
            <p:nvSpPr>
              <p:cNvPr id="119" name="Google Shape;119;p16"/>
              <p:cNvSpPr/>
              <p:nvPr/>
            </p:nvSpPr>
            <p:spPr>
              <a:xfrm>
                <a:off x="0" y="0"/>
                <a:ext cx="571500" cy="38100"/>
              </a:xfrm>
              <a:prstGeom prst="roundRect">
                <a:avLst>
                  <a:gd fmla="val 50000" name="adj"/>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0" name="Google Shape;120;p16"/>
              <p:cNvSpPr/>
              <p:nvPr/>
            </p:nvSpPr>
            <p:spPr>
              <a:xfrm>
                <a:off x="609600" y="0"/>
                <a:ext cx="152400" cy="38100"/>
              </a:xfrm>
              <a:prstGeom prst="roundRect">
                <a:avLst>
                  <a:gd fmla="val 50000" name="adj"/>
                </a:avLst>
              </a:prstGeom>
              <a:solidFill>
                <a:srgbClr val="38BDF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1" name="Google Shape;121;p16"/>
              <p:cNvSpPr/>
              <p:nvPr/>
            </p:nvSpPr>
            <p:spPr>
              <a:xfrm>
                <a:off x="800100" y="0"/>
                <a:ext cx="76200" cy="38100"/>
              </a:xfrm>
              <a:prstGeom prst="roundRect">
                <a:avLst>
                  <a:gd fmla="val 50000" name="adj"/>
                </a:avLst>
              </a:prstGeom>
              <a:solidFill>
                <a:srgbClr val="38BDF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22" name="Google Shape;122;p16"/>
            <p:cNvSpPr txBox="1"/>
            <p:nvPr/>
          </p:nvSpPr>
          <p:spPr>
            <a:xfrm>
              <a:off x="457200" y="361950"/>
              <a:ext cx="8229600" cy="428700"/>
            </a:xfrm>
            <a:prstGeom prst="rect">
              <a:avLst/>
            </a:prstGeom>
            <a:noFill/>
            <a:ln>
              <a:noFill/>
            </a:ln>
          </p:spPr>
          <p:txBody>
            <a:bodyPr anchorCtr="0" anchor="t" bIns="0" lIns="0" spcFirstLastPara="1" rIns="0" wrap="square" tIns="0">
              <a:noAutofit/>
            </a:bodyPr>
            <a:lstStyle/>
            <a:p>
              <a:pPr indent="0" lvl="0" marL="0" rtl="0" algn="l">
                <a:spcBef>
                  <a:spcPts val="0"/>
                </a:spcBef>
                <a:spcAft>
                  <a:spcPts val="450"/>
                </a:spcAft>
                <a:buNone/>
              </a:pPr>
              <a:r>
                <a:rPr b="1" lang="en-GB" sz="2600">
                  <a:solidFill>
                    <a:srgbClr val="F8FAFC"/>
                  </a:solidFill>
                  <a:latin typeface="Outfit"/>
                  <a:ea typeface="Outfit"/>
                  <a:cs typeface="Outfit"/>
                  <a:sym typeface="Outfit"/>
                </a:rPr>
                <a:t>System Architecture &amp; Technology Stack</a:t>
              </a:r>
              <a:endParaRPr b="1" sz="2600">
                <a:solidFill>
                  <a:srgbClr val="F8FAFC"/>
                </a:solidFill>
                <a:latin typeface="Outfit"/>
                <a:ea typeface="Outfit"/>
                <a:cs typeface="Outfit"/>
                <a:sym typeface="Outfit"/>
              </a:endParaRPr>
            </a:p>
          </p:txBody>
        </p:sp>
      </p:grpSp>
      <p:pic>
        <p:nvPicPr>
          <p:cNvPr id="123" name="Google Shape;123;p16"/>
          <p:cNvPicPr preferRelativeResize="0"/>
          <p:nvPr/>
        </p:nvPicPr>
        <p:blipFill rotWithShape="1">
          <a:blip r:embed="rId4">
            <a:alphaModFix/>
          </a:blip>
          <a:srcRect b="0" l="0" r="0" t="0"/>
          <a:stretch/>
        </p:blipFill>
        <p:spPr>
          <a:xfrm>
            <a:off x="452438" y="804863"/>
            <a:ext cx="8239200" cy="3914700"/>
          </a:xfrm>
          <a:prstGeom prst="rect">
            <a:avLst/>
          </a:prstGeom>
          <a:noFill/>
          <a:ln>
            <a:noFill/>
          </a:ln>
        </p:spPr>
      </p:pic>
      <p:grpSp>
        <p:nvGrpSpPr>
          <p:cNvPr id="124" name="Google Shape;124;p16"/>
          <p:cNvGrpSpPr/>
          <p:nvPr/>
        </p:nvGrpSpPr>
        <p:grpSpPr>
          <a:xfrm>
            <a:off x="609600" y="952500"/>
            <a:ext cx="2381400" cy="1666800"/>
            <a:chOff x="0" y="0"/>
            <a:chExt cx="2381400" cy="1666800"/>
          </a:xfrm>
        </p:grpSpPr>
        <p:sp>
          <p:nvSpPr>
            <p:cNvPr id="125" name="Google Shape;125;p16"/>
            <p:cNvSpPr/>
            <p:nvPr/>
          </p:nvSpPr>
          <p:spPr>
            <a:xfrm>
              <a:off x="0" y="0"/>
              <a:ext cx="2381400" cy="1666800"/>
            </a:xfrm>
            <a:prstGeom prst="roundRect">
              <a:avLst>
                <a:gd fmla="val 4571" name="adj"/>
              </a:avLst>
            </a:prstGeom>
            <a:solidFill>
              <a:srgbClr val="1E293B"/>
            </a:solidFill>
            <a:ln cap="flat" cmpd="sng" w="14300">
              <a:solidFill>
                <a:srgbClr val="38BDF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6" name="Google Shape;126;p16"/>
            <p:cNvSpPr/>
            <p:nvPr/>
          </p:nvSpPr>
          <p:spPr>
            <a:xfrm>
              <a:off x="0" y="0"/>
              <a:ext cx="2381400" cy="266700"/>
            </a:xfrm>
            <a:prstGeom prst="roundRect">
              <a:avLst>
                <a:gd fmla="val 28571" name="adj"/>
              </a:avLst>
            </a:prstGeom>
            <a:solidFill>
              <a:srgbClr val="17255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7" name="Google Shape;127;p16"/>
            <p:cNvSpPr/>
            <p:nvPr/>
          </p:nvSpPr>
          <p:spPr>
            <a:xfrm>
              <a:off x="0" y="228600"/>
              <a:ext cx="2381400" cy="38100"/>
            </a:xfrm>
            <a:prstGeom prst="rect">
              <a:avLst/>
            </a:prstGeom>
            <a:solidFill>
              <a:srgbClr val="17255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8" name="Google Shape;128;p16"/>
            <p:cNvSpPr txBox="1"/>
            <p:nvPr/>
          </p:nvSpPr>
          <p:spPr>
            <a:xfrm>
              <a:off x="114300" y="38100"/>
              <a:ext cx="2152800" cy="209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GB" sz="900">
                  <a:solidFill>
                    <a:srgbClr val="38BDF8"/>
                  </a:solidFill>
                  <a:latin typeface="Inter SemiBold"/>
                  <a:ea typeface="Inter SemiBold"/>
                  <a:cs typeface="Inter SemiBold"/>
                  <a:sym typeface="Inter SemiBold"/>
                </a:rPr>
                <a:t>CLIENT TIER</a:t>
              </a:r>
              <a:endParaRPr b="0" sz="900">
                <a:solidFill>
                  <a:srgbClr val="38BDF8"/>
                </a:solidFill>
                <a:latin typeface="Inter SemiBold"/>
                <a:ea typeface="Inter SemiBold"/>
                <a:cs typeface="Inter SemiBold"/>
                <a:sym typeface="Inter SemiBold"/>
              </a:endParaRPr>
            </a:p>
          </p:txBody>
        </p:sp>
        <p:sp>
          <p:nvSpPr>
            <p:cNvPr id="129" name="Google Shape;129;p16"/>
            <p:cNvSpPr txBox="1"/>
            <p:nvPr/>
          </p:nvSpPr>
          <p:spPr>
            <a:xfrm>
              <a:off x="133350" y="342900"/>
              <a:ext cx="2114700" cy="1257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925">
                  <a:solidFill>
                    <a:srgbClr val="F8FAFC"/>
                  </a:solidFill>
                  <a:latin typeface="Inter Medium"/>
                  <a:ea typeface="Inter Medium"/>
                  <a:cs typeface="Inter Medium"/>
                  <a:sym typeface="Inter Medium"/>
                </a:rPr>
                <a:t>React 18 &amp; Vite</a:t>
              </a:r>
              <a:endParaRPr b="0" sz="925">
                <a:solidFill>
                  <a:srgbClr val="F8FAFC"/>
                </a:solidFill>
                <a:latin typeface="Inter Medium"/>
                <a:ea typeface="Inter Medium"/>
                <a:cs typeface="Inter Medium"/>
                <a:sym typeface="Inter Medium"/>
              </a:endParaRPr>
            </a:p>
            <a:p>
              <a:pPr indent="0" lvl="0" marL="0" rtl="0" algn="l">
                <a:spcBef>
                  <a:spcPts val="300"/>
                </a:spcBef>
                <a:spcAft>
                  <a:spcPts val="0"/>
                </a:spcAft>
                <a:buNone/>
              </a:pPr>
              <a:r>
                <a:rPr b="0" lang="en-GB" sz="925">
                  <a:solidFill>
                    <a:srgbClr val="94A3B8"/>
                  </a:solidFill>
                  <a:latin typeface="Inter"/>
                  <a:ea typeface="Inter"/>
                  <a:cs typeface="Inter"/>
                  <a:sym typeface="Inter"/>
                </a:rPr>
                <a:t>Engineered for optimal performance; React Router v6 navigation.</a:t>
              </a:r>
              <a:endParaRPr b="0" sz="925">
                <a:solidFill>
                  <a:srgbClr val="94A3B8"/>
                </a:solidFill>
                <a:latin typeface="Inter"/>
                <a:ea typeface="Inter"/>
                <a:cs typeface="Inter"/>
                <a:sym typeface="Inter"/>
              </a:endParaRPr>
            </a:p>
            <a:p>
              <a:pPr indent="0" lvl="0" marL="0" rtl="0" algn="l">
                <a:spcBef>
                  <a:spcPts val="450"/>
                </a:spcBef>
                <a:spcAft>
                  <a:spcPts val="0"/>
                </a:spcAft>
                <a:buNone/>
              </a:pPr>
              <a:r>
                <a:rPr b="0" lang="en-GB" sz="925">
                  <a:solidFill>
                    <a:srgbClr val="F8FAFC"/>
                  </a:solidFill>
                  <a:latin typeface="Inter Medium"/>
                  <a:ea typeface="Inter Medium"/>
                  <a:cs typeface="Inter Medium"/>
                  <a:sym typeface="Inter Medium"/>
                </a:rPr>
                <a:t>Geospatial Integration</a:t>
              </a:r>
              <a:endParaRPr b="0" sz="925">
                <a:solidFill>
                  <a:srgbClr val="F8FAFC"/>
                </a:solidFill>
                <a:latin typeface="Inter Medium"/>
                <a:ea typeface="Inter Medium"/>
                <a:cs typeface="Inter Medium"/>
                <a:sym typeface="Inter Medium"/>
              </a:endParaRPr>
            </a:p>
            <a:p>
              <a:pPr indent="0" lvl="0" marL="0" rtl="0" algn="l">
                <a:spcBef>
                  <a:spcPts val="300"/>
                </a:spcBef>
                <a:spcAft>
                  <a:spcPts val="450"/>
                </a:spcAft>
                <a:buNone/>
              </a:pPr>
              <a:r>
                <a:rPr b="0" lang="en-GB" sz="925">
                  <a:solidFill>
                    <a:srgbClr val="94A3B8"/>
                  </a:solidFill>
                  <a:latin typeface="Inter"/>
                  <a:ea typeface="Inter"/>
                  <a:cs typeface="Inter"/>
                  <a:sym typeface="Inter"/>
                </a:rPr>
                <a:t>Leaflet + OpenStreetMap tiles; Browser Geolocation API with manual address fallback.</a:t>
              </a:r>
              <a:endParaRPr b="0" sz="925">
                <a:solidFill>
                  <a:srgbClr val="94A3B8"/>
                </a:solidFill>
                <a:latin typeface="Inter"/>
                <a:ea typeface="Inter"/>
                <a:cs typeface="Inter"/>
                <a:sym typeface="Inter"/>
              </a:endParaRPr>
            </a:p>
          </p:txBody>
        </p:sp>
      </p:grpSp>
      <p:grpSp>
        <p:nvGrpSpPr>
          <p:cNvPr id="130" name="Google Shape;130;p16"/>
          <p:cNvGrpSpPr/>
          <p:nvPr/>
        </p:nvGrpSpPr>
        <p:grpSpPr>
          <a:xfrm>
            <a:off x="3381375" y="952500"/>
            <a:ext cx="2381400" cy="1666800"/>
            <a:chOff x="0" y="0"/>
            <a:chExt cx="2381400" cy="1666800"/>
          </a:xfrm>
        </p:grpSpPr>
        <p:sp>
          <p:nvSpPr>
            <p:cNvPr id="131" name="Google Shape;131;p16"/>
            <p:cNvSpPr/>
            <p:nvPr/>
          </p:nvSpPr>
          <p:spPr>
            <a:xfrm>
              <a:off x="0" y="0"/>
              <a:ext cx="2381400" cy="1666800"/>
            </a:xfrm>
            <a:prstGeom prst="roundRect">
              <a:avLst>
                <a:gd fmla="val 4571" name="adj"/>
              </a:avLst>
            </a:prstGeom>
            <a:solidFill>
              <a:srgbClr val="1E293B"/>
            </a:solidFill>
            <a:ln cap="flat" cmpd="sng" w="14300">
              <a:solidFill>
                <a:srgbClr val="F59E0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2" name="Google Shape;132;p16"/>
            <p:cNvSpPr/>
            <p:nvPr/>
          </p:nvSpPr>
          <p:spPr>
            <a:xfrm>
              <a:off x="0" y="0"/>
              <a:ext cx="2381400" cy="266700"/>
            </a:xfrm>
            <a:prstGeom prst="roundRect">
              <a:avLst>
                <a:gd fmla="val 28571" name="adj"/>
              </a:avLst>
            </a:prstGeom>
            <a:solidFill>
              <a:srgbClr val="17255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3" name="Google Shape;133;p16"/>
            <p:cNvSpPr/>
            <p:nvPr/>
          </p:nvSpPr>
          <p:spPr>
            <a:xfrm>
              <a:off x="0" y="228600"/>
              <a:ext cx="2381400" cy="38100"/>
            </a:xfrm>
            <a:prstGeom prst="rect">
              <a:avLst/>
            </a:prstGeom>
            <a:solidFill>
              <a:srgbClr val="17255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4" name="Google Shape;134;p16"/>
            <p:cNvSpPr txBox="1"/>
            <p:nvPr/>
          </p:nvSpPr>
          <p:spPr>
            <a:xfrm>
              <a:off x="114300" y="38100"/>
              <a:ext cx="2152800" cy="209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GB" sz="900">
                  <a:solidFill>
                    <a:srgbClr val="F59E0B"/>
                  </a:solidFill>
                  <a:latin typeface="Inter SemiBold"/>
                  <a:ea typeface="Inter SemiBold"/>
                  <a:cs typeface="Inter SemiBold"/>
                  <a:sym typeface="Inter SemiBold"/>
                </a:rPr>
                <a:t>APPLICATION TIER</a:t>
              </a:r>
              <a:endParaRPr b="0" sz="900">
                <a:solidFill>
                  <a:srgbClr val="F59E0B"/>
                </a:solidFill>
                <a:latin typeface="Inter SemiBold"/>
                <a:ea typeface="Inter SemiBold"/>
                <a:cs typeface="Inter SemiBold"/>
                <a:sym typeface="Inter SemiBold"/>
              </a:endParaRPr>
            </a:p>
          </p:txBody>
        </p:sp>
        <p:sp>
          <p:nvSpPr>
            <p:cNvPr id="135" name="Google Shape;135;p16"/>
            <p:cNvSpPr txBox="1"/>
            <p:nvPr/>
          </p:nvSpPr>
          <p:spPr>
            <a:xfrm>
              <a:off x="133350" y="342900"/>
              <a:ext cx="2114700" cy="1257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925">
                  <a:solidFill>
                    <a:srgbClr val="F8FAFC"/>
                  </a:solidFill>
                  <a:latin typeface="Inter Medium"/>
                  <a:ea typeface="Inter Medium"/>
                  <a:cs typeface="Inter Medium"/>
                  <a:sym typeface="Inter Medium"/>
                </a:rPr>
                <a:t>Node.js v26 &amp; Express.js</a:t>
              </a:r>
              <a:endParaRPr b="0" sz="925">
                <a:solidFill>
                  <a:srgbClr val="F8FAFC"/>
                </a:solidFill>
                <a:latin typeface="Inter Medium"/>
                <a:ea typeface="Inter Medium"/>
                <a:cs typeface="Inter Medium"/>
                <a:sym typeface="Inter Medium"/>
              </a:endParaRPr>
            </a:p>
            <a:p>
              <a:pPr indent="0" lvl="0" marL="0" rtl="0" algn="l">
                <a:spcBef>
                  <a:spcPts val="300"/>
                </a:spcBef>
                <a:spcAft>
                  <a:spcPts val="0"/>
                </a:spcAft>
                <a:buNone/>
              </a:pPr>
              <a:r>
                <a:rPr b="0" lang="en-GB" sz="925">
                  <a:solidFill>
                    <a:srgbClr val="94A3B8"/>
                  </a:solidFill>
                  <a:latin typeface="Inter"/>
                  <a:ea typeface="Inter"/>
                  <a:cs typeface="Inter"/>
                  <a:sym typeface="Inter"/>
                </a:rPr>
                <a:t>REST API backend with Zod schema request payload validation.</a:t>
              </a:r>
              <a:endParaRPr b="0" sz="925">
                <a:solidFill>
                  <a:srgbClr val="94A3B8"/>
                </a:solidFill>
                <a:latin typeface="Inter"/>
                <a:ea typeface="Inter"/>
                <a:cs typeface="Inter"/>
                <a:sym typeface="Inter"/>
              </a:endParaRPr>
            </a:p>
            <a:p>
              <a:pPr indent="0" lvl="0" marL="0" rtl="0" algn="l">
                <a:spcBef>
                  <a:spcPts val="450"/>
                </a:spcBef>
                <a:spcAft>
                  <a:spcPts val="0"/>
                </a:spcAft>
                <a:buNone/>
              </a:pPr>
              <a:r>
                <a:rPr b="0" lang="en-GB" sz="925">
                  <a:solidFill>
                    <a:srgbClr val="F8FAFC"/>
                  </a:solidFill>
                  <a:latin typeface="Inter Medium"/>
                  <a:ea typeface="Inter Medium"/>
                  <a:cs typeface="Inter Medium"/>
                  <a:sym typeface="Inter Medium"/>
                </a:rPr>
                <a:t>Security &amp; Auth</a:t>
              </a:r>
              <a:endParaRPr b="0" sz="925">
                <a:solidFill>
                  <a:srgbClr val="F8FAFC"/>
                </a:solidFill>
                <a:latin typeface="Inter Medium"/>
                <a:ea typeface="Inter Medium"/>
                <a:cs typeface="Inter Medium"/>
                <a:sym typeface="Inter Medium"/>
              </a:endParaRPr>
            </a:p>
            <a:p>
              <a:pPr indent="0" lvl="0" marL="0" rtl="0" algn="l">
                <a:spcBef>
                  <a:spcPts val="300"/>
                </a:spcBef>
                <a:spcAft>
                  <a:spcPts val="450"/>
                </a:spcAft>
                <a:buNone/>
              </a:pPr>
              <a:r>
                <a:rPr b="0" lang="en-GB" sz="925">
                  <a:solidFill>
                    <a:srgbClr val="94A3B8"/>
                  </a:solidFill>
                  <a:latin typeface="Inter"/>
                  <a:ea typeface="Inter"/>
                  <a:cs typeface="Inter"/>
                  <a:sym typeface="Inter"/>
                </a:rPr>
                <a:t>JWT stateless auth, bcryptjs hashing, Helmet &amp; CORS middleware configurations.</a:t>
              </a:r>
              <a:endParaRPr b="0" sz="925">
                <a:solidFill>
                  <a:srgbClr val="94A3B8"/>
                </a:solidFill>
                <a:latin typeface="Inter"/>
                <a:ea typeface="Inter"/>
                <a:cs typeface="Inter"/>
                <a:sym typeface="Inter"/>
              </a:endParaRPr>
            </a:p>
          </p:txBody>
        </p:sp>
      </p:grpSp>
      <p:grpSp>
        <p:nvGrpSpPr>
          <p:cNvPr id="136" name="Google Shape;136;p16"/>
          <p:cNvGrpSpPr/>
          <p:nvPr/>
        </p:nvGrpSpPr>
        <p:grpSpPr>
          <a:xfrm>
            <a:off x="6153150" y="952500"/>
            <a:ext cx="2381400" cy="1666800"/>
            <a:chOff x="0" y="0"/>
            <a:chExt cx="2381400" cy="1666800"/>
          </a:xfrm>
        </p:grpSpPr>
        <p:sp>
          <p:nvSpPr>
            <p:cNvPr id="137" name="Google Shape;137;p16"/>
            <p:cNvSpPr/>
            <p:nvPr/>
          </p:nvSpPr>
          <p:spPr>
            <a:xfrm>
              <a:off x="0" y="0"/>
              <a:ext cx="2381400" cy="1666800"/>
            </a:xfrm>
            <a:prstGeom prst="roundRect">
              <a:avLst>
                <a:gd fmla="val 4571" name="adj"/>
              </a:avLst>
            </a:prstGeom>
            <a:solidFill>
              <a:srgbClr val="1E293B"/>
            </a:solidFill>
            <a:ln cap="flat" cmpd="sng" w="14300">
              <a:solidFill>
                <a:srgbClr val="10B98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8" name="Google Shape;138;p16"/>
            <p:cNvSpPr/>
            <p:nvPr/>
          </p:nvSpPr>
          <p:spPr>
            <a:xfrm>
              <a:off x="0" y="0"/>
              <a:ext cx="2381400" cy="266700"/>
            </a:xfrm>
            <a:prstGeom prst="roundRect">
              <a:avLst>
                <a:gd fmla="val 28571" name="adj"/>
              </a:avLst>
            </a:prstGeom>
            <a:solidFill>
              <a:srgbClr val="17255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9" name="Google Shape;139;p16"/>
            <p:cNvSpPr/>
            <p:nvPr/>
          </p:nvSpPr>
          <p:spPr>
            <a:xfrm>
              <a:off x="0" y="228600"/>
              <a:ext cx="2381400" cy="38100"/>
            </a:xfrm>
            <a:prstGeom prst="rect">
              <a:avLst/>
            </a:prstGeom>
            <a:solidFill>
              <a:srgbClr val="17255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0" name="Google Shape;140;p16"/>
            <p:cNvSpPr txBox="1"/>
            <p:nvPr/>
          </p:nvSpPr>
          <p:spPr>
            <a:xfrm>
              <a:off x="114300" y="38100"/>
              <a:ext cx="2152800" cy="209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GB" sz="900">
                  <a:solidFill>
                    <a:srgbClr val="10B981"/>
                  </a:solidFill>
                  <a:latin typeface="Inter SemiBold"/>
                  <a:ea typeface="Inter SemiBold"/>
                  <a:cs typeface="Inter SemiBold"/>
                  <a:sym typeface="Inter SemiBold"/>
                </a:rPr>
                <a:t>DATA TIER</a:t>
              </a:r>
              <a:endParaRPr b="0" sz="900">
                <a:solidFill>
                  <a:srgbClr val="10B981"/>
                </a:solidFill>
                <a:latin typeface="Inter SemiBold"/>
                <a:ea typeface="Inter SemiBold"/>
                <a:cs typeface="Inter SemiBold"/>
                <a:sym typeface="Inter SemiBold"/>
              </a:endParaRPr>
            </a:p>
          </p:txBody>
        </p:sp>
        <p:sp>
          <p:nvSpPr>
            <p:cNvPr id="141" name="Google Shape;141;p16"/>
            <p:cNvSpPr txBox="1"/>
            <p:nvPr/>
          </p:nvSpPr>
          <p:spPr>
            <a:xfrm>
              <a:off x="133350" y="342900"/>
              <a:ext cx="2114700" cy="1257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1000">
                  <a:solidFill>
                    <a:srgbClr val="F8FAFC"/>
                  </a:solidFill>
                  <a:latin typeface="Inter Medium"/>
                  <a:ea typeface="Inter Medium"/>
                  <a:cs typeface="Inter Medium"/>
                  <a:sym typeface="Inter Medium"/>
                </a:rPr>
                <a:t>MongoDB Community 9.0</a:t>
              </a:r>
              <a:endParaRPr b="0" sz="1000">
                <a:solidFill>
                  <a:srgbClr val="F8FAFC"/>
                </a:solidFill>
                <a:latin typeface="Inter Medium"/>
                <a:ea typeface="Inter Medium"/>
                <a:cs typeface="Inter Medium"/>
                <a:sym typeface="Inter Medium"/>
              </a:endParaRPr>
            </a:p>
            <a:p>
              <a:pPr indent="0" lvl="0" marL="0" rtl="0" algn="l">
                <a:spcBef>
                  <a:spcPts val="300"/>
                </a:spcBef>
                <a:spcAft>
                  <a:spcPts val="0"/>
                </a:spcAft>
                <a:buNone/>
              </a:pPr>
              <a:r>
                <a:rPr b="0" lang="en-GB" sz="1000">
                  <a:solidFill>
                    <a:srgbClr val="94A3B8"/>
                  </a:solidFill>
                  <a:latin typeface="Inter"/>
                  <a:ea typeface="Inter"/>
                  <a:cs typeface="Inter"/>
                  <a:sym typeface="Inter"/>
                </a:rPr>
                <a:t>Persistence layer running natively on arm64 architecture.</a:t>
              </a:r>
              <a:endParaRPr b="0" sz="1000">
                <a:solidFill>
                  <a:srgbClr val="94A3B8"/>
                </a:solidFill>
                <a:latin typeface="Inter"/>
                <a:ea typeface="Inter"/>
                <a:cs typeface="Inter"/>
                <a:sym typeface="Inter"/>
              </a:endParaRPr>
            </a:p>
            <a:p>
              <a:pPr indent="0" lvl="0" marL="0" rtl="0" algn="l">
                <a:spcBef>
                  <a:spcPts val="450"/>
                </a:spcBef>
                <a:spcAft>
                  <a:spcPts val="0"/>
                </a:spcAft>
                <a:buNone/>
              </a:pPr>
              <a:r>
                <a:rPr b="0" lang="en-GB" sz="1000">
                  <a:solidFill>
                    <a:srgbClr val="F8FAFC"/>
                  </a:solidFill>
                  <a:latin typeface="Inter Medium"/>
                  <a:ea typeface="Inter Medium"/>
                  <a:cs typeface="Inter Medium"/>
                  <a:sym typeface="Inter Medium"/>
                </a:rPr>
                <a:t>Mongoose ODM &amp; Indexing</a:t>
              </a:r>
              <a:endParaRPr b="0" sz="1000">
                <a:solidFill>
                  <a:srgbClr val="F8FAFC"/>
                </a:solidFill>
                <a:latin typeface="Inter Medium"/>
                <a:ea typeface="Inter Medium"/>
                <a:cs typeface="Inter Medium"/>
                <a:sym typeface="Inter Medium"/>
              </a:endParaRPr>
            </a:p>
            <a:p>
              <a:pPr indent="0" lvl="0" marL="0" rtl="0" algn="l">
                <a:spcBef>
                  <a:spcPts val="300"/>
                </a:spcBef>
                <a:spcAft>
                  <a:spcPts val="450"/>
                </a:spcAft>
                <a:buNone/>
              </a:pPr>
              <a:r>
                <a:rPr b="0" lang="en-GB" sz="1000">
                  <a:solidFill>
                    <a:srgbClr val="94A3B8"/>
                  </a:solidFill>
                  <a:latin typeface="Inter"/>
                  <a:ea typeface="Inter"/>
                  <a:cs typeface="Inter"/>
                  <a:sym typeface="Inter"/>
                </a:rPr>
                <a:t>Enforces schemas with 2dsphere GeoJSON indexes for spatial queries.</a:t>
              </a:r>
              <a:endParaRPr b="0" sz="1000">
                <a:solidFill>
                  <a:srgbClr val="94A3B8"/>
                </a:solidFill>
                <a:latin typeface="Inter"/>
                <a:ea typeface="Inter"/>
                <a:cs typeface="Inter"/>
                <a:sym typeface="Inter"/>
              </a:endParaRPr>
            </a:p>
          </p:txBody>
        </p:sp>
      </p:grpSp>
      <p:grpSp>
        <p:nvGrpSpPr>
          <p:cNvPr id="142" name="Google Shape;142;p16"/>
          <p:cNvGrpSpPr/>
          <p:nvPr/>
        </p:nvGrpSpPr>
        <p:grpSpPr>
          <a:xfrm>
            <a:off x="609600" y="2743200"/>
            <a:ext cx="7734300" cy="190500"/>
            <a:chOff x="0" y="0"/>
            <a:chExt cx="7734300" cy="190500"/>
          </a:xfrm>
        </p:grpSpPr>
        <p:sp>
          <p:nvSpPr>
            <p:cNvPr id="143" name="Google Shape;143;p16"/>
            <p:cNvSpPr/>
            <p:nvPr/>
          </p:nvSpPr>
          <p:spPr>
            <a:xfrm>
              <a:off x="0" y="19050"/>
              <a:ext cx="38100" cy="133500"/>
            </a:xfrm>
            <a:prstGeom prst="roundRect">
              <a:avLst>
                <a:gd fmla="val 25000" name="adj"/>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4" name="Google Shape;144;p16"/>
            <p:cNvSpPr txBox="1"/>
            <p:nvPr/>
          </p:nvSpPr>
          <p:spPr>
            <a:xfrm>
              <a:off x="114300" y="0"/>
              <a:ext cx="762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900">
                  <a:solidFill>
                    <a:srgbClr val="F59E0B"/>
                  </a:solidFill>
                  <a:latin typeface="Inter SemiBold"/>
                  <a:ea typeface="Inter SemiBold"/>
                  <a:cs typeface="Inter SemiBold"/>
                  <a:sym typeface="Inter SemiBold"/>
                </a:rPr>
                <a:t>END-TO-END UNIDIRECTIONAL REQUEST FLOW</a:t>
              </a:r>
              <a:endParaRPr b="0" sz="900">
                <a:solidFill>
                  <a:srgbClr val="F59E0B"/>
                </a:solidFill>
                <a:latin typeface="Inter SemiBold"/>
                <a:ea typeface="Inter SemiBold"/>
                <a:cs typeface="Inter SemiBold"/>
                <a:sym typeface="Inter SemiBold"/>
              </a:endParaRPr>
            </a:p>
          </p:txBody>
        </p:sp>
      </p:grpSp>
      <p:grpSp>
        <p:nvGrpSpPr>
          <p:cNvPr id="145" name="Google Shape;145;p16"/>
          <p:cNvGrpSpPr/>
          <p:nvPr/>
        </p:nvGrpSpPr>
        <p:grpSpPr>
          <a:xfrm>
            <a:off x="609600" y="2971800"/>
            <a:ext cx="1219200" cy="1619100"/>
            <a:chOff x="0" y="0"/>
            <a:chExt cx="1219200" cy="1619100"/>
          </a:xfrm>
        </p:grpSpPr>
        <p:sp>
          <p:nvSpPr>
            <p:cNvPr id="146" name="Google Shape;146;p16"/>
            <p:cNvSpPr/>
            <p:nvPr/>
          </p:nvSpPr>
          <p:spPr>
            <a:xfrm>
              <a:off x="0" y="0"/>
              <a:ext cx="1219200" cy="1619100"/>
            </a:xfrm>
            <a:prstGeom prst="roundRect">
              <a:avLst>
                <a:gd fmla="val 4687" name="adj"/>
              </a:avLst>
            </a:prstGeom>
            <a:solidFill>
              <a:srgbClr val="172554"/>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7" name="Google Shape;147;p16"/>
            <p:cNvSpPr/>
            <p:nvPr/>
          </p:nvSpPr>
          <p:spPr>
            <a:xfrm>
              <a:off x="0" y="0"/>
              <a:ext cx="1219200" cy="28500"/>
            </a:xfrm>
            <a:prstGeom prst="roundRect">
              <a:avLst>
                <a:gd fmla="val 50000" name="adj"/>
              </a:avLst>
            </a:prstGeom>
            <a:solidFill>
              <a:srgbClr val="38BDF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8" name="Google Shape;148;p16"/>
            <p:cNvSpPr txBox="1"/>
            <p:nvPr/>
          </p:nvSpPr>
          <p:spPr>
            <a:xfrm>
              <a:off x="95250" y="95250"/>
              <a:ext cx="1028700" cy="1428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200">
                  <a:solidFill>
                    <a:srgbClr val="F59E0B"/>
                  </a:solidFill>
                  <a:latin typeface="Outfit"/>
                  <a:ea typeface="Outfit"/>
                  <a:cs typeface="Outfit"/>
                  <a:sym typeface="Outfit"/>
                </a:rPr>
                <a:t>01</a:t>
              </a:r>
              <a:endParaRPr b="1" sz="1200">
                <a:solidFill>
                  <a:srgbClr val="F59E0B"/>
                </a:solidFill>
                <a:latin typeface="Outfit"/>
                <a:ea typeface="Outfit"/>
                <a:cs typeface="Outfit"/>
                <a:sym typeface="Outfit"/>
              </a:endParaRPr>
            </a:p>
            <a:p>
              <a:pPr indent="0" lvl="0" marL="0" rtl="0" algn="l">
                <a:spcBef>
                  <a:spcPts val="150"/>
                </a:spcBef>
                <a:spcAft>
                  <a:spcPts val="0"/>
                </a:spcAft>
                <a:buNone/>
              </a:pPr>
              <a:r>
                <a:rPr b="0" lang="en-GB" sz="1000">
                  <a:solidFill>
                    <a:srgbClr val="F8FAFC"/>
                  </a:solidFill>
                  <a:latin typeface="Outfit SemiBold"/>
                  <a:ea typeface="Outfit SemiBold"/>
                  <a:cs typeface="Outfit SemiBold"/>
                  <a:sym typeface="Outfit SemiBold"/>
                </a:rPr>
                <a:t>React UI Request</a:t>
              </a:r>
              <a:endParaRPr b="0" sz="1000">
                <a:solidFill>
                  <a:srgbClr val="F8FAFC"/>
                </a:solidFill>
                <a:latin typeface="Outfit SemiBold"/>
                <a:ea typeface="Outfit SemiBold"/>
                <a:cs typeface="Outfit SemiBold"/>
                <a:sym typeface="Outfit SemiBold"/>
              </a:endParaRPr>
            </a:p>
            <a:p>
              <a:pPr indent="0" lvl="0" marL="0" rtl="0" algn="l">
                <a:spcBef>
                  <a:spcPts val="300"/>
                </a:spcBef>
                <a:spcAft>
                  <a:spcPts val="0"/>
                </a:spcAft>
                <a:buNone/>
              </a:pPr>
              <a:r>
                <a:rPr b="0" lang="en-GB" sz="850">
                  <a:solidFill>
                    <a:srgbClr val="94A3B8"/>
                  </a:solidFill>
                  <a:latin typeface="Inter"/>
                  <a:ea typeface="Inter"/>
                  <a:cs typeface="Inter"/>
                  <a:sym typeface="Inter"/>
                </a:rPr>
                <a:t>React UI initiates the HTTP request.</a:t>
              </a:r>
              <a:endParaRPr b="0" sz="850">
                <a:solidFill>
                  <a:srgbClr val="94A3B8"/>
                </a:solidFill>
                <a:latin typeface="Inter"/>
                <a:ea typeface="Inter"/>
                <a:cs typeface="Inter"/>
                <a:sym typeface="Inter"/>
              </a:endParaRPr>
            </a:p>
          </p:txBody>
        </p:sp>
      </p:grpSp>
      <p:grpSp>
        <p:nvGrpSpPr>
          <p:cNvPr id="149" name="Google Shape;149;p16"/>
          <p:cNvGrpSpPr/>
          <p:nvPr/>
        </p:nvGrpSpPr>
        <p:grpSpPr>
          <a:xfrm>
            <a:off x="1962150" y="2971800"/>
            <a:ext cx="1219200" cy="1619100"/>
            <a:chOff x="0" y="0"/>
            <a:chExt cx="1219200" cy="1619100"/>
          </a:xfrm>
        </p:grpSpPr>
        <p:sp>
          <p:nvSpPr>
            <p:cNvPr id="150" name="Google Shape;150;p16"/>
            <p:cNvSpPr/>
            <p:nvPr/>
          </p:nvSpPr>
          <p:spPr>
            <a:xfrm>
              <a:off x="0" y="0"/>
              <a:ext cx="1219200" cy="1619100"/>
            </a:xfrm>
            <a:prstGeom prst="roundRect">
              <a:avLst>
                <a:gd fmla="val 4687" name="adj"/>
              </a:avLst>
            </a:prstGeom>
            <a:solidFill>
              <a:srgbClr val="172554"/>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1" name="Google Shape;151;p16"/>
            <p:cNvSpPr/>
            <p:nvPr/>
          </p:nvSpPr>
          <p:spPr>
            <a:xfrm>
              <a:off x="0" y="0"/>
              <a:ext cx="1219200" cy="28500"/>
            </a:xfrm>
            <a:prstGeom prst="roundRect">
              <a:avLst>
                <a:gd fmla="val 50000" name="adj"/>
              </a:avLst>
            </a:prstGeom>
            <a:solidFill>
              <a:srgbClr val="38BDF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2" name="Google Shape;152;p16"/>
            <p:cNvSpPr txBox="1"/>
            <p:nvPr/>
          </p:nvSpPr>
          <p:spPr>
            <a:xfrm>
              <a:off x="95250" y="95250"/>
              <a:ext cx="1028700" cy="1428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200">
                  <a:solidFill>
                    <a:srgbClr val="F59E0B"/>
                  </a:solidFill>
                  <a:latin typeface="Outfit"/>
                  <a:ea typeface="Outfit"/>
                  <a:cs typeface="Outfit"/>
                  <a:sym typeface="Outfit"/>
                </a:rPr>
                <a:t>02</a:t>
              </a:r>
              <a:endParaRPr b="1" sz="1200">
                <a:solidFill>
                  <a:srgbClr val="F59E0B"/>
                </a:solidFill>
                <a:latin typeface="Outfit"/>
                <a:ea typeface="Outfit"/>
                <a:cs typeface="Outfit"/>
                <a:sym typeface="Outfit"/>
              </a:endParaRPr>
            </a:p>
            <a:p>
              <a:pPr indent="0" lvl="0" marL="0" rtl="0" algn="l">
                <a:spcBef>
                  <a:spcPts val="150"/>
                </a:spcBef>
                <a:spcAft>
                  <a:spcPts val="0"/>
                </a:spcAft>
                <a:buNone/>
              </a:pPr>
              <a:r>
                <a:rPr b="0" lang="en-GB" sz="1000">
                  <a:solidFill>
                    <a:srgbClr val="F8FAFC"/>
                  </a:solidFill>
                  <a:latin typeface="Outfit SemiBold"/>
                  <a:ea typeface="Outfit SemiBold"/>
                  <a:cs typeface="Outfit SemiBold"/>
                  <a:sym typeface="Outfit SemiBold"/>
                </a:rPr>
                <a:t>Express &amp; RBAC</a:t>
              </a:r>
              <a:endParaRPr b="0" sz="1000">
                <a:solidFill>
                  <a:srgbClr val="F8FAFC"/>
                </a:solidFill>
                <a:latin typeface="Outfit SemiBold"/>
                <a:ea typeface="Outfit SemiBold"/>
                <a:cs typeface="Outfit SemiBold"/>
                <a:sym typeface="Outfit SemiBold"/>
              </a:endParaRPr>
            </a:p>
            <a:p>
              <a:pPr indent="0" lvl="0" marL="0" rtl="0" algn="l">
                <a:spcBef>
                  <a:spcPts val="300"/>
                </a:spcBef>
                <a:spcAft>
                  <a:spcPts val="0"/>
                </a:spcAft>
                <a:buNone/>
              </a:pPr>
              <a:r>
                <a:rPr b="0" lang="en-GB" sz="850">
                  <a:solidFill>
                    <a:srgbClr val="94A3B8"/>
                  </a:solidFill>
                  <a:latin typeface="Inter"/>
                  <a:ea typeface="Inter"/>
                  <a:cs typeface="Inter"/>
                  <a:sym typeface="Inter"/>
                </a:rPr>
                <a:t>Request passes Express Routing and RBAC Middleware.</a:t>
              </a:r>
              <a:endParaRPr b="0" sz="850">
                <a:solidFill>
                  <a:srgbClr val="94A3B8"/>
                </a:solidFill>
                <a:latin typeface="Inter"/>
                <a:ea typeface="Inter"/>
                <a:cs typeface="Inter"/>
                <a:sym typeface="Inter"/>
              </a:endParaRPr>
            </a:p>
          </p:txBody>
        </p:sp>
      </p:grpSp>
      <p:grpSp>
        <p:nvGrpSpPr>
          <p:cNvPr id="153" name="Google Shape;153;p16"/>
          <p:cNvGrpSpPr/>
          <p:nvPr/>
        </p:nvGrpSpPr>
        <p:grpSpPr>
          <a:xfrm>
            <a:off x="3314700" y="2971800"/>
            <a:ext cx="1219200" cy="1619100"/>
            <a:chOff x="0" y="0"/>
            <a:chExt cx="1219200" cy="1619100"/>
          </a:xfrm>
        </p:grpSpPr>
        <p:sp>
          <p:nvSpPr>
            <p:cNvPr id="154" name="Google Shape;154;p16"/>
            <p:cNvSpPr/>
            <p:nvPr/>
          </p:nvSpPr>
          <p:spPr>
            <a:xfrm>
              <a:off x="0" y="0"/>
              <a:ext cx="1219200" cy="1619100"/>
            </a:xfrm>
            <a:prstGeom prst="roundRect">
              <a:avLst>
                <a:gd fmla="val 4687" name="adj"/>
              </a:avLst>
            </a:prstGeom>
            <a:solidFill>
              <a:srgbClr val="172554"/>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5" name="Google Shape;155;p16"/>
            <p:cNvSpPr/>
            <p:nvPr/>
          </p:nvSpPr>
          <p:spPr>
            <a:xfrm>
              <a:off x="0" y="0"/>
              <a:ext cx="1219200" cy="28500"/>
            </a:xfrm>
            <a:prstGeom prst="roundRect">
              <a:avLst>
                <a:gd fmla="val 50000" name="adj"/>
              </a:avLst>
            </a:prstGeom>
            <a:solidFill>
              <a:srgbClr val="38BDF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6" name="Google Shape;156;p16"/>
            <p:cNvSpPr txBox="1"/>
            <p:nvPr/>
          </p:nvSpPr>
          <p:spPr>
            <a:xfrm>
              <a:off x="95250" y="95250"/>
              <a:ext cx="1028700" cy="1428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200">
                  <a:solidFill>
                    <a:srgbClr val="F59E0B"/>
                  </a:solidFill>
                  <a:latin typeface="Outfit"/>
                  <a:ea typeface="Outfit"/>
                  <a:cs typeface="Outfit"/>
                  <a:sym typeface="Outfit"/>
                </a:rPr>
                <a:t>03</a:t>
              </a:r>
              <a:endParaRPr b="1" sz="1200">
                <a:solidFill>
                  <a:srgbClr val="F59E0B"/>
                </a:solidFill>
                <a:latin typeface="Outfit"/>
                <a:ea typeface="Outfit"/>
                <a:cs typeface="Outfit"/>
                <a:sym typeface="Outfit"/>
              </a:endParaRPr>
            </a:p>
            <a:p>
              <a:pPr indent="0" lvl="0" marL="0" rtl="0" algn="l">
                <a:spcBef>
                  <a:spcPts val="150"/>
                </a:spcBef>
                <a:spcAft>
                  <a:spcPts val="0"/>
                </a:spcAft>
                <a:buNone/>
              </a:pPr>
              <a:r>
                <a:rPr b="0" lang="en-GB" sz="1000">
                  <a:solidFill>
                    <a:srgbClr val="F8FAFC"/>
                  </a:solidFill>
                  <a:latin typeface="Outfit SemiBold"/>
                  <a:ea typeface="Outfit SemiBold"/>
                  <a:cs typeface="Outfit SemiBold"/>
                  <a:sym typeface="Outfit SemiBold"/>
                </a:rPr>
                <a:t>Controller Logic</a:t>
              </a:r>
              <a:endParaRPr b="0" sz="1000">
                <a:solidFill>
                  <a:srgbClr val="F8FAFC"/>
                </a:solidFill>
                <a:latin typeface="Outfit SemiBold"/>
                <a:ea typeface="Outfit SemiBold"/>
                <a:cs typeface="Outfit SemiBold"/>
                <a:sym typeface="Outfit SemiBold"/>
              </a:endParaRPr>
            </a:p>
            <a:p>
              <a:pPr indent="0" lvl="0" marL="0" rtl="0" algn="l">
                <a:spcBef>
                  <a:spcPts val="300"/>
                </a:spcBef>
                <a:spcAft>
                  <a:spcPts val="0"/>
                </a:spcAft>
                <a:buNone/>
              </a:pPr>
              <a:r>
                <a:rPr b="0" lang="en-GB" sz="850">
                  <a:solidFill>
                    <a:srgbClr val="94A3B8"/>
                  </a:solidFill>
                  <a:latin typeface="Inter"/>
                  <a:ea typeface="Inter"/>
                  <a:cs typeface="Inter"/>
                  <a:sym typeface="Inter"/>
                </a:rPr>
                <a:t>Business logic executes in Controller with Haversine distance calculator.</a:t>
              </a:r>
              <a:endParaRPr b="0" sz="850">
                <a:solidFill>
                  <a:srgbClr val="94A3B8"/>
                </a:solidFill>
                <a:latin typeface="Inter"/>
                <a:ea typeface="Inter"/>
                <a:cs typeface="Inter"/>
                <a:sym typeface="Inter"/>
              </a:endParaRPr>
            </a:p>
          </p:txBody>
        </p:sp>
      </p:grpSp>
      <p:grpSp>
        <p:nvGrpSpPr>
          <p:cNvPr id="157" name="Google Shape;157;p16"/>
          <p:cNvGrpSpPr/>
          <p:nvPr/>
        </p:nvGrpSpPr>
        <p:grpSpPr>
          <a:xfrm>
            <a:off x="4667250" y="2971800"/>
            <a:ext cx="1219200" cy="1619100"/>
            <a:chOff x="0" y="0"/>
            <a:chExt cx="1219200" cy="1619100"/>
          </a:xfrm>
        </p:grpSpPr>
        <p:sp>
          <p:nvSpPr>
            <p:cNvPr id="158" name="Google Shape;158;p16"/>
            <p:cNvSpPr/>
            <p:nvPr/>
          </p:nvSpPr>
          <p:spPr>
            <a:xfrm>
              <a:off x="0" y="0"/>
              <a:ext cx="1219200" cy="1619100"/>
            </a:xfrm>
            <a:prstGeom prst="roundRect">
              <a:avLst>
                <a:gd fmla="val 4687" name="adj"/>
              </a:avLst>
            </a:prstGeom>
            <a:solidFill>
              <a:srgbClr val="172554"/>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9" name="Google Shape;159;p16"/>
            <p:cNvSpPr/>
            <p:nvPr/>
          </p:nvSpPr>
          <p:spPr>
            <a:xfrm>
              <a:off x="0" y="0"/>
              <a:ext cx="1219200" cy="28500"/>
            </a:xfrm>
            <a:prstGeom prst="roundRect">
              <a:avLst>
                <a:gd fmla="val 50000" name="adj"/>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0" name="Google Shape;160;p16"/>
            <p:cNvSpPr txBox="1"/>
            <p:nvPr/>
          </p:nvSpPr>
          <p:spPr>
            <a:xfrm>
              <a:off x="95250" y="95250"/>
              <a:ext cx="1028700" cy="1428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200">
                  <a:solidFill>
                    <a:srgbClr val="F59E0B"/>
                  </a:solidFill>
                  <a:latin typeface="Outfit"/>
                  <a:ea typeface="Outfit"/>
                  <a:cs typeface="Outfit"/>
                  <a:sym typeface="Outfit"/>
                </a:rPr>
                <a:t>04</a:t>
              </a:r>
              <a:endParaRPr b="1" sz="1200">
                <a:solidFill>
                  <a:srgbClr val="F59E0B"/>
                </a:solidFill>
                <a:latin typeface="Outfit"/>
                <a:ea typeface="Outfit"/>
                <a:cs typeface="Outfit"/>
                <a:sym typeface="Outfit"/>
              </a:endParaRPr>
            </a:p>
            <a:p>
              <a:pPr indent="0" lvl="0" marL="0" rtl="0" algn="l">
                <a:spcBef>
                  <a:spcPts val="150"/>
                </a:spcBef>
                <a:spcAft>
                  <a:spcPts val="0"/>
                </a:spcAft>
                <a:buNone/>
              </a:pPr>
              <a:r>
                <a:rPr b="0" lang="en-GB" sz="1000">
                  <a:solidFill>
                    <a:srgbClr val="F8FAFC"/>
                  </a:solidFill>
                  <a:latin typeface="Outfit SemiBold"/>
                  <a:ea typeface="Outfit SemiBold"/>
                  <a:cs typeface="Outfit SemiBold"/>
                  <a:sym typeface="Outfit SemiBold"/>
                </a:rPr>
                <a:t>Mongoose Translation</a:t>
              </a:r>
              <a:endParaRPr b="0" sz="1000">
                <a:solidFill>
                  <a:srgbClr val="F8FAFC"/>
                </a:solidFill>
                <a:latin typeface="Outfit SemiBold"/>
                <a:ea typeface="Outfit SemiBold"/>
                <a:cs typeface="Outfit SemiBold"/>
                <a:sym typeface="Outfit SemiBold"/>
              </a:endParaRPr>
            </a:p>
            <a:p>
              <a:pPr indent="0" lvl="0" marL="0" rtl="0" algn="l">
                <a:spcBef>
                  <a:spcPts val="300"/>
                </a:spcBef>
                <a:spcAft>
                  <a:spcPts val="0"/>
                </a:spcAft>
                <a:buNone/>
              </a:pPr>
              <a:r>
                <a:rPr b="0" lang="en-GB" sz="850">
                  <a:solidFill>
                    <a:srgbClr val="94A3B8"/>
                  </a:solidFill>
                  <a:latin typeface="Inter"/>
                  <a:ea typeface="Inter"/>
                  <a:cs typeface="Inter"/>
                  <a:sym typeface="Inter"/>
                </a:rPr>
                <a:t>Mongoose translates operation into database commands.</a:t>
              </a:r>
              <a:endParaRPr b="0" sz="850">
                <a:solidFill>
                  <a:srgbClr val="94A3B8"/>
                </a:solidFill>
                <a:latin typeface="Inter"/>
                <a:ea typeface="Inter"/>
                <a:cs typeface="Inter"/>
                <a:sym typeface="Inter"/>
              </a:endParaRPr>
            </a:p>
          </p:txBody>
        </p:sp>
      </p:grpSp>
      <p:grpSp>
        <p:nvGrpSpPr>
          <p:cNvPr id="161" name="Google Shape;161;p16"/>
          <p:cNvGrpSpPr/>
          <p:nvPr/>
        </p:nvGrpSpPr>
        <p:grpSpPr>
          <a:xfrm>
            <a:off x="6019800" y="2971800"/>
            <a:ext cx="1219200" cy="1619100"/>
            <a:chOff x="0" y="0"/>
            <a:chExt cx="1219200" cy="1619100"/>
          </a:xfrm>
        </p:grpSpPr>
        <p:sp>
          <p:nvSpPr>
            <p:cNvPr id="162" name="Google Shape;162;p16"/>
            <p:cNvSpPr/>
            <p:nvPr/>
          </p:nvSpPr>
          <p:spPr>
            <a:xfrm>
              <a:off x="0" y="0"/>
              <a:ext cx="1219200" cy="1619100"/>
            </a:xfrm>
            <a:prstGeom prst="roundRect">
              <a:avLst>
                <a:gd fmla="val 4687" name="adj"/>
              </a:avLst>
            </a:prstGeom>
            <a:solidFill>
              <a:srgbClr val="172554"/>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3" name="Google Shape;163;p16"/>
            <p:cNvSpPr/>
            <p:nvPr/>
          </p:nvSpPr>
          <p:spPr>
            <a:xfrm>
              <a:off x="0" y="0"/>
              <a:ext cx="1219200" cy="28500"/>
            </a:xfrm>
            <a:prstGeom prst="roundRect">
              <a:avLst>
                <a:gd fmla="val 50000" name="adj"/>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4" name="Google Shape;164;p16"/>
            <p:cNvSpPr txBox="1"/>
            <p:nvPr/>
          </p:nvSpPr>
          <p:spPr>
            <a:xfrm>
              <a:off x="95250" y="95250"/>
              <a:ext cx="1028700" cy="1428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200">
                  <a:solidFill>
                    <a:srgbClr val="F59E0B"/>
                  </a:solidFill>
                  <a:latin typeface="Outfit"/>
                  <a:ea typeface="Outfit"/>
                  <a:cs typeface="Outfit"/>
                  <a:sym typeface="Outfit"/>
                </a:rPr>
                <a:t>05</a:t>
              </a:r>
              <a:endParaRPr b="1" sz="1200">
                <a:solidFill>
                  <a:srgbClr val="F59E0B"/>
                </a:solidFill>
                <a:latin typeface="Outfit"/>
                <a:ea typeface="Outfit"/>
                <a:cs typeface="Outfit"/>
                <a:sym typeface="Outfit"/>
              </a:endParaRPr>
            </a:p>
            <a:p>
              <a:pPr indent="0" lvl="0" marL="0" rtl="0" algn="l">
                <a:spcBef>
                  <a:spcPts val="150"/>
                </a:spcBef>
                <a:spcAft>
                  <a:spcPts val="0"/>
                </a:spcAft>
                <a:buNone/>
              </a:pPr>
              <a:r>
                <a:rPr b="0" lang="en-GB" sz="1000">
                  <a:solidFill>
                    <a:srgbClr val="F8FAFC"/>
                  </a:solidFill>
                  <a:latin typeface="Outfit SemiBold"/>
                  <a:ea typeface="Outfit SemiBold"/>
                  <a:cs typeface="Outfit SemiBold"/>
                  <a:sym typeface="Outfit SemiBold"/>
                </a:rPr>
                <a:t>MongoDB Execution</a:t>
              </a:r>
              <a:endParaRPr b="0" sz="1000">
                <a:solidFill>
                  <a:srgbClr val="F8FAFC"/>
                </a:solidFill>
                <a:latin typeface="Outfit SemiBold"/>
                <a:ea typeface="Outfit SemiBold"/>
                <a:cs typeface="Outfit SemiBold"/>
                <a:sym typeface="Outfit SemiBold"/>
              </a:endParaRPr>
            </a:p>
            <a:p>
              <a:pPr indent="0" lvl="0" marL="0" rtl="0" algn="l">
                <a:spcBef>
                  <a:spcPts val="300"/>
                </a:spcBef>
                <a:spcAft>
                  <a:spcPts val="0"/>
                </a:spcAft>
                <a:buNone/>
              </a:pPr>
              <a:r>
                <a:rPr b="0" lang="en-GB" sz="850">
                  <a:solidFill>
                    <a:srgbClr val="94A3B8"/>
                  </a:solidFill>
                  <a:latin typeface="Inter"/>
                  <a:ea typeface="Inter"/>
                  <a:cs typeface="Inter"/>
                  <a:sym typeface="Inter"/>
                </a:rPr>
                <a:t>MongoDB executes query and returns document.</a:t>
              </a:r>
              <a:endParaRPr b="0" sz="850">
                <a:solidFill>
                  <a:srgbClr val="94A3B8"/>
                </a:solidFill>
                <a:latin typeface="Inter"/>
                <a:ea typeface="Inter"/>
                <a:cs typeface="Inter"/>
                <a:sym typeface="Inter"/>
              </a:endParaRPr>
            </a:p>
          </p:txBody>
        </p:sp>
      </p:grpSp>
      <p:grpSp>
        <p:nvGrpSpPr>
          <p:cNvPr id="165" name="Google Shape;165;p16"/>
          <p:cNvGrpSpPr/>
          <p:nvPr/>
        </p:nvGrpSpPr>
        <p:grpSpPr>
          <a:xfrm>
            <a:off x="7372350" y="2971800"/>
            <a:ext cx="1162200" cy="1619100"/>
            <a:chOff x="0" y="0"/>
            <a:chExt cx="1162200" cy="1619100"/>
          </a:xfrm>
        </p:grpSpPr>
        <p:sp>
          <p:nvSpPr>
            <p:cNvPr id="166" name="Google Shape;166;p16"/>
            <p:cNvSpPr/>
            <p:nvPr/>
          </p:nvSpPr>
          <p:spPr>
            <a:xfrm>
              <a:off x="0" y="0"/>
              <a:ext cx="1162200" cy="1619100"/>
            </a:xfrm>
            <a:prstGeom prst="roundRect">
              <a:avLst>
                <a:gd fmla="val 4918" name="adj"/>
              </a:avLst>
            </a:prstGeom>
            <a:solidFill>
              <a:srgbClr val="172554"/>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7" name="Google Shape;167;p16"/>
            <p:cNvSpPr/>
            <p:nvPr/>
          </p:nvSpPr>
          <p:spPr>
            <a:xfrm>
              <a:off x="0" y="0"/>
              <a:ext cx="1162200" cy="28500"/>
            </a:xfrm>
            <a:prstGeom prst="roundRect">
              <a:avLst>
                <a:gd fmla="val 50000" name="adj"/>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8" name="Google Shape;168;p16"/>
            <p:cNvSpPr txBox="1"/>
            <p:nvPr/>
          </p:nvSpPr>
          <p:spPr>
            <a:xfrm>
              <a:off x="95250" y="95250"/>
              <a:ext cx="971700" cy="1428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200">
                  <a:solidFill>
                    <a:srgbClr val="F59E0B"/>
                  </a:solidFill>
                  <a:latin typeface="Outfit"/>
                  <a:ea typeface="Outfit"/>
                  <a:cs typeface="Outfit"/>
                  <a:sym typeface="Outfit"/>
                </a:rPr>
                <a:t>06</a:t>
              </a:r>
              <a:endParaRPr b="1" sz="1200">
                <a:solidFill>
                  <a:srgbClr val="F59E0B"/>
                </a:solidFill>
                <a:latin typeface="Outfit"/>
                <a:ea typeface="Outfit"/>
                <a:cs typeface="Outfit"/>
                <a:sym typeface="Outfit"/>
              </a:endParaRPr>
            </a:p>
            <a:p>
              <a:pPr indent="0" lvl="0" marL="0" rtl="0" algn="l">
                <a:spcBef>
                  <a:spcPts val="150"/>
                </a:spcBef>
                <a:spcAft>
                  <a:spcPts val="0"/>
                </a:spcAft>
                <a:buNone/>
              </a:pPr>
              <a:r>
                <a:rPr b="0" lang="en-GB" sz="1000">
                  <a:solidFill>
                    <a:srgbClr val="F8FAFC"/>
                  </a:solidFill>
                  <a:latin typeface="Outfit SemiBold"/>
                  <a:ea typeface="Outfit SemiBold"/>
                  <a:cs typeface="Outfit SemiBold"/>
                  <a:sym typeface="Outfit SemiBold"/>
                </a:rPr>
                <a:t>JSON Envelope</a:t>
              </a:r>
              <a:endParaRPr b="0" sz="1000">
                <a:solidFill>
                  <a:srgbClr val="F8FAFC"/>
                </a:solidFill>
                <a:latin typeface="Outfit SemiBold"/>
                <a:ea typeface="Outfit SemiBold"/>
                <a:cs typeface="Outfit SemiBold"/>
                <a:sym typeface="Outfit SemiBold"/>
              </a:endParaRPr>
            </a:p>
            <a:p>
              <a:pPr indent="0" lvl="0" marL="0" rtl="0" algn="l">
                <a:spcBef>
                  <a:spcPts val="300"/>
                </a:spcBef>
                <a:spcAft>
                  <a:spcPts val="0"/>
                </a:spcAft>
                <a:buNone/>
              </a:pPr>
              <a:r>
                <a:rPr b="0" lang="en-GB" sz="850">
                  <a:solidFill>
                    <a:srgbClr val="94A3B8"/>
                  </a:solidFill>
                  <a:latin typeface="Inter"/>
                  <a:ea typeface="Inter"/>
                  <a:cs typeface="Inter"/>
                  <a:sym typeface="Inter"/>
                </a:rPr>
                <a:t>Server responds to client with standardized JSON Envelope.</a:t>
              </a:r>
              <a:endParaRPr b="0" sz="850">
                <a:solidFill>
                  <a:srgbClr val="94A3B8"/>
                </a:solidFill>
                <a:latin typeface="Inter"/>
                <a:ea typeface="Inter"/>
                <a:cs typeface="Inter"/>
                <a:sym typeface="Inter"/>
              </a:endParaRPr>
            </a:p>
          </p:txBody>
        </p:sp>
      </p:grpSp>
      <p:grpSp>
        <p:nvGrpSpPr>
          <p:cNvPr id="169" name="Google Shape;169;p16"/>
          <p:cNvGrpSpPr/>
          <p:nvPr/>
        </p:nvGrpSpPr>
        <p:grpSpPr>
          <a:xfrm>
            <a:off x="457200" y="4781550"/>
            <a:ext cx="8229600" cy="266700"/>
            <a:chOff x="457200" y="4781550"/>
            <a:chExt cx="8229600" cy="266700"/>
          </a:xfrm>
        </p:grpSpPr>
        <p:sp>
          <p:nvSpPr>
            <p:cNvPr id="170" name="Google Shape;170;p16"/>
            <p:cNvSpPr/>
            <p:nvPr/>
          </p:nvSpPr>
          <p:spPr>
            <a:xfrm>
              <a:off x="457200" y="4781550"/>
              <a:ext cx="8229600" cy="9600"/>
            </a:xfrm>
            <a:prstGeom prst="rect">
              <a:avLst/>
            </a:prstGeom>
            <a:solidFill>
              <a:srgbClr val="F59E0B">
                <a:alpha val="5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1" name="Google Shape;171;p16"/>
            <p:cNvSpPr txBox="1"/>
            <p:nvPr/>
          </p:nvSpPr>
          <p:spPr>
            <a:xfrm>
              <a:off x="457200" y="485775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900">
                  <a:solidFill>
                    <a:srgbClr val="94A3B8"/>
                  </a:solidFill>
                  <a:latin typeface="Inter SemiBold"/>
                  <a:ea typeface="Inter SemiBold"/>
                  <a:cs typeface="Inter SemiBold"/>
                  <a:sym typeface="Inter SemiBold"/>
                </a:rPr>
                <a:t>Smart EB Connect | FSD Architecture</a:t>
              </a:r>
              <a:endParaRPr b="0" sz="900">
                <a:solidFill>
                  <a:srgbClr val="94A3B8"/>
                </a:solidFill>
                <a:latin typeface="Inter SemiBold"/>
                <a:ea typeface="Inter SemiBold"/>
                <a:cs typeface="Inter SemiBold"/>
                <a:sym typeface="Inter SemiBold"/>
              </a:endParaRPr>
            </a:p>
          </p:txBody>
        </p:sp>
        <p:sp>
          <p:nvSpPr>
            <p:cNvPr id="172" name="Google Shape;172;p16"/>
            <p:cNvSpPr txBox="1"/>
            <p:nvPr/>
          </p:nvSpPr>
          <p:spPr>
            <a:xfrm>
              <a:off x="4876800" y="485775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GB" sz="900">
                  <a:solidFill>
                    <a:srgbClr val="94A3B8"/>
                  </a:solidFill>
                  <a:latin typeface="Inter SemiBold"/>
                  <a:ea typeface="Inter SemiBold"/>
                  <a:cs typeface="Inter SemiBold"/>
                  <a:sym typeface="Inter SemiBold"/>
                </a:rPr>
                <a:t>System &amp; Data Flow</a:t>
              </a:r>
              <a:endParaRPr b="0" sz="900">
                <a:solidFill>
                  <a:srgbClr val="94A3B8"/>
                </a:solidFill>
                <a:latin typeface="Inter SemiBold"/>
                <a:ea typeface="Inter SemiBold"/>
                <a:cs typeface="Inter SemiBold"/>
                <a:sym typeface="Inter SemiBold"/>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325"/>
        </a:solidFill>
      </p:bgPr>
    </p:bg>
    <p:spTree>
      <p:nvGrpSpPr>
        <p:cNvPr id="176" name="Shape 176"/>
        <p:cNvGrpSpPr/>
        <p:nvPr/>
      </p:nvGrpSpPr>
      <p:grpSpPr>
        <a:xfrm>
          <a:off x="0" y="0"/>
          <a:ext cx="0" cy="0"/>
          <a:chOff x="0" y="0"/>
          <a:chExt cx="0" cy="0"/>
        </a:xfrm>
      </p:grpSpPr>
      <p:pic>
        <p:nvPicPr>
          <p:cNvPr id="177" name="Google Shape;177;p17"/>
          <p:cNvPicPr preferRelativeResize="0"/>
          <p:nvPr/>
        </p:nvPicPr>
        <p:blipFill rotWithShape="1">
          <a:blip r:embed="rId3">
            <a:alphaModFix/>
          </a:blip>
          <a:srcRect b="0" l="0" r="0" t="0"/>
          <a:stretch/>
        </p:blipFill>
        <p:spPr>
          <a:xfrm>
            <a:off x="0" y="0"/>
            <a:ext cx="9144000" cy="5143500"/>
          </a:xfrm>
          <a:prstGeom prst="rect">
            <a:avLst/>
          </a:prstGeom>
          <a:noFill/>
          <a:ln>
            <a:noFill/>
          </a:ln>
        </p:spPr>
      </p:pic>
      <p:grpSp>
        <p:nvGrpSpPr>
          <p:cNvPr id="178" name="Google Shape;178;p17"/>
          <p:cNvGrpSpPr/>
          <p:nvPr/>
        </p:nvGrpSpPr>
        <p:grpSpPr>
          <a:xfrm>
            <a:off x="457200" y="400050"/>
            <a:ext cx="876300" cy="38100"/>
            <a:chOff x="0" y="0"/>
            <a:chExt cx="876300" cy="38100"/>
          </a:xfrm>
        </p:grpSpPr>
        <p:sp>
          <p:nvSpPr>
            <p:cNvPr id="179" name="Google Shape;179;p17"/>
            <p:cNvSpPr/>
            <p:nvPr/>
          </p:nvSpPr>
          <p:spPr>
            <a:xfrm>
              <a:off x="0" y="0"/>
              <a:ext cx="571500" cy="38100"/>
            </a:xfrm>
            <a:prstGeom prst="roundRect">
              <a:avLst>
                <a:gd fmla="val 50000" name="adj"/>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0" name="Google Shape;180;p17"/>
            <p:cNvSpPr/>
            <p:nvPr/>
          </p:nvSpPr>
          <p:spPr>
            <a:xfrm>
              <a:off x="609600" y="0"/>
              <a:ext cx="152400" cy="38100"/>
            </a:xfrm>
            <a:prstGeom prst="roundRect">
              <a:avLst>
                <a:gd fmla="val 50000" name="adj"/>
              </a:avLst>
            </a:prstGeom>
            <a:solidFill>
              <a:srgbClr val="38BDF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1" name="Google Shape;181;p17"/>
            <p:cNvSpPr/>
            <p:nvPr/>
          </p:nvSpPr>
          <p:spPr>
            <a:xfrm>
              <a:off x="800100" y="0"/>
              <a:ext cx="76200" cy="38100"/>
            </a:xfrm>
            <a:prstGeom prst="roundRect">
              <a:avLst>
                <a:gd fmla="val 50000" name="adj"/>
              </a:avLst>
            </a:prstGeom>
            <a:solidFill>
              <a:srgbClr val="38BDF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82" name="Google Shape;182;p17"/>
          <p:cNvSpPr txBox="1"/>
          <p:nvPr/>
        </p:nvSpPr>
        <p:spPr>
          <a:xfrm>
            <a:off x="457200" y="514350"/>
            <a:ext cx="8229600" cy="76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2600">
                <a:solidFill>
                  <a:srgbClr val="F8FAFC"/>
                </a:solidFill>
                <a:latin typeface="Outfit"/>
                <a:ea typeface="Outfit"/>
                <a:cs typeface="Outfit"/>
                <a:sym typeface="Outfit"/>
              </a:rPr>
              <a:t>Database Design &amp; GeoJSON Schema</a:t>
            </a:r>
            <a:endParaRPr b="1" sz="2600">
              <a:solidFill>
                <a:srgbClr val="F8FAFC"/>
              </a:solidFill>
              <a:latin typeface="Outfit"/>
              <a:ea typeface="Outfit"/>
              <a:cs typeface="Outfit"/>
              <a:sym typeface="Outfit"/>
            </a:endParaRPr>
          </a:p>
          <a:p>
            <a:pPr indent="0" lvl="0" marL="0" rtl="0" algn="l">
              <a:spcBef>
                <a:spcPts val="300"/>
              </a:spcBef>
              <a:spcAft>
                <a:spcPts val="0"/>
              </a:spcAft>
              <a:buNone/>
            </a:pPr>
            <a:r>
              <a:rPr b="0" lang="en-GB" sz="1100">
                <a:solidFill>
                  <a:srgbClr val="94A3B8"/>
                </a:solidFill>
                <a:latin typeface="Inter"/>
                <a:ea typeface="Inter"/>
                <a:cs typeface="Inter"/>
                <a:sym typeface="Inter"/>
              </a:rPr>
              <a:t>MongoDB collections structured to maintain data integrity and support complex geospatial queries via Mongoose ODM.</a:t>
            </a:r>
            <a:endParaRPr b="0" sz="1100">
              <a:solidFill>
                <a:srgbClr val="94A3B8"/>
              </a:solidFill>
              <a:latin typeface="Inter"/>
              <a:ea typeface="Inter"/>
              <a:cs typeface="Inter"/>
              <a:sym typeface="Inter"/>
            </a:endParaRPr>
          </a:p>
        </p:txBody>
      </p:sp>
      <p:grpSp>
        <p:nvGrpSpPr>
          <p:cNvPr id="183" name="Google Shape;183;p17"/>
          <p:cNvGrpSpPr/>
          <p:nvPr/>
        </p:nvGrpSpPr>
        <p:grpSpPr>
          <a:xfrm>
            <a:off x="457200" y="1390650"/>
            <a:ext cx="2571900" cy="3238500"/>
            <a:chOff x="0" y="0"/>
            <a:chExt cx="2571900" cy="3238500"/>
          </a:xfrm>
        </p:grpSpPr>
        <p:sp>
          <p:nvSpPr>
            <p:cNvPr id="184" name="Google Shape;184;p17"/>
            <p:cNvSpPr/>
            <p:nvPr/>
          </p:nvSpPr>
          <p:spPr>
            <a:xfrm>
              <a:off x="0" y="0"/>
              <a:ext cx="2571900" cy="3238500"/>
            </a:xfrm>
            <a:prstGeom prst="roundRect">
              <a:avLst>
                <a:gd fmla="val 2962" name="adj"/>
              </a:avLst>
            </a:prstGeom>
            <a:solidFill>
              <a:srgbClr val="1E293B"/>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5" name="Google Shape;185;p17"/>
            <p:cNvSpPr/>
            <p:nvPr/>
          </p:nvSpPr>
          <p:spPr>
            <a:xfrm>
              <a:off x="0" y="0"/>
              <a:ext cx="2571900" cy="38100"/>
            </a:xfrm>
            <a:prstGeom prst="roundRect">
              <a:avLst>
                <a:gd fmla="val 50000" name="adj"/>
              </a:avLst>
            </a:prstGeom>
            <a:solidFill>
              <a:srgbClr val="38BDF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86" name="Google Shape;186;p17"/>
            <p:cNvGrpSpPr/>
            <p:nvPr/>
          </p:nvGrpSpPr>
          <p:grpSpPr>
            <a:xfrm>
              <a:off x="152400" y="152400"/>
              <a:ext cx="1124100" cy="190500"/>
              <a:chOff x="0" y="0"/>
              <a:chExt cx="1124100" cy="190500"/>
            </a:xfrm>
          </p:grpSpPr>
          <p:sp>
            <p:nvSpPr>
              <p:cNvPr id="187" name="Google Shape;187;p17"/>
              <p:cNvSpPr/>
              <p:nvPr/>
            </p:nvSpPr>
            <p:spPr>
              <a:xfrm>
                <a:off x="0" y="0"/>
                <a:ext cx="1124100" cy="190500"/>
              </a:xfrm>
              <a:prstGeom prst="roundRect">
                <a:avLst>
                  <a:gd fmla="val 50000" name="adj"/>
                </a:avLst>
              </a:prstGeom>
              <a:solidFill>
                <a:srgbClr val="172554"/>
              </a:solidFill>
              <a:ln cap="flat" cmpd="sng" w="9525">
                <a:solidFill>
                  <a:srgbClr val="38BDF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8" name="Google Shape;188;p17"/>
              <p:cNvSpPr txBox="1"/>
              <p:nvPr/>
            </p:nvSpPr>
            <p:spPr>
              <a:xfrm>
                <a:off x="0" y="19050"/>
                <a:ext cx="1124100" cy="152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750">
                    <a:solidFill>
                      <a:srgbClr val="38BDF8"/>
                    </a:solidFill>
                    <a:latin typeface="Inter"/>
                    <a:ea typeface="Inter"/>
                    <a:cs typeface="Inter"/>
                    <a:sym typeface="Inter"/>
                  </a:rPr>
                  <a:t>IDENTITY &amp; AUTH</a:t>
                </a:r>
                <a:endParaRPr b="1" sz="750">
                  <a:solidFill>
                    <a:srgbClr val="38BDF8"/>
                  </a:solidFill>
                  <a:latin typeface="Inter"/>
                  <a:ea typeface="Inter"/>
                  <a:cs typeface="Inter"/>
                  <a:sym typeface="Inter"/>
                </a:endParaRPr>
              </a:p>
            </p:txBody>
          </p:sp>
        </p:grpSp>
        <p:sp>
          <p:nvSpPr>
            <p:cNvPr id="189" name="Google Shape;189;p17"/>
            <p:cNvSpPr txBox="1"/>
            <p:nvPr/>
          </p:nvSpPr>
          <p:spPr>
            <a:xfrm>
              <a:off x="152400" y="400050"/>
              <a:ext cx="2267100" cy="157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1500">
                  <a:solidFill>
                    <a:srgbClr val="F8FAFC"/>
                  </a:solidFill>
                  <a:latin typeface="Outfit SemiBold"/>
                  <a:ea typeface="Outfit SemiBold"/>
                  <a:cs typeface="Outfit SemiBold"/>
                  <a:sym typeface="Outfit SemiBold"/>
                </a:rPr>
                <a:t>User Schema</a:t>
              </a:r>
              <a:endParaRPr b="0" sz="1500">
                <a:solidFill>
                  <a:srgbClr val="F8FAFC"/>
                </a:solidFill>
                <a:latin typeface="Outfit SemiBold"/>
                <a:ea typeface="Outfit SemiBold"/>
                <a:cs typeface="Outfit SemiBold"/>
                <a:sym typeface="Outfit SemiBold"/>
              </a:endParaRPr>
            </a:p>
            <a:p>
              <a:pPr indent="0" lvl="0" marL="0" rtl="0" algn="l">
                <a:spcBef>
                  <a:spcPts val="600"/>
                </a:spcBef>
                <a:spcAft>
                  <a:spcPts val="0"/>
                </a:spcAft>
                <a:buNone/>
              </a:pPr>
              <a:r>
                <a:rPr b="0" lang="en-GB" sz="950">
                  <a:solidFill>
                    <a:srgbClr val="F8FAFC"/>
                  </a:solidFill>
                  <a:latin typeface="Inter SemiBold"/>
                  <a:ea typeface="Inter SemiBold"/>
                  <a:cs typeface="Inter SemiBold"/>
                  <a:sym typeface="Inter SemiBold"/>
                </a:rPr>
                <a:t>Core Data:</a:t>
              </a:r>
              <a:r>
                <a:rPr b="0" lang="en-GB" sz="950">
                  <a:solidFill>
                    <a:srgbClr val="94A3B8"/>
                  </a:solidFill>
                  <a:latin typeface="Inter"/>
                  <a:ea typeface="Inter"/>
                  <a:cs typeface="Inter"/>
                  <a:sym typeface="Inter"/>
                </a:rPr>
                <a:t> Full Name, unique Email, Phone Number, and bcrypt hashed password.</a:t>
              </a:r>
              <a:endParaRPr b="0" sz="950">
                <a:solidFill>
                  <a:srgbClr val="94A3B8"/>
                </a:solidFill>
                <a:latin typeface="Inter"/>
                <a:ea typeface="Inter"/>
                <a:cs typeface="Inter"/>
                <a:sym typeface="Inter"/>
              </a:endParaRPr>
            </a:p>
            <a:p>
              <a:pPr indent="0" lvl="0" marL="0" rtl="0" algn="l">
                <a:spcBef>
                  <a:spcPts val="450"/>
                </a:spcBef>
                <a:spcAft>
                  <a:spcPts val="0"/>
                </a:spcAft>
                <a:buNone/>
              </a:pPr>
              <a:r>
                <a:rPr b="0" lang="en-GB" sz="950">
                  <a:solidFill>
                    <a:srgbClr val="F8FAFC"/>
                  </a:solidFill>
                  <a:latin typeface="Inter SemiBold"/>
                  <a:ea typeface="Inter SemiBold"/>
                  <a:cs typeface="Inter SemiBold"/>
                  <a:sym typeface="Inter SemiBold"/>
                </a:rPr>
                <a:t>Role RBAC:</a:t>
              </a:r>
              <a:r>
                <a:rPr b="0" lang="en-GB" sz="950">
                  <a:solidFill>
                    <a:srgbClr val="94A3B8"/>
                  </a:solidFill>
                  <a:latin typeface="Inter"/>
                  <a:ea typeface="Inter"/>
                  <a:cs typeface="Inter"/>
                  <a:sym typeface="Inter"/>
                </a:rPr>
                <a:t> Restricted to </a:t>
              </a:r>
              <a:r>
                <a:rPr b="0" lang="en-GB" sz="950">
                  <a:solidFill>
                    <a:srgbClr val="38BDF8"/>
                  </a:solidFill>
                  <a:latin typeface="Inter"/>
                  <a:ea typeface="Inter"/>
                  <a:cs typeface="Inter"/>
                  <a:sym typeface="Inter"/>
                </a:rPr>
                <a:t>'customer'</a:t>
              </a:r>
              <a:r>
                <a:rPr b="0" lang="en-GB" sz="950">
                  <a:solidFill>
                    <a:srgbClr val="94A3B8"/>
                  </a:solidFill>
                  <a:latin typeface="Inter"/>
                  <a:ea typeface="Inter"/>
                  <a:cs typeface="Inter"/>
                  <a:sym typeface="Inter"/>
                </a:rPr>
                <a:t>, </a:t>
              </a:r>
              <a:r>
                <a:rPr b="0" lang="en-GB" sz="950">
                  <a:solidFill>
                    <a:srgbClr val="38BDF8"/>
                  </a:solidFill>
                  <a:latin typeface="Inter"/>
                  <a:ea typeface="Inter"/>
                  <a:cs typeface="Inter"/>
                  <a:sym typeface="Inter"/>
                </a:rPr>
                <a:t>'technician'</a:t>
              </a:r>
              <a:r>
                <a:rPr b="0" lang="en-GB" sz="950">
                  <a:solidFill>
                    <a:srgbClr val="94A3B8"/>
                  </a:solidFill>
                  <a:latin typeface="Inter"/>
                  <a:ea typeface="Inter"/>
                  <a:cs typeface="Inter"/>
                  <a:sym typeface="Inter"/>
                </a:rPr>
                <a:t>, or </a:t>
              </a:r>
              <a:r>
                <a:rPr b="0" lang="en-GB" sz="950">
                  <a:solidFill>
                    <a:srgbClr val="38BDF8"/>
                  </a:solidFill>
                  <a:latin typeface="Inter"/>
                  <a:ea typeface="Inter"/>
                  <a:cs typeface="Inter"/>
                  <a:sym typeface="Inter"/>
                </a:rPr>
                <a:t>'admin'</a:t>
              </a:r>
              <a:r>
                <a:rPr b="0" lang="en-GB" sz="950">
                  <a:solidFill>
                    <a:srgbClr val="94A3B8"/>
                  </a:solidFill>
                  <a:latin typeface="Inter"/>
                  <a:ea typeface="Inter"/>
                  <a:cs typeface="Inter"/>
                  <a:sym typeface="Inter"/>
                </a:rPr>
                <a:t>.</a:t>
              </a:r>
              <a:endParaRPr b="0" sz="950">
                <a:solidFill>
                  <a:srgbClr val="94A3B8"/>
                </a:solidFill>
                <a:latin typeface="Inter"/>
                <a:ea typeface="Inter"/>
                <a:cs typeface="Inter"/>
                <a:sym typeface="Inter"/>
              </a:endParaRPr>
            </a:p>
            <a:p>
              <a:pPr indent="0" lvl="0" marL="0" rtl="0" algn="l">
                <a:spcBef>
                  <a:spcPts val="450"/>
                </a:spcBef>
                <a:spcAft>
                  <a:spcPts val="0"/>
                </a:spcAft>
                <a:buNone/>
              </a:pPr>
              <a:r>
                <a:rPr b="0" lang="en-GB" sz="950">
                  <a:solidFill>
                    <a:srgbClr val="F8FAFC"/>
                  </a:solidFill>
                  <a:latin typeface="Inter SemiBold"/>
                  <a:ea typeface="Inter SemiBold"/>
                  <a:cs typeface="Inter SemiBold"/>
                  <a:sym typeface="Inter SemiBold"/>
                </a:rPr>
                <a:t>Account Flag:</a:t>
              </a:r>
              <a:r>
                <a:rPr b="0" lang="en-GB" sz="950">
                  <a:solidFill>
                    <a:srgbClr val="94A3B8"/>
                  </a:solidFill>
                  <a:latin typeface="Inter"/>
                  <a:ea typeface="Inter"/>
                  <a:cs typeface="Inter"/>
                  <a:sym typeface="Inter"/>
                </a:rPr>
                <a:t> </a:t>
              </a:r>
              <a:r>
                <a:rPr b="0" lang="en-GB" sz="950">
                  <a:solidFill>
                    <a:srgbClr val="38BDF8"/>
                  </a:solidFill>
                  <a:latin typeface="Inter"/>
                  <a:ea typeface="Inter"/>
                  <a:cs typeface="Inter"/>
                  <a:sym typeface="Inter"/>
                </a:rPr>
                <a:t>isActive</a:t>
              </a:r>
              <a:r>
                <a:rPr b="0" lang="en-GB" sz="950">
                  <a:solidFill>
                    <a:srgbClr val="94A3B8"/>
                  </a:solidFill>
                  <a:latin typeface="Inter"/>
                  <a:ea typeface="Inter"/>
                  <a:cs typeface="Inter"/>
                  <a:sym typeface="Inter"/>
                </a:rPr>
                <a:t> boolean for state management.</a:t>
              </a:r>
              <a:endParaRPr b="0" sz="950">
                <a:solidFill>
                  <a:srgbClr val="94A3B8"/>
                </a:solidFill>
                <a:latin typeface="Inter"/>
                <a:ea typeface="Inter"/>
                <a:cs typeface="Inter"/>
                <a:sym typeface="Inter"/>
              </a:endParaRPr>
            </a:p>
          </p:txBody>
        </p:sp>
        <p:grpSp>
          <p:nvGrpSpPr>
            <p:cNvPr id="190" name="Google Shape;190;p17"/>
            <p:cNvGrpSpPr/>
            <p:nvPr/>
          </p:nvGrpSpPr>
          <p:grpSpPr>
            <a:xfrm>
              <a:off x="133350" y="2019300"/>
              <a:ext cx="2305200" cy="1086000"/>
              <a:chOff x="0" y="0"/>
              <a:chExt cx="2305200" cy="1086000"/>
            </a:xfrm>
          </p:grpSpPr>
          <p:sp>
            <p:nvSpPr>
              <p:cNvPr id="191" name="Google Shape;191;p17"/>
              <p:cNvSpPr/>
              <p:nvPr/>
            </p:nvSpPr>
            <p:spPr>
              <a:xfrm>
                <a:off x="0" y="0"/>
                <a:ext cx="2305200" cy="1086000"/>
              </a:xfrm>
              <a:prstGeom prst="roundRect">
                <a:avLst>
                  <a:gd fmla="val 5263" name="adj"/>
                </a:avLst>
              </a:prstGeom>
              <a:solidFill>
                <a:srgbClr val="0B1325"/>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2" name="Google Shape;192;p17"/>
              <p:cNvSpPr/>
              <p:nvPr/>
            </p:nvSpPr>
            <p:spPr>
              <a:xfrm>
                <a:off x="0" y="0"/>
                <a:ext cx="2305200" cy="190500"/>
              </a:xfrm>
              <a:prstGeom prst="roundRect">
                <a:avLst>
                  <a:gd fmla="val 30000" name="adj"/>
                </a:avLst>
              </a:prstGeom>
              <a:solidFill>
                <a:srgbClr val="17255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3" name="Google Shape;193;p17"/>
              <p:cNvSpPr/>
              <p:nvPr/>
            </p:nvSpPr>
            <p:spPr>
              <a:xfrm>
                <a:off x="85725" y="66675"/>
                <a:ext cx="57300" cy="57300"/>
              </a:xfrm>
              <a:prstGeom prst="ellipse">
                <a:avLst/>
              </a:prstGeom>
              <a:solidFill>
                <a:srgbClr val="EF44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4" name="Google Shape;194;p17"/>
              <p:cNvSpPr/>
              <p:nvPr/>
            </p:nvSpPr>
            <p:spPr>
              <a:xfrm>
                <a:off x="180975" y="66675"/>
                <a:ext cx="57300" cy="57300"/>
              </a:xfrm>
              <a:prstGeom prst="ellipse">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5" name="Google Shape;195;p17"/>
              <p:cNvSpPr/>
              <p:nvPr/>
            </p:nvSpPr>
            <p:spPr>
              <a:xfrm>
                <a:off x="276225" y="66675"/>
                <a:ext cx="57300" cy="57300"/>
              </a:xfrm>
              <a:prstGeom prst="ellipse">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6" name="Google Shape;196;p17"/>
              <p:cNvSpPr txBox="1"/>
              <p:nvPr/>
            </p:nvSpPr>
            <p:spPr>
              <a:xfrm>
                <a:off x="428625" y="19050"/>
                <a:ext cx="1714500" cy="152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750">
                    <a:solidFill>
                      <a:srgbClr val="94A3B8"/>
                    </a:solidFill>
                    <a:latin typeface="Fira Code"/>
                    <a:ea typeface="Fira Code"/>
                    <a:cs typeface="Fira Code"/>
                    <a:sym typeface="Fira Code"/>
                  </a:rPr>
                  <a:t>UserSchema.js</a:t>
                </a:r>
                <a:endParaRPr sz="750">
                  <a:solidFill>
                    <a:srgbClr val="94A3B8"/>
                  </a:solidFill>
                  <a:latin typeface="Fira Code"/>
                  <a:ea typeface="Fira Code"/>
                  <a:cs typeface="Fira Code"/>
                  <a:sym typeface="Fira Code"/>
                </a:endParaRPr>
              </a:p>
            </p:txBody>
          </p:sp>
          <p:sp>
            <p:nvSpPr>
              <p:cNvPr id="197" name="Google Shape;197;p17"/>
              <p:cNvSpPr txBox="1"/>
              <p:nvPr/>
            </p:nvSpPr>
            <p:spPr>
              <a:xfrm>
                <a:off x="95250" y="247650"/>
                <a:ext cx="2114700" cy="76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800">
                    <a:solidFill>
                      <a:srgbClr val="F59E0B"/>
                    </a:solidFill>
                    <a:latin typeface="Fira Code"/>
                    <a:ea typeface="Fira Code"/>
                    <a:cs typeface="Fira Code"/>
                    <a:sym typeface="Fira Code"/>
                  </a:rPr>
                  <a:t>email:</a:t>
                </a:r>
                <a:r>
                  <a:rPr b="0" lang="en-GB" sz="800">
                    <a:solidFill>
                      <a:srgbClr val="38BDF8"/>
                    </a:solidFill>
                    <a:latin typeface="Fira Code"/>
                    <a:ea typeface="Fira Code"/>
                    <a:cs typeface="Fira Code"/>
                    <a:sym typeface="Fira Code"/>
                  </a:rPr>
                  <a:t> { type: String, unique: true },</a:t>
                </a:r>
                <a:endParaRPr b="0" sz="800">
                  <a:solidFill>
                    <a:srgbClr val="38BDF8"/>
                  </a:solidFill>
                  <a:latin typeface="Fira Code"/>
                  <a:ea typeface="Fira Code"/>
                  <a:cs typeface="Fira Code"/>
                  <a:sym typeface="Fira Code"/>
                </a:endParaRPr>
              </a:p>
              <a:p>
                <a:pPr indent="0" lvl="0" marL="0" rtl="0" algn="l">
                  <a:spcBef>
                    <a:spcPts val="225"/>
                  </a:spcBef>
                  <a:spcAft>
                    <a:spcPts val="0"/>
                  </a:spcAft>
                  <a:buNone/>
                </a:pPr>
                <a:r>
                  <a:rPr b="0" lang="en-GB" sz="800">
                    <a:solidFill>
                      <a:srgbClr val="F59E0B"/>
                    </a:solidFill>
                    <a:latin typeface="Fira Code"/>
                    <a:ea typeface="Fira Code"/>
                    <a:cs typeface="Fira Code"/>
                    <a:sym typeface="Fira Code"/>
                  </a:rPr>
                  <a:t>role:</a:t>
                </a:r>
                <a:r>
                  <a:rPr b="0" lang="en-GB" sz="800">
                    <a:solidFill>
                      <a:srgbClr val="38BDF8"/>
                    </a:solidFill>
                    <a:latin typeface="Fira Code"/>
                    <a:ea typeface="Fira Code"/>
                    <a:cs typeface="Fira Code"/>
                    <a:sym typeface="Fira Code"/>
                  </a:rPr>
                  <a:t> { enum: [</a:t>
                </a:r>
                <a:r>
                  <a:rPr b="0" lang="en-GB" sz="800">
                    <a:solidFill>
                      <a:srgbClr val="10B981"/>
                    </a:solidFill>
                    <a:latin typeface="Fira Code"/>
                    <a:ea typeface="Fira Code"/>
                    <a:cs typeface="Fira Code"/>
                    <a:sym typeface="Fira Code"/>
                  </a:rPr>
                  <a:t>'customer'</a:t>
                </a:r>
                <a:r>
                  <a:rPr b="0" lang="en-GB" sz="800">
                    <a:solidFill>
                      <a:srgbClr val="38BDF8"/>
                    </a:solidFill>
                    <a:latin typeface="Fira Code"/>
                    <a:ea typeface="Fira Code"/>
                    <a:cs typeface="Fira Code"/>
                    <a:sym typeface="Fira Code"/>
                  </a:rPr>
                  <a:t>, ...]},</a:t>
                </a:r>
                <a:endParaRPr b="0" sz="800">
                  <a:solidFill>
                    <a:srgbClr val="38BDF8"/>
                  </a:solidFill>
                  <a:latin typeface="Fira Code"/>
                  <a:ea typeface="Fira Code"/>
                  <a:cs typeface="Fira Code"/>
                  <a:sym typeface="Fira Code"/>
                </a:endParaRPr>
              </a:p>
              <a:p>
                <a:pPr indent="0" lvl="0" marL="0" rtl="0" algn="l">
                  <a:spcBef>
                    <a:spcPts val="225"/>
                  </a:spcBef>
                  <a:spcAft>
                    <a:spcPts val="0"/>
                  </a:spcAft>
                  <a:buNone/>
                </a:pPr>
                <a:r>
                  <a:rPr b="0" lang="en-GB" sz="800">
                    <a:solidFill>
                      <a:srgbClr val="F59E0B"/>
                    </a:solidFill>
                    <a:latin typeface="Fira Code"/>
                    <a:ea typeface="Fira Code"/>
                    <a:cs typeface="Fira Code"/>
                    <a:sym typeface="Fira Code"/>
                  </a:rPr>
                  <a:t>isActive:</a:t>
                </a:r>
                <a:r>
                  <a:rPr b="0" lang="en-GB" sz="800">
                    <a:solidFill>
                      <a:srgbClr val="38BDF8"/>
                    </a:solidFill>
                    <a:latin typeface="Fira Code"/>
                    <a:ea typeface="Fira Code"/>
                    <a:cs typeface="Fira Code"/>
                    <a:sym typeface="Fira Code"/>
                  </a:rPr>
                  <a:t> { type: Boolean }</a:t>
                </a:r>
                <a:endParaRPr b="0" sz="800">
                  <a:solidFill>
                    <a:srgbClr val="38BDF8"/>
                  </a:solidFill>
                  <a:latin typeface="Fira Code"/>
                  <a:ea typeface="Fira Code"/>
                  <a:cs typeface="Fira Code"/>
                  <a:sym typeface="Fira Code"/>
                </a:endParaRPr>
              </a:p>
            </p:txBody>
          </p:sp>
        </p:grpSp>
      </p:grpSp>
      <p:grpSp>
        <p:nvGrpSpPr>
          <p:cNvPr id="198" name="Google Shape;198;p17"/>
          <p:cNvGrpSpPr/>
          <p:nvPr/>
        </p:nvGrpSpPr>
        <p:grpSpPr>
          <a:xfrm>
            <a:off x="3286125" y="1390650"/>
            <a:ext cx="2571900" cy="3238500"/>
            <a:chOff x="0" y="0"/>
            <a:chExt cx="2571900" cy="3238500"/>
          </a:xfrm>
        </p:grpSpPr>
        <p:sp>
          <p:nvSpPr>
            <p:cNvPr id="199" name="Google Shape;199;p17"/>
            <p:cNvSpPr/>
            <p:nvPr/>
          </p:nvSpPr>
          <p:spPr>
            <a:xfrm>
              <a:off x="0" y="0"/>
              <a:ext cx="2571900" cy="3238500"/>
            </a:xfrm>
            <a:prstGeom prst="roundRect">
              <a:avLst>
                <a:gd fmla="val 2962" name="adj"/>
              </a:avLst>
            </a:prstGeom>
            <a:solidFill>
              <a:srgbClr val="1E293B"/>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0" name="Google Shape;200;p17"/>
            <p:cNvSpPr/>
            <p:nvPr/>
          </p:nvSpPr>
          <p:spPr>
            <a:xfrm>
              <a:off x="0" y="0"/>
              <a:ext cx="2571900" cy="38100"/>
            </a:xfrm>
            <a:prstGeom prst="roundRect">
              <a:avLst>
                <a:gd fmla="val 50000" name="adj"/>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201" name="Google Shape;201;p17"/>
            <p:cNvGrpSpPr/>
            <p:nvPr/>
          </p:nvGrpSpPr>
          <p:grpSpPr>
            <a:xfrm>
              <a:off x="152400" y="152400"/>
              <a:ext cx="1314600" cy="190500"/>
              <a:chOff x="0" y="0"/>
              <a:chExt cx="1314600" cy="190500"/>
            </a:xfrm>
          </p:grpSpPr>
          <p:sp>
            <p:nvSpPr>
              <p:cNvPr id="202" name="Google Shape;202;p17"/>
              <p:cNvSpPr/>
              <p:nvPr/>
            </p:nvSpPr>
            <p:spPr>
              <a:xfrm>
                <a:off x="0" y="0"/>
                <a:ext cx="1314600" cy="190500"/>
              </a:xfrm>
              <a:prstGeom prst="roundRect">
                <a:avLst>
                  <a:gd fmla="val 50000" name="adj"/>
                </a:avLst>
              </a:prstGeom>
              <a:solidFill>
                <a:srgbClr val="172554"/>
              </a:solidFill>
              <a:ln cap="flat" cmpd="sng" w="9525">
                <a:solidFill>
                  <a:srgbClr val="F59E0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3" name="Google Shape;203;p17"/>
              <p:cNvSpPr txBox="1"/>
              <p:nvPr/>
            </p:nvSpPr>
            <p:spPr>
              <a:xfrm>
                <a:off x="0" y="19050"/>
                <a:ext cx="1314600" cy="152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750">
                    <a:solidFill>
                      <a:srgbClr val="F59E0B"/>
                    </a:solidFill>
                    <a:latin typeface="Inter"/>
                    <a:ea typeface="Inter"/>
                    <a:cs typeface="Inter"/>
                    <a:sym typeface="Inter"/>
                  </a:rPr>
                  <a:t>FIELD WORKERS &amp; GEO</a:t>
                </a:r>
                <a:endParaRPr b="1" sz="750">
                  <a:solidFill>
                    <a:srgbClr val="F59E0B"/>
                  </a:solidFill>
                  <a:latin typeface="Inter"/>
                  <a:ea typeface="Inter"/>
                  <a:cs typeface="Inter"/>
                  <a:sym typeface="Inter"/>
                </a:endParaRPr>
              </a:p>
            </p:txBody>
          </p:sp>
        </p:grpSp>
        <p:sp>
          <p:nvSpPr>
            <p:cNvPr id="204" name="Google Shape;204;p17"/>
            <p:cNvSpPr txBox="1"/>
            <p:nvPr/>
          </p:nvSpPr>
          <p:spPr>
            <a:xfrm>
              <a:off x="152400" y="400050"/>
              <a:ext cx="2267100" cy="157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1500">
                  <a:solidFill>
                    <a:srgbClr val="F8FAFC"/>
                  </a:solidFill>
                  <a:latin typeface="Outfit SemiBold"/>
                  <a:ea typeface="Outfit SemiBold"/>
                  <a:cs typeface="Outfit SemiBold"/>
                  <a:sym typeface="Outfit SemiBold"/>
                </a:rPr>
                <a:t>TechnicianProfile</a:t>
              </a:r>
              <a:endParaRPr b="0" sz="1500">
                <a:solidFill>
                  <a:srgbClr val="F8FAFC"/>
                </a:solidFill>
                <a:latin typeface="Outfit SemiBold"/>
                <a:ea typeface="Outfit SemiBold"/>
                <a:cs typeface="Outfit SemiBold"/>
                <a:sym typeface="Outfit SemiBold"/>
              </a:endParaRPr>
            </a:p>
            <a:p>
              <a:pPr indent="0" lvl="0" marL="0" rtl="0" algn="l">
                <a:spcBef>
                  <a:spcPts val="600"/>
                </a:spcBef>
                <a:spcAft>
                  <a:spcPts val="0"/>
                </a:spcAft>
                <a:buNone/>
              </a:pPr>
              <a:r>
                <a:rPr b="0" lang="en-GB" sz="950">
                  <a:solidFill>
                    <a:srgbClr val="F8FAFC"/>
                  </a:solidFill>
                  <a:latin typeface="Inter SemiBold"/>
                  <a:ea typeface="Inter SemiBold"/>
                  <a:cs typeface="Inter SemiBold"/>
                  <a:sym typeface="Inter SemiBold"/>
                </a:rPr>
                <a:t>Link:</a:t>
              </a:r>
              <a:r>
                <a:rPr b="0" lang="en-GB" sz="950">
                  <a:solidFill>
                    <a:srgbClr val="94A3B8"/>
                  </a:solidFill>
                  <a:latin typeface="Inter"/>
                  <a:ea typeface="Inter"/>
                  <a:cs typeface="Inter"/>
                  <a:sym typeface="Inter"/>
                </a:rPr>
                <a:t> References base </a:t>
              </a:r>
              <a:r>
                <a:rPr b="0" lang="en-GB" sz="950">
                  <a:solidFill>
                    <a:srgbClr val="38BDF8"/>
                  </a:solidFill>
                  <a:latin typeface="Inter"/>
                  <a:ea typeface="Inter"/>
                  <a:cs typeface="Inter"/>
                  <a:sym typeface="Inter"/>
                </a:rPr>
                <a:t>User</a:t>
              </a:r>
              <a:r>
                <a:rPr b="0" lang="en-GB" sz="950">
                  <a:solidFill>
                    <a:srgbClr val="94A3B8"/>
                  </a:solidFill>
                  <a:latin typeface="Inter"/>
                  <a:ea typeface="Inter"/>
                  <a:cs typeface="Inter"/>
                  <a:sym typeface="Inter"/>
                </a:rPr>
                <a:t> via </a:t>
              </a:r>
              <a:r>
                <a:rPr b="0" lang="en-GB" sz="950">
                  <a:solidFill>
                    <a:srgbClr val="F59E0B"/>
                  </a:solidFill>
                  <a:latin typeface="Inter"/>
                  <a:ea typeface="Inter"/>
                  <a:cs typeface="Inter"/>
                  <a:sym typeface="Inter"/>
                </a:rPr>
                <a:t>userId</a:t>
              </a:r>
              <a:r>
                <a:rPr b="0" lang="en-GB" sz="950">
                  <a:solidFill>
                    <a:srgbClr val="94A3B8"/>
                  </a:solidFill>
                  <a:latin typeface="Inter"/>
                  <a:ea typeface="Inter"/>
                  <a:cs typeface="Inter"/>
                  <a:sym typeface="Inter"/>
                </a:rPr>
                <a:t>.</a:t>
              </a:r>
              <a:endParaRPr b="0" sz="950">
                <a:solidFill>
                  <a:srgbClr val="94A3B8"/>
                </a:solidFill>
                <a:latin typeface="Inter"/>
                <a:ea typeface="Inter"/>
                <a:cs typeface="Inter"/>
                <a:sym typeface="Inter"/>
              </a:endParaRPr>
            </a:p>
            <a:p>
              <a:pPr indent="0" lvl="0" marL="0" rtl="0" algn="l">
                <a:spcBef>
                  <a:spcPts val="450"/>
                </a:spcBef>
                <a:spcAft>
                  <a:spcPts val="0"/>
                </a:spcAft>
                <a:buNone/>
              </a:pPr>
              <a:r>
                <a:rPr b="0" lang="en-GB" sz="950">
                  <a:solidFill>
                    <a:srgbClr val="F8FAFC"/>
                  </a:solidFill>
                  <a:latin typeface="Inter SemiBold"/>
                  <a:ea typeface="Inter SemiBold"/>
                  <a:cs typeface="Inter SemiBold"/>
                  <a:sym typeface="Inter SemiBold"/>
                </a:rPr>
                <a:t>Details:</a:t>
              </a:r>
              <a:r>
                <a:rPr b="0" lang="en-GB" sz="950">
                  <a:solidFill>
                    <a:srgbClr val="94A3B8"/>
                  </a:solidFill>
                  <a:latin typeface="Inter"/>
                  <a:ea typeface="Inter"/>
                  <a:cs typeface="Inter"/>
                  <a:sym typeface="Inter"/>
                </a:rPr>
                <a:t> Skills array, service areas, </a:t>
              </a:r>
              <a:r>
                <a:rPr b="0" lang="en-GB" sz="950">
                  <a:solidFill>
                    <a:srgbClr val="F59E0B"/>
                  </a:solidFill>
                  <a:latin typeface="Inter"/>
                  <a:ea typeface="Inter"/>
                  <a:cs typeface="Inter"/>
                  <a:sym typeface="Inter"/>
                </a:rPr>
                <a:t>isAvailable</a:t>
              </a:r>
              <a:r>
                <a:rPr b="0" lang="en-GB" sz="950">
                  <a:solidFill>
                    <a:srgbClr val="94A3B8"/>
                  </a:solidFill>
                  <a:latin typeface="Inter"/>
                  <a:ea typeface="Inter"/>
                  <a:cs typeface="Inter"/>
                  <a:sym typeface="Inter"/>
                </a:rPr>
                <a:t> toggle, and aggregate rating.</a:t>
              </a:r>
              <a:endParaRPr b="0" sz="950">
                <a:solidFill>
                  <a:srgbClr val="94A3B8"/>
                </a:solidFill>
                <a:latin typeface="Inter"/>
                <a:ea typeface="Inter"/>
                <a:cs typeface="Inter"/>
                <a:sym typeface="Inter"/>
              </a:endParaRPr>
            </a:p>
            <a:p>
              <a:pPr indent="0" lvl="0" marL="0" rtl="0" algn="l">
                <a:spcBef>
                  <a:spcPts val="450"/>
                </a:spcBef>
                <a:spcAft>
                  <a:spcPts val="0"/>
                </a:spcAft>
                <a:buNone/>
              </a:pPr>
              <a:r>
                <a:rPr b="0" lang="en-GB" sz="950">
                  <a:solidFill>
                    <a:srgbClr val="F8FAFC"/>
                  </a:solidFill>
                  <a:latin typeface="Inter SemiBold"/>
                  <a:ea typeface="Inter SemiBold"/>
                  <a:cs typeface="Inter SemiBold"/>
                  <a:sym typeface="Inter SemiBold"/>
                </a:rPr>
                <a:t>Geospatial:</a:t>
              </a:r>
              <a:r>
                <a:rPr b="0" lang="en-GB" sz="950">
                  <a:solidFill>
                    <a:srgbClr val="94A3B8"/>
                  </a:solidFill>
                  <a:latin typeface="Inter"/>
                  <a:ea typeface="Inter"/>
                  <a:cs typeface="Inter"/>
                  <a:sym typeface="Inter"/>
                </a:rPr>
                <a:t> GeoJSON Point requiring strict coordinate order </a:t>
              </a:r>
              <a:r>
                <a:rPr b="0" lang="en-GB" sz="950">
                  <a:solidFill>
                    <a:srgbClr val="F59E0B"/>
                  </a:solidFill>
                  <a:latin typeface="Inter"/>
                  <a:ea typeface="Inter"/>
                  <a:cs typeface="Inter"/>
                  <a:sym typeface="Inter"/>
                </a:rPr>
                <a:t>[lng, lat]</a:t>
              </a:r>
              <a:r>
                <a:rPr b="0" lang="en-GB" sz="950">
                  <a:solidFill>
                    <a:srgbClr val="94A3B8"/>
                  </a:solidFill>
                  <a:latin typeface="Inter"/>
                  <a:ea typeface="Inter"/>
                  <a:cs typeface="Inter"/>
                  <a:sym typeface="Inter"/>
                </a:rPr>
                <a:t>.</a:t>
              </a:r>
              <a:endParaRPr b="0" sz="950">
                <a:solidFill>
                  <a:srgbClr val="94A3B8"/>
                </a:solidFill>
                <a:latin typeface="Inter"/>
                <a:ea typeface="Inter"/>
                <a:cs typeface="Inter"/>
                <a:sym typeface="Inter"/>
              </a:endParaRPr>
            </a:p>
          </p:txBody>
        </p:sp>
        <p:grpSp>
          <p:nvGrpSpPr>
            <p:cNvPr id="205" name="Google Shape;205;p17"/>
            <p:cNvGrpSpPr/>
            <p:nvPr/>
          </p:nvGrpSpPr>
          <p:grpSpPr>
            <a:xfrm>
              <a:off x="133350" y="2019300"/>
              <a:ext cx="2305200" cy="1086000"/>
              <a:chOff x="0" y="0"/>
              <a:chExt cx="2305200" cy="1086000"/>
            </a:xfrm>
          </p:grpSpPr>
          <p:sp>
            <p:nvSpPr>
              <p:cNvPr id="206" name="Google Shape;206;p17"/>
              <p:cNvSpPr/>
              <p:nvPr/>
            </p:nvSpPr>
            <p:spPr>
              <a:xfrm>
                <a:off x="0" y="0"/>
                <a:ext cx="2305200" cy="1086000"/>
              </a:xfrm>
              <a:prstGeom prst="roundRect">
                <a:avLst>
                  <a:gd fmla="val 5263" name="adj"/>
                </a:avLst>
              </a:prstGeom>
              <a:solidFill>
                <a:srgbClr val="0B1325"/>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7" name="Google Shape;207;p17"/>
              <p:cNvSpPr/>
              <p:nvPr/>
            </p:nvSpPr>
            <p:spPr>
              <a:xfrm>
                <a:off x="0" y="0"/>
                <a:ext cx="2305200" cy="190500"/>
              </a:xfrm>
              <a:prstGeom prst="roundRect">
                <a:avLst>
                  <a:gd fmla="val 30000" name="adj"/>
                </a:avLst>
              </a:prstGeom>
              <a:solidFill>
                <a:srgbClr val="17255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8" name="Google Shape;208;p17"/>
              <p:cNvSpPr/>
              <p:nvPr/>
            </p:nvSpPr>
            <p:spPr>
              <a:xfrm>
                <a:off x="85725" y="66675"/>
                <a:ext cx="57300" cy="57300"/>
              </a:xfrm>
              <a:prstGeom prst="ellipse">
                <a:avLst/>
              </a:prstGeom>
              <a:solidFill>
                <a:srgbClr val="EF44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9" name="Google Shape;209;p17"/>
              <p:cNvSpPr/>
              <p:nvPr/>
            </p:nvSpPr>
            <p:spPr>
              <a:xfrm>
                <a:off x="180975" y="66675"/>
                <a:ext cx="57300" cy="57300"/>
              </a:xfrm>
              <a:prstGeom prst="ellipse">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0" name="Google Shape;210;p17"/>
              <p:cNvSpPr/>
              <p:nvPr/>
            </p:nvSpPr>
            <p:spPr>
              <a:xfrm>
                <a:off x="276225" y="66675"/>
                <a:ext cx="57300" cy="57300"/>
              </a:xfrm>
              <a:prstGeom prst="ellipse">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1" name="Google Shape;211;p17"/>
              <p:cNvSpPr txBox="1"/>
              <p:nvPr/>
            </p:nvSpPr>
            <p:spPr>
              <a:xfrm>
                <a:off x="428625" y="19050"/>
                <a:ext cx="1714500" cy="152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750">
                    <a:solidFill>
                      <a:srgbClr val="94A3B8"/>
                    </a:solidFill>
                    <a:latin typeface="Fira Code"/>
                    <a:ea typeface="Fira Code"/>
                    <a:cs typeface="Fira Code"/>
                    <a:sym typeface="Fira Code"/>
                  </a:rPr>
                  <a:t>GeoJSON Point Syntax</a:t>
                </a:r>
                <a:endParaRPr sz="750">
                  <a:solidFill>
                    <a:srgbClr val="94A3B8"/>
                  </a:solidFill>
                  <a:latin typeface="Fira Code"/>
                  <a:ea typeface="Fira Code"/>
                  <a:cs typeface="Fira Code"/>
                  <a:sym typeface="Fira Code"/>
                </a:endParaRPr>
              </a:p>
            </p:txBody>
          </p:sp>
          <p:sp>
            <p:nvSpPr>
              <p:cNvPr id="212" name="Google Shape;212;p17"/>
              <p:cNvSpPr txBox="1"/>
              <p:nvPr/>
            </p:nvSpPr>
            <p:spPr>
              <a:xfrm>
                <a:off x="95250" y="228600"/>
                <a:ext cx="2114700" cy="781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750">
                    <a:solidFill>
                      <a:srgbClr val="F59E0B"/>
                    </a:solidFill>
                    <a:latin typeface="Fira Code"/>
                    <a:ea typeface="Fira Code"/>
                    <a:cs typeface="Fira Code"/>
                    <a:sym typeface="Fira Code"/>
                  </a:rPr>
                  <a:t>location:</a:t>
                </a:r>
                <a:r>
                  <a:rPr b="0" lang="en-GB" sz="750">
                    <a:solidFill>
                      <a:srgbClr val="38BDF8"/>
                    </a:solidFill>
                    <a:latin typeface="Fira Code"/>
                    <a:ea typeface="Fira Code"/>
                    <a:cs typeface="Fira Code"/>
                    <a:sym typeface="Fira Code"/>
                  </a:rPr>
                  <a:t> {</a:t>
                </a:r>
                <a:endParaRPr b="0" sz="750">
                  <a:solidFill>
                    <a:srgbClr val="38BDF8"/>
                  </a:solidFill>
                  <a:latin typeface="Fira Code"/>
                  <a:ea typeface="Fira Code"/>
                  <a:cs typeface="Fira Code"/>
                  <a:sym typeface="Fira Code"/>
                </a:endParaRPr>
              </a:p>
              <a:p>
                <a:pPr indent="0" lvl="0" marL="0" rtl="0" algn="l">
                  <a:spcBef>
                    <a:spcPts val="150"/>
                  </a:spcBef>
                  <a:spcAft>
                    <a:spcPts val="0"/>
                  </a:spcAft>
                  <a:buNone/>
                </a:pPr>
                <a:r>
                  <a:rPr b="0" lang="en-GB" sz="750">
                    <a:solidFill>
                      <a:srgbClr val="38BDF8"/>
                    </a:solidFill>
                    <a:latin typeface="Fira Code"/>
                    <a:ea typeface="Fira Code"/>
                    <a:cs typeface="Fira Code"/>
                    <a:sym typeface="Fira Code"/>
                  </a:rPr>
                  <a:t>type: { type: String, default: </a:t>
                </a:r>
                <a:r>
                  <a:rPr b="0" lang="en-GB" sz="750">
                    <a:solidFill>
                      <a:srgbClr val="10B981"/>
                    </a:solidFill>
                    <a:latin typeface="Fira Code"/>
                    <a:ea typeface="Fira Code"/>
                    <a:cs typeface="Fira Code"/>
                    <a:sym typeface="Fira Code"/>
                  </a:rPr>
                  <a:t>'Point'</a:t>
                </a:r>
                <a:r>
                  <a:rPr b="0" lang="en-GB" sz="750">
                    <a:solidFill>
                      <a:srgbClr val="38BDF8"/>
                    </a:solidFill>
                    <a:latin typeface="Fira Code"/>
                    <a:ea typeface="Fira Code"/>
                    <a:cs typeface="Fira Code"/>
                    <a:sym typeface="Fira Code"/>
                  </a:rPr>
                  <a:t> },</a:t>
                </a:r>
                <a:endParaRPr b="0" sz="750">
                  <a:solidFill>
                    <a:srgbClr val="38BDF8"/>
                  </a:solidFill>
                  <a:latin typeface="Fira Code"/>
                  <a:ea typeface="Fira Code"/>
                  <a:cs typeface="Fira Code"/>
                  <a:sym typeface="Fira Code"/>
                </a:endParaRPr>
              </a:p>
              <a:p>
                <a:pPr indent="0" lvl="0" marL="0" rtl="0" algn="l">
                  <a:spcBef>
                    <a:spcPts val="150"/>
                  </a:spcBef>
                  <a:spcAft>
                    <a:spcPts val="0"/>
                  </a:spcAft>
                  <a:buNone/>
                </a:pPr>
                <a:r>
                  <a:rPr b="0" lang="en-GB" sz="750">
                    <a:solidFill>
                      <a:srgbClr val="38BDF8"/>
                    </a:solidFill>
                    <a:latin typeface="Fira Code"/>
                    <a:ea typeface="Fira Code"/>
                    <a:cs typeface="Fira Code"/>
                    <a:sym typeface="Fira Code"/>
                  </a:rPr>
                  <a:t>coordinates: [</a:t>
                </a:r>
                <a:r>
                  <a:rPr b="0" lang="en-GB" sz="750">
                    <a:solidFill>
                      <a:srgbClr val="EF4444"/>
                    </a:solidFill>
                    <a:latin typeface="Fira Code"/>
                    <a:ea typeface="Fira Code"/>
                    <a:cs typeface="Fira Code"/>
                    <a:sym typeface="Fira Code"/>
                  </a:rPr>
                  <a:t>longitude</a:t>
                </a:r>
                <a:r>
                  <a:rPr b="0" lang="en-GB" sz="750">
                    <a:solidFill>
                      <a:srgbClr val="38BDF8"/>
                    </a:solidFill>
                    <a:latin typeface="Fira Code"/>
                    <a:ea typeface="Fira Code"/>
                    <a:cs typeface="Fira Code"/>
                    <a:sym typeface="Fira Code"/>
                  </a:rPr>
                  <a:t>, </a:t>
                </a:r>
                <a:r>
                  <a:rPr b="0" lang="en-GB" sz="750">
                    <a:solidFill>
                      <a:srgbClr val="EF4444"/>
                    </a:solidFill>
                    <a:latin typeface="Fira Code"/>
                    <a:ea typeface="Fira Code"/>
                    <a:cs typeface="Fira Code"/>
                    <a:sym typeface="Fira Code"/>
                  </a:rPr>
                  <a:t>latitude</a:t>
                </a:r>
                <a:r>
                  <a:rPr b="0" lang="en-GB" sz="750">
                    <a:solidFill>
                      <a:srgbClr val="38BDF8"/>
                    </a:solidFill>
                    <a:latin typeface="Fira Code"/>
                    <a:ea typeface="Fira Code"/>
                    <a:cs typeface="Fira Code"/>
                    <a:sym typeface="Fira Code"/>
                  </a:rPr>
                  <a:t>]</a:t>
                </a:r>
                <a:endParaRPr b="0" sz="750">
                  <a:solidFill>
                    <a:srgbClr val="38BDF8"/>
                  </a:solidFill>
                  <a:latin typeface="Fira Code"/>
                  <a:ea typeface="Fira Code"/>
                  <a:cs typeface="Fira Code"/>
                  <a:sym typeface="Fira Code"/>
                </a:endParaRPr>
              </a:p>
              <a:p>
                <a:pPr indent="0" lvl="0" marL="0" rtl="0" algn="l">
                  <a:spcBef>
                    <a:spcPts val="150"/>
                  </a:spcBef>
                  <a:spcAft>
                    <a:spcPts val="0"/>
                  </a:spcAft>
                  <a:buNone/>
                </a:pPr>
                <a:r>
                  <a:rPr b="0" lang="en-GB" sz="750">
                    <a:solidFill>
                      <a:srgbClr val="38BDF8"/>
                    </a:solidFill>
                    <a:latin typeface="Fira Code"/>
                    <a:ea typeface="Fira Code"/>
                    <a:cs typeface="Fira Code"/>
                    <a:sym typeface="Fira Code"/>
                  </a:rPr>
                  <a:t>}</a:t>
                </a:r>
                <a:endParaRPr b="0" sz="750">
                  <a:solidFill>
                    <a:srgbClr val="38BDF8"/>
                  </a:solidFill>
                  <a:latin typeface="Fira Code"/>
                  <a:ea typeface="Fira Code"/>
                  <a:cs typeface="Fira Code"/>
                  <a:sym typeface="Fira Code"/>
                </a:endParaRPr>
              </a:p>
            </p:txBody>
          </p:sp>
        </p:grpSp>
      </p:grpSp>
      <p:grpSp>
        <p:nvGrpSpPr>
          <p:cNvPr id="213" name="Google Shape;213;p17"/>
          <p:cNvGrpSpPr/>
          <p:nvPr/>
        </p:nvGrpSpPr>
        <p:grpSpPr>
          <a:xfrm>
            <a:off x="6115050" y="1390650"/>
            <a:ext cx="2571900" cy="3238500"/>
            <a:chOff x="0" y="0"/>
            <a:chExt cx="2571900" cy="3238500"/>
          </a:xfrm>
        </p:grpSpPr>
        <p:sp>
          <p:nvSpPr>
            <p:cNvPr id="214" name="Google Shape;214;p17"/>
            <p:cNvSpPr/>
            <p:nvPr/>
          </p:nvSpPr>
          <p:spPr>
            <a:xfrm>
              <a:off x="0" y="0"/>
              <a:ext cx="2571900" cy="3238500"/>
            </a:xfrm>
            <a:prstGeom prst="roundRect">
              <a:avLst>
                <a:gd fmla="val 2962" name="adj"/>
              </a:avLst>
            </a:prstGeom>
            <a:solidFill>
              <a:srgbClr val="1E293B"/>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5" name="Google Shape;215;p17"/>
            <p:cNvSpPr/>
            <p:nvPr/>
          </p:nvSpPr>
          <p:spPr>
            <a:xfrm>
              <a:off x="0" y="0"/>
              <a:ext cx="2571900" cy="38100"/>
            </a:xfrm>
            <a:prstGeom prst="roundRect">
              <a:avLst>
                <a:gd fmla="val 50000" name="adj"/>
              </a:avLst>
            </a:prstGeom>
            <a:solidFill>
              <a:srgbClr val="EF44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216" name="Google Shape;216;p17"/>
            <p:cNvGrpSpPr/>
            <p:nvPr/>
          </p:nvGrpSpPr>
          <p:grpSpPr>
            <a:xfrm>
              <a:off x="152400" y="152400"/>
              <a:ext cx="1219200" cy="190500"/>
              <a:chOff x="0" y="0"/>
              <a:chExt cx="1219200" cy="190500"/>
            </a:xfrm>
          </p:grpSpPr>
          <p:sp>
            <p:nvSpPr>
              <p:cNvPr id="217" name="Google Shape;217;p17"/>
              <p:cNvSpPr/>
              <p:nvPr/>
            </p:nvSpPr>
            <p:spPr>
              <a:xfrm>
                <a:off x="0" y="0"/>
                <a:ext cx="1219200" cy="190500"/>
              </a:xfrm>
              <a:prstGeom prst="roundRect">
                <a:avLst>
                  <a:gd fmla="val 50000" name="adj"/>
                </a:avLst>
              </a:prstGeom>
              <a:solidFill>
                <a:srgbClr val="172554"/>
              </a:solidFill>
              <a:ln cap="flat" cmpd="sng" w="9525">
                <a:solidFill>
                  <a:srgbClr val="EF444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8" name="Google Shape;218;p17"/>
              <p:cNvSpPr txBox="1"/>
              <p:nvPr/>
            </p:nvSpPr>
            <p:spPr>
              <a:xfrm>
                <a:off x="0" y="19050"/>
                <a:ext cx="1219200" cy="152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750">
                    <a:solidFill>
                      <a:srgbClr val="EF4444"/>
                    </a:solidFill>
                    <a:latin typeface="Inter"/>
                    <a:ea typeface="Inter"/>
                    <a:cs typeface="Inter"/>
                    <a:sym typeface="Inter"/>
                  </a:rPr>
                  <a:t>OPERATIONAL CORE</a:t>
                </a:r>
                <a:endParaRPr b="1" sz="750">
                  <a:solidFill>
                    <a:srgbClr val="EF4444"/>
                  </a:solidFill>
                  <a:latin typeface="Inter"/>
                  <a:ea typeface="Inter"/>
                  <a:cs typeface="Inter"/>
                  <a:sym typeface="Inter"/>
                </a:endParaRPr>
              </a:p>
            </p:txBody>
          </p:sp>
        </p:grpSp>
        <p:sp>
          <p:nvSpPr>
            <p:cNvPr id="219" name="Google Shape;219;p17"/>
            <p:cNvSpPr txBox="1"/>
            <p:nvPr/>
          </p:nvSpPr>
          <p:spPr>
            <a:xfrm>
              <a:off x="152400" y="400050"/>
              <a:ext cx="2267100" cy="157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1500">
                  <a:solidFill>
                    <a:srgbClr val="F8FAFC"/>
                  </a:solidFill>
                  <a:latin typeface="Outfit SemiBold"/>
                  <a:ea typeface="Outfit SemiBold"/>
                  <a:cs typeface="Outfit SemiBold"/>
                  <a:sym typeface="Outfit SemiBold"/>
                </a:rPr>
                <a:t>Complaint Schema</a:t>
              </a:r>
              <a:endParaRPr b="0" sz="1500">
                <a:solidFill>
                  <a:srgbClr val="F8FAFC"/>
                </a:solidFill>
                <a:latin typeface="Outfit SemiBold"/>
                <a:ea typeface="Outfit SemiBold"/>
                <a:cs typeface="Outfit SemiBold"/>
                <a:sym typeface="Outfit SemiBold"/>
              </a:endParaRPr>
            </a:p>
            <a:p>
              <a:pPr indent="0" lvl="0" marL="0" rtl="0" algn="l">
                <a:spcBef>
                  <a:spcPts val="600"/>
                </a:spcBef>
                <a:spcAft>
                  <a:spcPts val="0"/>
                </a:spcAft>
                <a:buNone/>
              </a:pPr>
              <a:r>
                <a:rPr b="0" lang="en-GB" sz="950">
                  <a:solidFill>
                    <a:srgbClr val="F8FAFC"/>
                  </a:solidFill>
                  <a:latin typeface="Inter SemiBold"/>
                  <a:ea typeface="Inter SemiBold"/>
                  <a:cs typeface="Inter SemiBold"/>
                  <a:sym typeface="Inter SemiBold"/>
                </a:rPr>
                <a:t>Links:</a:t>
              </a:r>
              <a:r>
                <a:rPr b="0" lang="en-GB" sz="950">
                  <a:solidFill>
                    <a:srgbClr val="94A3B8"/>
                  </a:solidFill>
                  <a:latin typeface="Inter"/>
                  <a:ea typeface="Inter"/>
                  <a:cs typeface="Inter"/>
                  <a:sym typeface="Inter"/>
                </a:rPr>
                <a:t> Connects </a:t>
              </a:r>
              <a:r>
                <a:rPr b="0" lang="en-GB" sz="950">
                  <a:solidFill>
                    <a:srgbClr val="38BDF8"/>
                  </a:solidFill>
                  <a:latin typeface="Inter"/>
                  <a:ea typeface="Inter"/>
                  <a:cs typeface="Inter"/>
                  <a:sym typeface="Inter"/>
                </a:rPr>
                <a:t>customerId</a:t>
              </a:r>
              <a:r>
                <a:rPr b="0" lang="en-GB" sz="950">
                  <a:solidFill>
                    <a:srgbClr val="94A3B8"/>
                  </a:solidFill>
                  <a:latin typeface="Inter"/>
                  <a:ea typeface="Inter"/>
                  <a:cs typeface="Inter"/>
                  <a:sym typeface="Inter"/>
                </a:rPr>
                <a:t> &amp; assigned </a:t>
              </a:r>
              <a:r>
                <a:rPr b="0" lang="en-GB" sz="950">
                  <a:solidFill>
                    <a:srgbClr val="38BDF8"/>
                  </a:solidFill>
                  <a:latin typeface="Inter"/>
                  <a:ea typeface="Inter"/>
                  <a:cs typeface="Inter"/>
                  <a:sym typeface="Inter"/>
                </a:rPr>
                <a:t>technicianId</a:t>
              </a:r>
              <a:r>
                <a:rPr b="0" lang="en-GB" sz="950">
                  <a:solidFill>
                    <a:srgbClr val="94A3B8"/>
                  </a:solidFill>
                  <a:latin typeface="Inter"/>
                  <a:ea typeface="Inter"/>
                  <a:cs typeface="Inter"/>
                  <a:sym typeface="Inter"/>
                </a:rPr>
                <a:t>.</a:t>
              </a:r>
              <a:endParaRPr b="0" sz="950">
                <a:solidFill>
                  <a:srgbClr val="94A3B8"/>
                </a:solidFill>
                <a:latin typeface="Inter"/>
                <a:ea typeface="Inter"/>
                <a:cs typeface="Inter"/>
                <a:sym typeface="Inter"/>
              </a:endParaRPr>
            </a:p>
            <a:p>
              <a:pPr indent="0" lvl="0" marL="0" rtl="0" algn="l">
                <a:spcBef>
                  <a:spcPts val="450"/>
                </a:spcBef>
                <a:spcAft>
                  <a:spcPts val="0"/>
                </a:spcAft>
                <a:buNone/>
              </a:pPr>
              <a:r>
                <a:rPr b="0" lang="en-GB" sz="950">
                  <a:solidFill>
                    <a:srgbClr val="F8FAFC"/>
                  </a:solidFill>
                  <a:latin typeface="Inter SemiBold"/>
                  <a:ea typeface="Inter SemiBold"/>
                  <a:cs typeface="Inter SemiBold"/>
                  <a:sym typeface="Inter SemiBold"/>
                </a:rPr>
                <a:t>Data:</a:t>
              </a:r>
              <a:r>
                <a:rPr b="0" lang="en-GB" sz="950">
                  <a:solidFill>
                    <a:srgbClr val="94A3B8"/>
                  </a:solidFill>
                  <a:latin typeface="Inter"/>
                  <a:ea typeface="Inter"/>
                  <a:cs typeface="Inter"/>
                  <a:sym typeface="Inter"/>
                </a:rPr>
                <a:t> problemType, description, address, &amp; fault </a:t>
              </a:r>
              <a:r>
                <a:rPr b="0" lang="en-GB" sz="950">
                  <a:solidFill>
                    <a:srgbClr val="F59E0B"/>
                  </a:solidFill>
                  <a:latin typeface="Inter"/>
                  <a:ea typeface="Inter"/>
                  <a:cs typeface="Inter"/>
                  <a:sym typeface="Inter"/>
                </a:rPr>
                <a:t>location</a:t>
              </a:r>
              <a:r>
                <a:rPr b="0" lang="en-GB" sz="950">
                  <a:solidFill>
                    <a:srgbClr val="94A3B8"/>
                  </a:solidFill>
                  <a:latin typeface="Inter"/>
                  <a:ea typeface="Inter"/>
                  <a:cs typeface="Inter"/>
                  <a:sym typeface="Inter"/>
                </a:rPr>
                <a:t> GeoJSON Point.</a:t>
              </a:r>
              <a:endParaRPr b="0" sz="950">
                <a:solidFill>
                  <a:srgbClr val="94A3B8"/>
                </a:solidFill>
                <a:latin typeface="Inter"/>
                <a:ea typeface="Inter"/>
                <a:cs typeface="Inter"/>
                <a:sym typeface="Inter"/>
              </a:endParaRPr>
            </a:p>
            <a:p>
              <a:pPr indent="0" lvl="0" marL="0" rtl="0" algn="l">
                <a:spcBef>
                  <a:spcPts val="450"/>
                </a:spcBef>
                <a:spcAft>
                  <a:spcPts val="0"/>
                </a:spcAft>
                <a:buNone/>
              </a:pPr>
              <a:r>
                <a:rPr b="0" lang="en-GB" sz="950">
                  <a:solidFill>
                    <a:srgbClr val="F8FAFC"/>
                  </a:solidFill>
                  <a:latin typeface="Inter SemiBold"/>
                  <a:ea typeface="Inter SemiBold"/>
                  <a:cs typeface="Inter SemiBold"/>
                  <a:sym typeface="Inter SemiBold"/>
                </a:rPr>
                <a:t>Audit:</a:t>
              </a:r>
              <a:r>
                <a:rPr b="0" lang="en-GB" sz="950">
                  <a:solidFill>
                    <a:srgbClr val="94A3B8"/>
                  </a:solidFill>
                  <a:latin typeface="Inter"/>
                  <a:ea typeface="Inter"/>
                  <a:cs typeface="Inter"/>
                  <a:sym typeface="Inter"/>
                </a:rPr>
                <a:t> </a:t>
              </a:r>
              <a:r>
                <a:rPr b="0" lang="en-GB" sz="950">
                  <a:solidFill>
                    <a:srgbClr val="EF4444"/>
                  </a:solidFill>
                  <a:latin typeface="Inter"/>
                  <a:ea typeface="Inter"/>
                  <a:cs typeface="Inter"/>
                  <a:sym typeface="Inter"/>
                </a:rPr>
                <a:t>isHazardous</a:t>
              </a:r>
              <a:r>
                <a:rPr b="0" lang="en-GB" sz="950">
                  <a:solidFill>
                    <a:srgbClr val="94A3B8"/>
                  </a:solidFill>
                  <a:latin typeface="Inter"/>
                  <a:ea typeface="Inter"/>
                  <a:cs typeface="Inter"/>
                  <a:sym typeface="Inter"/>
                </a:rPr>
                <a:t> flag, status, &amp; </a:t>
              </a:r>
              <a:r>
                <a:rPr b="0" lang="en-GB" sz="950">
                  <a:solidFill>
                    <a:srgbClr val="38BDF8"/>
                  </a:solidFill>
                  <a:latin typeface="Inter"/>
                  <a:ea typeface="Inter"/>
                  <a:cs typeface="Inter"/>
                  <a:sym typeface="Inter"/>
                </a:rPr>
                <a:t>statusHistory[]</a:t>
              </a:r>
              <a:r>
                <a:rPr b="0" lang="en-GB" sz="950">
                  <a:solidFill>
                    <a:srgbClr val="94A3B8"/>
                  </a:solidFill>
                  <a:latin typeface="Inter"/>
                  <a:ea typeface="Inter"/>
                  <a:cs typeface="Inter"/>
                  <a:sym typeface="Inter"/>
                </a:rPr>
                <a:t>.</a:t>
              </a:r>
              <a:endParaRPr b="0" sz="950">
                <a:solidFill>
                  <a:srgbClr val="94A3B8"/>
                </a:solidFill>
                <a:latin typeface="Inter"/>
                <a:ea typeface="Inter"/>
                <a:cs typeface="Inter"/>
                <a:sym typeface="Inter"/>
              </a:endParaRPr>
            </a:p>
          </p:txBody>
        </p:sp>
        <p:grpSp>
          <p:nvGrpSpPr>
            <p:cNvPr id="220" name="Google Shape;220;p17"/>
            <p:cNvGrpSpPr/>
            <p:nvPr/>
          </p:nvGrpSpPr>
          <p:grpSpPr>
            <a:xfrm>
              <a:off x="133350" y="2019300"/>
              <a:ext cx="2305200" cy="1086000"/>
              <a:chOff x="0" y="0"/>
              <a:chExt cx="2305200" cy="1086000"/>
            </a:xfrm>
          </p:grpSpPr>
          <p:sp>
            <p:nvSpPr>
              <p:cNvPr id="221" name="Google Shape;221;p17"/>
              <p:cNvSpPr/>
              <p:nvPr/>
            </p:nvSpPr>
            <p:spPr>
              <a:xfrm>
                <a:off x="0" y="0"/>
                <a:ext cx="2305200" cy="1086000"/>
              </a:xfrm>
              <a:prstGeom prst="roundRect">
                <a:avLst>
                  <a:gd fmla="val 5263" name="adj"/>
                </a:avLst>
              </a:prstGeom>
              <a:solidFill>
                <a:srgbClr val="0B1325"/>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2" name="Google Shape;222;p17"/>
              <p:cNvSpPr/>
              <p:nvPr/>
            </p:nvSpPr>
            <p:spPr>
              <a:xfrm>
                <a:off x="0" y="0"/>
                <a:ext cx="2305200" cy="190500"/>
              </a:xfrm>
              <a:prstGeom prst="roundRect">
                <a:avLst>
                  <a:gd fmla="val 30000" name="adj"/>
                </a:avLst>
              </a:prstGeom>
              <a:solidFill>
                <a:srgbClr val="17255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3" name="Google Shape;223;p17"/>
              <p:cNvSpPr/>
              <p:nvPr/>
            </p:nvSpPr>
            <p:spPr>
              <a:xfrm>
                <a:off x="85725" y="66675"/>
                <a:ext cx="57300" cy="57300"/>
              </a:xfrm>
              <a:prstGeom prst="ellipse">
                <a:avLst/>
              </a:prstGeom>
              <a:solidFill>
                <a:srgbClr val="EF44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4" name="Google Shape;224;p17"/>
              <p:cNvSpPr/>
              <p:nvPr/>
            </p:nvSpPr>
            <p:spPr>
              <a:xfrm>
                <a:off x="180975" y="66675"/>
                <a:ext cx="57300" cy="57300"/>
              </a:xfrm>
              <a:prstGeom prst="ellipse">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5" name="Google Shape;225;p17"/>
              <p:cNvSpPr/>
              <p:nvPr/>
            </p:nvSpPr>
            <p:spPr>
              <a:xfrm>
                <a:off x="276225" y="66675"/>
                <a:ext cx="57300" cy="57300"/>
              </a:xfrm>
              <a:prstGeom prst="ellipse">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6" name="Google Shape;226;p17"/>
              <p:cNvSpPr txBox="1"/>
              <p:nvPr/>
            </p:nvSpPr>
            <p:spPr>
              <a:xfrm>
                <a:off x="428625" y="19050"/>
                <a:ext cx="1714500" cy="152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750">
                    <a:solidFill>
                      <a:srgbClr val="94A3B8"/>
                    </a:solidFill>
                    <a:latin typeface="Fira Code"/>
                    <a:ea typeface="Fira Code"/>
                    <a:cs typeface="Fira Code"/>
                    <a:sym typeface="Fira Code"/>
                  </a:rPr>
                  <a:t>ComplaintSchema.js</a:t>
                </a:r>
                <a:endParaRPr sz="750">
                  <a:solidFill>
                    <a:srgbClr val="94A3B8"/>
                  </a:solidFill>
                  <a:latin typeface="Fira Code"/>
                  <a:ea typeface="Fira Code"/>
                  <a:cs typeface="Fira Code"/>
                  <a:sym typeface="Fira Code"/>
                </a:endParaRPr>
              </a:p>
            </p:txBody>
          </p:sp>
          <p:sp>
            <p:nvSpPr>
              <p:cNvPr id="227" name="Google Shape;227;p17"/>
              <p:cNvSpPr txBox="1"/>
              <p:nvPr/>
            </p:nvSpPr>
            <p:spPr>
              <a:xfrm>
                <a:off x="95250" y="228600"/>
                <a:ext cx="2114700" cy="781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750">
                    <a:solidFill>
                      <a:srgbClr val="EF4444"/>
                    </a:solidFill>
                    <a:latin typeface="Fira Code"/>
                    <a:ea typeface="Fira Code"/>
                    <a:cs typeface="Fira Code"/>
                    <a:sym typeface="Fira Code"/>
                  </a:rPr>
                  <a:t>isHazardous:</a:t>
                </a:r>
                <a:r>
                  <a:rPr b="0" lang="en-GB" sz="750">
                    <a:solidFill>
                      <a:srgbClr val="38BDF8"/>
                    </a:solidFill>
                    <a:latin typeface="Fira Code"/>
                    <a:ea typeface="Fira Code"/>
                    <a:cs typeface="Fira Code"/>
                    <a:sym typeface="Fira Code"/>
                  </a:rPr>
                  <a:t> { type: Boolean },</a:t>
                </a:r>
                <a:endParaRPr b="0" sz="750">
                  <a:solidFill>
                    <a:srgbClr val="38BDF8"/>
                  </a:solidFill>
                  <a:latin typeface="Fira Code"/>
                  <a:ea typeface="Fira Code"/>
                  <a:cs typeface="Fira Code"/>
                  <a:sym typeface="Fira Code"/>
                </a:endParaRPr>
              </a:p>
              <a:p>
                <a:pPr indent="0" lvl="0" marL="0" rtl="0" algn="l">
                  <a:spcBef>
                    <a:spcPts val="150"/>
                  </a:spcBef>
                  <a:spcAft>
                    <a:spcPts val="0"/>
                  </a:spcAft>
                  <a:buNone/>
                </a:pPr>
                <a:r>
                  <a:rPr b="0" lang="en-GB" sz="750">
                    <a:solidFill>
                      <a:srgbClr val="F59E0B"/>
                    </a:solidFill>
                    <a:latin typeface="Fira Code"/>
                    <a:ea typeface="Fira Code"/>
                    <a:cs typeface="Fira Code"/>
                    <a:sym typeface="Fira Code"/>
                  </a:rPr>
                  <a:t>location:</a:t>
                </a:r>
                <a:r>
                  <a:rPr b="0" lang="en-GB" sz="750">
                    <a:solidFill>
                      <a:srgbClr val="38BDF8"/>
                    </a:solidFill>
                    <a:latin typeface="Fira Code"/>
                    <a:ea typeface="Fira Code"/>
                    <a:cs typeface="Fira Code"/>
                    <a:sym typeface="Fira Code"/>
                  </a:rPr>
                  <a:t> { type: PointSchema },</a:t>
                </a:r>
                <a:endParaRPr b="0" sz="750">
                  <a:solidFill>
                    <a:srgbClr val="38BDF8"/>
                  </a:solidFill>
                  <a:latin typeface="Fira Code"/>
                  <a:ea typeface="Fira Code"/>
                  <a:cs typeface="Fira Code"/>
                  <a:sym typeface="Fira Code"/>
                </a:endParaRPr>
              </a:p>
              <a:p>
                <a:pPr indent="0" lvl="0" marL="0" rtl="0" algn="l">
                  <a:spcBef>
                    <a:spcPts val="150"/>
                  </a:spcBef>
                  <a:spcAft>
                    <a:spcPts val="0"/>
                  </a:spcAft>
                  <a:buNone/>
                </a:pPr>
                <a:r>
                  <a:rPr b="0" lang="en-GB" sz="750">
                    <a:solidFill>
                      <a:srgbClr val="38BDF8"/>
                    </a:solidFill>
                    <a:latin typeface="Fira Code"/>
                    <a:ea typeface="Fira Code"/>
                    <a:cs typeface="Fira Code"/>
                    <a:sym typeface="Fira Code"/>
                  </a:rPr>
                  <a:t>statusHistory: [StatusLogSchema]</a:t>
                </a:r>
                <a:endParaRPr b="0" sz="750">
                  <a:solidFill>
                    <a:srgbClr val="38BDF8"/>
                  </a:solidFill>
                  <a:latin typeface="Fira Code"/>
                  <a:ea typeface="Fira Code"/>
                  <a:cs typeface="Fira Code"/>
                  <a:sym typeface="Fira Code"/>
                </a:endParaRPr>
              </a:p>
            </p:txBody>
          </p:sp>
        </p:grpSp>
      </p:grpSp>
      <p:grpSp>
        <p:nvGrpSpPr>
          <p:cNvPr id="228" name="Google Shape;228;p17"/>
          <p:cNvGrpSpPr/>
          <p:nvPr/>
        </p:nvGrpSpPr>
        <p:grpSpPr>
          <a:xfrm>
            <a:off x="457200" y="4762500"/>
            <a:ext cx="8229600" cy="285750"/>
            <a:chOff x="457200" y="4762500"/>
            <a:chExt cx="8229600" cy="285750"/>
          </a:xfrm>
        </p:grpSpPr>
        <p:sp>
          <p:nvSpPr>
            <p:cNvPr id="229" name="Google Shape;229;p17"/>
            <p:cNvSpPr/>
            <p:nvPr/>
          </p:nvSpPr>
          <p:spPr>
            <a:xfrm>
              <a:off x="457200" y="4762500"/>
              <a:ext cx="8229600" cy="9600"/>
            </a:xfrm>
            <a:prstGeom prst="rect">
              <a:avLst/>
            </a:prstGeom>
            <a:solidFill>
              <a:srgbClr val="F59E0B">
                <a:alpha val="5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0" name="Google Shape;230;p17"/>
            <p:cNvSpPr txBox="1"/>
            <p:nvPr/>
          </p:nvSpPr>
          <p:spPr>
            <a:xfrm>
              <a:off x="457200" y="485775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1100">
                  <a:solidFill>
                    <a:srgbClr val="94A3B8"/>
                  </a:solidFill>
                  <a:latin typeface="Inter SemiBold"/>
                  <a:ea typeface="Inter SemiBold"/>
                  <a:cs typeface="Inter SemiBold"/>
                  <a:sym typeface="Inter SemiBold"/>
                </a:rPr>
                <a:t>Smart EB Connect | FSD Architecture</a:t>
              </a:r>
              <a:endParaRPr b="0" sz="1100">
                <a:solidFill>
                  <a:srgbClr val="94A3B8"/>
                </a:solidFill>
                <a:latin typeface="Inter SemiBold"/>
                <a:ea typeface="Inter SemiBold"/>
                <a:cs typeface="Inter SemiBold"/>
                <a:sym typeface="Inter SemiBold"/>
              </a:endParaRPr>
            </a:p>
          </p:txBody>
        </p:sp>
        <p:sp>
          <p:nvSpPr>
            <p:cNvPr id="231" name="Google Shape;231;p17"/>
            <p:cNvSpPr txBox="1"/>
            <p:nvPr/>
          </p:nvSpPr>
          <p:spPr>
            <a:xfrm>
              <a:off x="4876800" y="485775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GB" sz="1100">
                  <a:solidFill>
                    <a:srgbClr val="94A3B8"/>
                  </a:solidFill>
                  <a:latin typeface="Inter SemiBold"/>
                  <a:ea typeface="Inter SemiBold"/>
                  <a:cs typeface="Inter SemiBold"/>
                  <a:sym typeface="Inter SemiBold"/>
                </a:rPr>
                <a:t>MongoDB + GeoJSON Schema Specification</a:t>
              </a:r>
              <a:endParaRPr b="0" sz="1100">
                <a:solidFill>
                  <a:srgbClr val="94A3B8"/>
                </a:solidFill>
                <a:latin typeface="Inter SemiBold"/>
                <a:ea typeface="Inter SemiBold"/>
                <a:cs typeface="Inter SemiBold"/>
                <a:sym typeface="Inter SemiBold"/>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325"/>
        </a:solidFill>
      </p:bgPr>
    </p:bg>
    <p:spTree>
      <p:nvGrpSpPr>
        <p:cNvPr id="235" name="Shape 235"/>
        <p:cNvGrpSpPr/>
        <p:nvPr/>
      </p:nvGrpSpPr>
      <p:grpSpPr>
        <a:xfrm>
          <a:off x="0" y="0"/>
          <a:ext cx="0" cy="0"/>
          <a:chOff x="0" y="0"/>
          <a:chExt cx="0" cy="0"/>
        </a:xfrm>
      </p:grpSpPr>
      <p:pic>
        <p:nvPicPr>
          <p:cNvPr id="236" name="Google Shape;236;p18"/>
          <p:cNvPicPr preferRelativeResize="0"/>
          <p:nvPr/>
        </p:nvPicPr>
        <p:blipFill rotWithShape="1">
          <a:blip r:embed="rId3">
            <a:alphaModFix/>
          </a:blip>
          <a:srcRect b="0" l="0" r="0" t="0"/>
          <a:stretch/>
        </p:blipFill>
        <p:spPr>
          <a:xfrm>
            <a:off x="0" y="0"/>
            <a:ext cx="9144000" cy="5143500"/>
          </a:xfrm>
          <a:prstGeom prst="rect">
            <a:avLst/>
          </a:prstGeom>
          <a:noFill/>
          <a:ln>
            <a:noFill/>
          </a:ln>
        </p:spPr>
      </p:pic>
      <p:grpSp>
        <p:nvGrpSpPr>
          <p:cNvPr id="237" name="Google Shape;237;p18"/>
          <p:cNvGrpSpPr/>
          <p:nvPr/>
        </p:nvGrpSpPr>
        <p:grpSpPr>
          <a:xfrm>
            <a:off x="457200" y="381000"/>
            <a:ext cx="876300" cy="38100"/>
            <a:chOff x="0" y="0"/>
            <a:chExt cx="876300" cy="38100"/>
          </a:xfrm>
        </p:grpSpPr>
        <p:sp>
          <p:nvSpPr>
            <p:cNvPr id="238" name="Google Shape;238;p18"/>
            <p:cNvSpPr/>
            <p:nvPr/>
          </p:nvSpPr>
          <p:spPr>
            <a:xfrm>
              <a:off x="0" y="0"/>
              <a:ext cx="571500" cy="38100"/>
            </a:xfrm>
            <a:prstGeom prst="roundRect">
              <a:avLst>
                <a:gd fmla="val 50000" name="adj"/>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9" name="Google Shape;239;p18"/>
            <p:cNvSpPr/>
            <p:nvPr/>
          </p:nvSpPr>
          <p:spPr>
            <a:xfrm>
              <a:off x="609600" y="0"/>
              <a:ext cx="152400" cy="38100"/>
            </a:xfrm>
            <a:prstGeom prst="roundRect">
              <a:avLst>
                <a:gd fmla="val 50000" name="adj"/>
              </a:avLst>
            </a:prstGeom>
            <a:solidFill>
              <a:srgbClr val="38BDF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0" name="Google Shape;240;p18"/>
            <p:cNvSpPr/>
            <p:nvPr/>
          </p:nvSpPr>
          <p:spPr>
            <a:xfrm>
              <a:off x="800100" y="0"/>
              <a:ext cx="76200" cy="38100"/>
            </a:xfrm>
            <a:prstGeom prst="roundRect">
              <a:avLst>
                <a:gd fmla="val 50000" name="adj"/>
              </a:avLst>
            </a:prstGeom>
            <a:solidFill>
              <a:srgbClr val="38BDF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241" name="Google Shape;241;p18"/>
          <p:cNvSpPr txBox="1"/>
          <p:nvPr/>
        </p:nvSpPr>
        <p:spPr>
          <a:xfrm>
            <a:off x="457200" y="495300"/>
            <a:ext cx="8229600" cy="714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2040">
                <a:solidFill>
                  <a:srgbClr val="F8FAFC"/>
                </a:solidFill>
                <a:latin typeface="Outfit"/>
                <a:ea typeface="Outfit"/>
                <a:cs typeface="Outfit"/>
                <a:sym typeface="Outfit"/>
              </a:rPr>
              <a:t>Role-Based Access Control (RBAC) &amp; User Experiences</a:t>
            </a:r>
            <a:endParaRPr b="1" sz="2040">
              <a:solidFill>
                <a:srgbClr val="F8FAFC"/>
              </a:solidFill>
              <a:latin typeface="Outfit"/>
              <a:ea typeface="Outfit"/>
              <a:cs typeface="Outfit"/>
              <a:sym typeface="Outfit"/>
            </a:endParaRPr>
          </a:p>
          <a:p>
            <a:pPr indent="0" lvl="0" marL="0" rtl="0" algn="l">
              <a:spcBef>
                <a:spcPts val="300"/>
              </a:spcBef>
              <a:spcAft>
                <a:spcPts val="0"/>
              </a:spcAft>
              <a:buNone/>
            </a:pPr>
            <a:r>
              <a:rPr b="0" lang="en-GB" sz="1063">
                <a:solidFill>
                  <a:srgbClr val="94A3B8"/>
                </a:solidFill>
                <a:latin typeface="Outfit"/>
                <a:ea typeface="Outfit"/>
                <a:cs typeface="Outfit"/>
                <a:sym typeface="Outfit"/>
              </a:rPr>
              <a:t>The platform enforces strict Role-Based Access Control (RBAC) to ensure secure, context-specific user experiences tailored to three distinct user types.</a:t>
            </a:r>
            <a:endParaRPr b="0" sz="1063">
              <a:solidFill>
                <a:srgbClr val="94A3B8"/>
              </a:solidFill>
              <a:latin typeface="Outfit"/>
              <a:ea typeface="Outfit"/>
              <a:cs typeface="Outfit"/>
              <a:sym typeface="Outfit"/>
            </a:endParaRPr>
          </a:p>
        </p:txBody>
      </p:sp>
      <p:grpSp>
        <p:nvGrpSpPr>
          <p:cNvPr id="242" name="Google Shape;242;p18"/>
          <p:cNvGrpSpPr/>
          <p:nvPr/>
        </p:nvGrpSpPr>
        <p:grpSpPr>
          <a:xfrm>
            <a:off x="457200" y="1333500"/>
            <a:ext cx="2571900" cy="3286200"/>
            <a:chOff x="0" y="0"/>
            <a:chExt cx="2571900" cy="3286200"/>
          </a:xfrm>
        </p:grpSpPr>
        <p:sp>
          <p:nvSpPr>
            <p:cNvPr id="243" name="Google Shape;243;p18"/>
            <p:cNvSpPr/>
            <p:nvPr/>
          </p:nvSpPr>
          <p:spPr>
            <a:xfrm>
              <a:off x="0" y="0"/>
              <a:ext cx="2571900" cy="3286200"/>
            </a:xfrm>
            <a:prstGeom prst="roundRect">
              <a:avLst>
                <a:gd fmla="val 2962" name="adj"/>
              </a:avLst>
            </a:prstGeom>
            <a:solidFill>
              <a:srgbClr val="1E293B"/>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4" name="Google Shape;244;p18"/>
            <p:cNvSpPr/>
            <p:nvPr/>
          </p:nvSpPr>
          <p:spPr>
            <a:xfrm>
              <a:off x="0" y="0"/>
              <a:ext cx="2571900" cy="38100"/>
            </a:xfrm>
            <a:prstGeom prst="roundRect">
              <a:avLst>
                <a:gd fmla="val 50000" name="adj"/>
              </a:avLst>
            </a:prstGeom>
            <a:solidFill>
              <a:srgbClr val="38BDF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5" name="Google Shape;245;p18"/>
            <p:cNvSpPr/>
            <p:nvPr/>
          </p:nvSpPr>
          <p:spPr>
            <a:xfrm>
              <a:off x="171450" y="171450"/>
              <a:ext cx="1095300" cy="209700"/>
            </a:xfrm>
            <a:prstGeom prst="roundRect">
              <a:avLst>
                <a:gd fmla="val 50000" name="adj"/>
              </a:avLst>
            </a:prstGeom>
            <a:solidFill>
              <a:srgbClr val="38BDF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6" name="Google Shape;246;p18"/>
            <p:cNvSpPr txBox="1"/>
            <p:nvPr/>
          </p:nvSpPr>
          <p:spPr>
            <a:xfrm>
              <a:off x="171450" y="200025"/>
              <a:ext cx="1095300" cy="171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850">
                  <a:solidFill>
                    <a:srgbClr val="0B1325"/>
                  </a:solidFill>
                  <a:latin typeface="Inter"/>
                  <a:ea typeface="Inter"/>
                  <a:cs typeface="Inter"/>
                  <a:sym typeface="Inter"/>
                </a:rPr>
                <a:t>CUSTOMER ROLE</a:t>
              </a:r>
              <a:endParaRPr b="1" sz="850">
                <a:solidFill>
                  <a:srgbClr val="0B1325"/>
                </a:solidFill>
                <a:latin typeface="Inter"/>
                <a:ea typeface="Inter"/>
                <a:cs typeface="Inter"/>
                <a:sym typeface="Inter"/>
              </a:endParaRPr>
            </a:p>
          </p:txBody>
        </p:sp>
        <p:grpSp>
          <p:nvGrpSpPr>
            <p:cNvPr id="247" name="Google Shape;247;p18"/>
            <p:cNvGrpSpPr/>
            <p:nvPr/>
          </p:nvGrpSpPr>
          <p:grpSpPr>
            <a:xfrm>
              <a:off x="2114550" y="152400"/>
              <a:ext cx="285900" cy="285900"/>
              <a:chOff x="0" y="0"/>
              <a:chExt cx="285900" cy="285900"/>
            </a:xfrm>
          </p:grpSpPr>
          <p:sp>
            <p:nvSpPr>
              <p:cNvPr id="248" name="Google Shape;248;p18"/>
              <p:cNvSpPr/>
              <p:nvPr/>
            </p:nvSpPr>
            <p:spPr>
              <a:xfrm>
                <a:off x="0" y="0"/>
                <a:ext cx="285900" cy="285900"/>
              </a:xfrm>
              <a:prstGeom prst="ellipse">
                <a:avLst/>
              </a:prstGeom>
              <a:solidFill>
                <a:srgbClr val="172554"/>
              </a:solidFill>
              <a:ln cap="flat" cmpd="sng" w="9525">
                <a:solidFill>
                  <a:srgbClr val="38BDF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9" name="Google Shape;249;p18"/>
              <p:cNvSpPr/>
              <p:nvPr/>
            </p:nvSpPr>
            <p:spPr>
              <a:xfrm>
                <a:off x="95250" y="76200"/>
                <a:ext cx="95400" cy="133500"/>
              </a:xfrm>
              <a:custGeom>
                <a:rect b="b" l="l" r="r" t="t"/>
                <a:pathLst>
                  <a:path extrusionOk="0" h="120000" w="120000">
                    <a:moveTo>
                      <a:pt x="60000" y="0"/>
                    </a:moveTo>
                    <a:cubicBezTo>
                      <a:pt x="33490" y="0"/>
                      <a:pt x="12000" y="15350"/>
                      <a:pt x="12000" y="34286"/>
                    </a:cubicBezTo>
                    <a:cubicBezTo>
                      <a:pt x="12000" y="53221"/>
                      <a:pt x="33490" y="68571"/>
                      <a:pt x="60000" y="68571"/>
                    </a:cubicBezTo>
                    <a:cubicBezTo>
                      <a:pt x="77189" y="68614"/>
                      <a:pt x="93098" y="62089"/>
                      <a:pt x="101711" y="51463"/>
                    </a:cubicBezTo>
                    <a:cubicBezTo>
                      <a:pt x="110323" y="40838"/>
                      <a:pt x="110323" y="27733"/>
                      <a:pt x="101711" y="17108"/>
                    </a:cubicBezTo>
                    <a:cubicBezTo>
                      <a:pt x="93098" y="6482"/>
                      <a:pt x="77189" y="-43"/>
                      <a:pt x="60000" y="0"/>
                    </a:cubicBezTo>
                    <a:close/>
                    <a:moveTo>
                      <a:pt x="0" y="120000"/>
                    </a:moveTo>
                    <a:cubicBezTo>
                      <a:pt x="0" y="94286"/>
                      <a:pt x="24000" y="77143"/>
                      <a:pt x="60000" y="77143"/>
                    </a:cubicBezTo>
                    <a:cubicBezTo>
                      <a:pt x="96000" y="77143"/>
                      <a:pt x="120000" y="94286"/>
                      <a:pt x="120000" y="120000"/>
                    </a:cubicBezTo>
                    <a:close/>
                  </a:path>
                </a:pathLst>
              </a:custGeom>
              <a:solidFill>
                <a:srgbClr val="38BDF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250" name="Google Shape;250;p18"/>
            <p:cNvSpPr txBox="1"/>
            <p:nvPr/>
          </p:nvSpPr>
          <p:spPr>
            <a:xfrm>
              <a:off x="171450" y="457200"/>
              <a:ext cx="2229000" cy="2667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1400">
                  <a:solidFill>
                    <a:srgbClr val="38BDF8"/>
                  </a:solidFill>
                  <a:latin typeface="Outfit SemiBold"/>
                  <a:ea typeface="Outfit SemiBold"/>
                  <a:cs typeface="Outfit SemiBold"/>
                  <a:sym typeface="Outfit SemiBold"/>
                </a:rPr>
                <a:t>Customer Workflow</a:t>
              </a:r>
              <a:endParaRPr b="0" sz="1400">
                <a:solidFill>
                  <a:srgbClr val="38BDF8"/>
                </a:solidFill>
                <a:latin typeface="Outfit SemiBold"/>
                <a:ea typeface="Outfit SemiBold"/>
                <a:cs typeface="Outfit SemiBold"/>
                <a:sym typeface="Outfit SemiBold"/>
              </a:endParaRPr>
            </a:p>
            <a:p>
              <a:pPr indent="0" lvl="0" marL="0" rtl="0" algn="l">
                <a:spcBef>
                  <a:spcPts val="900"/>
                </a:spcBef>
                <a:spcAft>
                  <a:spcPts val="0"/>
                </a:spcAft>
                <a:buNone/>
              </a:pPr>
              <a:r>
                <a:rPr b="0" lang="en-GB" sz="1000">
                  <a:solidFill>
                    <a:srgbClr val="F8FAFC"/>
                  </a:solidFill>
                  <a:latin typeface="Inter SemiBold"/>
                  <a:ea typeface="Inter SemiBold"/>
                  <a:cs typeface="Inter SemiBold"/>
                  <a:sym typeface="Inter SemiBold"/>
                </a:rPr>
                <a:t>Dedicated Service Portal</a:t>
              </a:r>
              <a:endParaRPr b="0" sz="1000">
                <a:solidFill>
                  <a:srgbClr val="F8FAFC"/>
                </a:solidFill>
                <a:latin typeface="Inter SemiBold"/>
                <a:ea typeface="Inter SemiBold"/>
                <a:cs typeface="Inter SemiBold"/>
                <a:sym typeface="Inter SemiBold"/>
              </a:endParaRPr>
            </a:p>
            <a:p>
              <a:pPr indent="0" lvl="0" marL="0" rtl="0" algn="l">
                <a:spcBef>
                  <a:spcPts val="150"/>
                </a:spcBef>
                <a:spcAft>
                  <a:spcPts val="0"/>
                </a:spcAft>
                <a:buNone/>
              </a:pPr>
              <a:r>
                <a:rPr b="0" lang="en-GB" sz="950">
                  <a:solidFill>
                    <a:srgbClr val="94A3B8"/>
                  </a:solidFill>
                  <a:latin typeface="Inter"/>
                  <a:ea typeface="Inter"/>
                  <a:cs typeface="Inter"/>
                  <a:sym typeface="Inter"/>
                </a:rPr>
                <a:t>Portal to register, authenticate, and manage service requests.</a:t>
              </a:r>
              <a:endParaRPr b="0" sz="950">
                <a:solidFill>
                  <a:srgbClr val="94A3B8"/>
                </a:solidFill>
                <a:latin typeface="Inter"/>
                <a:ea typeface="Inter"/>
                <a:cs typeface="Inter"/>
                <a:sym typeface="Inter"/>
              </a:endParaRPr>
            </a:p>
            <a:p>
              <a:pPr indent="0" lvl="0" marL="0" rtl="0" algn="l">
                <a:spcBef>
                  <a:spcPts val="750"/>
                </a:spcBef>
                <a:spcAft>
                  <a:spcPts val="0"/>
                </a:spcAft>
                <a:buNone/>
              </a:pPr>
              <a:r>
                <a:rPr b="0" lang="en-GB" sz="1000">
                  <a:solidFill>
                    <a:srgbClr val="F8FAFC"/>
                  </a:solidFill>
                  <a:latin typeface="Inter SemiBold"/>
                  <a:ea typeface="Inter SemiBold"/>
                  <a:cs typeface="Inter SemiBold"/>
                  <a:sym typeface="Inter SemiBold"/>
                </a:rPr>
                <a:t>Geospatial Fault Submission</a:t>
              </a:r>
              <a:endParaRPr b="0" sz="1000">
                <a:solidFill>
                  <a:srgbClr val="F8FAFC"/>
                </a:solidFill>
                <a:latin typeface="Inter SemiBold"/>
                <a:ea typeface="Inter SemiBold"/>
                <a:cs typeface="Inter SemiBold"/>
                <a:sym typeface="Inter SemiBold"/>
              </a:endParaRPr>
            </a:p>
            <a:p>
              <a:pPr indent="0" lvl="0" marL="0" rtl="0" algn="l">
                <a:spcBef>
                  <a:spcPts val="150"/>
                </a:spcBef>
                <a:spcAft>
                  <a:spcPts val="0"/>
                </a:spcAft>
                <a:buNone/>
              </a:pPr>
              <a:r>
                <a:rPr b="0" lang="en-GB" sz="950">
                  <a:solidFill>
                    <a:srgbClr val="94A3B8"/>
                  </a:solidFill>
                  <a:latin typeface="Inter"/>
                  <a:ea typeface="Inter"/>
                  <a:cs typeface="Inter"/>
                  <a:sym typeface="Inter"/>
                </a:rPr>
                <a:t>Utilize device GPS coordinate mapping or manual address input.</a:t>
              </a:r>
              <a:endParaRPr b="0" sz="950">
                <a:solidFill>
                  <a:srgbClr val="94A3B8"/>
                </a:solidFill>
                <a:latin typeface="Inter"/>
                <a:ea typeface="Inter"/>
                <a:cs typeface="Inter"/>
                <a:sym typeface="Inter"/>
              </a:endParaRPr>
            </a:p>
            <a:p>
              <a:pPr indent="0" lvl="0" marL="0" rtl="0" algn="l">
                <a:spcBef>
                  <a:spcPts val="750"/>
                </a:spcBef>
                <a:spcAft>
                  <a:spcPts val="0"/>
                </a:spcAft>
                <a:buNone/>
              </a:pPr>
              <a:r>
                <a:rPr b="0" lang="en-GB" sz="1000">
                  <a:solidFill>
                    <a:srgbClr val="F8FAFC"/>
                  </a:solidFill>
                  <a:latin typeface="Inter SemiBold"/>
                  <a:ea typeface="Inter SemiBold"/>
                  <a:cs typeface="Inter SemiBold"/>
                  <a:sym typeface="Inter SemiBold"/>
                </a:rPr>
                <a:t>Technician Selection</a:t>
              </a:r>
              <a:endParaRPr b="0" sz="1000">
                <a:solidFill>
                  <a:srgbClr val="F8FAFC"/>
                </a:solidFill>
                <a:latin typeface="Inter SemiBold"/>
                <a:ea typeface="Inter SemiBold"/>
                <a:cs typeface="Inter SemiBold"/>
                <a:sym typeface="Inter SemiBold"/>
              </a:endParaRPr>
            </a:p>
            <a:p>
              <a:pPr indent="0" lvl="0" marL="0" rtl="0" algn="l">
                <a:spcBef>
                  <a:spcPts val="150"/>
                </a:spcBef>
                <a:spcAft>
                  <a:spcPts val="0"/>
                </a:spcAft>
                <a:buNone/>
              </a:pPr>
              <a:r>
                <a:rPr b="0" lang="en-GB" sz="950">
                  <a:solidFill>
                    <a:srgbClr val="94A3B8"/>
                  </a:solidFill>
                  <a:latin typeface="Inter"/>
                  <a:ea typeface="Inter"/>
                  <a:cs typeface="Inter"/>
                  <a:sym typeface="Inter"/>
                </a:rPr>
                <a:t>View ranked list of nearby technicians to request specific assignment.</a:t>
              </a:r>
              <a:endParaRPr b="0" sz="950">
                <a:solidFill>
                  <a:srgbClr val="94A3B8"/>
                </a:solidFill>
                <a:latin typeface="Inter"/>
                <a:ea typeface="Inter"/>
                <a:cs typeface="Inter"/>
                <a:sym typeface="Inter"/>
              </a:endParaRPr>
            </a:p>
            <a:p>
              <a:pPr indent="0" lvl="0" marL="0" rtl="0" algn="l">
                <a:spcBef>
                  <a:spcPts val="750"/>
                </a:spcBef>
                <a:spcAft>
                  <a:spcPts val="0"/>
                </a:spcAft>
                <a:buNone/>
              </a:pPr>
              <a:r>
                <a:rPr b="0" lang="en-GB" sz="1000">
                  <a:solidFill>
                    <a:srgbClr val="F8FAFC"/>
                  </a:solidFill>
                  <a:latin typeface="Inter SemiBold"/>
                  <a:ea typeface="Inter SemiBold"/>
                  <a:cs typeface="Inter SemiBold"/>
                  <a:sym typeface="Inter SemiBold"/>
                </a:rPr>
                <a:t>Self-Service Cancellation</a:t>
              </a:r>
              <a:endParaRPr b="0" sz="1000">
                <a:solidFill>
                  <a:srgbClr val="F8FAFC"/>
                </a:solidFill>
                <a:latin typeface="Inter SemiBold"/>
                <a:ea typeface="Inter SemiBold"/>
                <a:cs typeface="Inter SemiBold"/>
                <a:sym typeface="Inter SemiBold"/>
              </a:endParaRPr>
            </a:p>
            <a:p>
              <a:pPr indent="0" lvl="0" marL="0" rtl="0" algn="l">
                <a:spcBef>
                  <a:spcPts val="150"/>
                </a:spcBef>
                <a:spcAft>
                  <a:spcPts val="0"/>
                </a:spcAft>
                <a:buNone/>
              </a:pPr>
              <a:r>
                <a:rPr b="0" lang="en-GB" sz="950">
                  <a:solidFill>
                    <a:srgbClr val="94A3B8"/>
                  </a:solidFill>
                  <a:latin typeface="Inter"/>
                  <a:ea typeface="Inter"/>
                  <a:cs typeface="Inter"/>
                  <a:sym typeface="Inter"/>
                </a:rPr>
                <a:t>Cancel pending complaints if issue resolves independently.</a:t>
              </a:r>
              <a:endParaRPr b="0" sz="950">
                <a:solidFill>
                  <a:srgbClr val="94A3B8"/>
                </a:solidFill>
                <a:latin typeface="Inter"/>
                <a:ea typeface="Inter"/>
                <a:cs typeface="Inter"/>
                <a:sym typeface="Inter"/>
              </a:endParaRPr>
            </a:p>
          </p:txBody>
        </p:sp>
      </p:grpSp>
      <p:grpSp>
        <p:nvGrpSpPr>
          <p:cNvPr id="251" name="Google Shape;251;p18"/>
          <p:cNvGrpSpPr/>
          <p:nvPr/>
        </p:nvGrpSpPr>
        <p:grpSpPr>
          <a:xfrm>
            <a:off x="3286125" y="1333500"/>
            <a:ext cx="2571900" cy="3286200"/>
            <a:chOff x="0" y="0"/>
            <a:chExt cx="2571900" cy="3286200"/>
          </a:xfrm>
        </p:grpSpPr>
        <p:sp>
          <p:nvSpPr>
            <p:cNvPr id="252" name="Google Shape;252;p18"/>
            <p:cNvSpPr/>
            <p:nvPr/>
          </p:nvSpPr>
          <p:spPr>
            <a:xfrm>
              <a:off x="0" y="0"/>
              <a:ext cx="2571900" cy="3286200"/>
            </a:xfrm>
            <a:prstGeom prst="roundRect">
              <a:avLst>
                <a:gd fmla="val 2962" name="adj"/>
              </a:avLst>
            </a:prstGeom>
            <a:solidFill>
              <a:srgbClr val="1E293B"/>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3" name="Google Shape;253;p18"/>
            <p:cNvSpPr/>
            <p:nvPr/>
          </p:nvSpPr>
          <p:spPr>
            <a:xfrm>
              <a:off x="0" y="0"/>
              <a:ext cx="2571900" cy="38100"/>
            </a:xfrm>
            <a:prstGeom prst="roundRect">
              <a:avLst>
                <a:gd fmla="val 50000" name="adj"/>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4" name="Google Shape;254;p18"/>
            <p:cNvSpPr/>
            <p:nvPr/>
          </p:nvSpPr>
          <p:spPr>
            <a:xfrm>
              <a:off x="171450" y="171450"/>
              <a:ext cx="1190700" cy="209700"/>
            </a:xfrm>
            <a:prstGeom prst="roundRect">
              <a:avLst>
                <a:gd fmla="val 50000" name="adj"/>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5" name="Google Shape;255;p18"/>
            <p:cNvSpPr txBox="1"/>
            <p:nvPr/>
          </p:nvSpPr>
          <p:spPr>
            <a:xfrm>
              <a:off x="171450" y="200025"/>
              <a:ext cx="1190700" cy="171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850">
                  <a:solidFill>
                    <a:srgbClr val="0B1325"/>
                  </a:solidFill>
                  <a:latin typeface="Inter"/>
                  <a:ea typeface="Inter"/>
                  <a:cs typeface="Inter"/>
                  <a:sym typeface="Inter"/>
                </a:rPr>
                <a:t>TECHNICIAN ROLE</a:t>
              </a:r>
              <a:endParaRPr b="1" sz="850">
                <a:solidFill>
                  <a:srgbClr val="0B1325"/>
                </a:solidFill>
                <a:latin typeface="Inter"/>
                <a:ea typeface="Inter"/>
                <a:cs typeface="Inter"/>
                <a:sym typeface="Inter"/>
              </a:endParaRPr>
            </a:p>
          </p:txBody>
        </p:sp>
        <p:grpSp>
          <p:nvGrpSpPr>
            <p:cNvPr id="256" name="Google Shape;256;p18"/>
            <p:cNvGrpSpPr/>
            <p:nvPr/>
          </p:nvGrpSpPr>
          <p:grpSpPr>
            <a:xfrm>
              <a:off x="2114550" y="152400"/>
              <a:ext cx="285900" cy="285900"/>
              <a:chOff x="0" y="0"/>
              <a:chExt cx="285900" cy="285900"/>
            </a:xfrm>
          </p:grpSpPr>
          <p:sp>
            <p:nvSpPr>
              <p:cNvPr id="257" name="Google Shape;257;p18"/>
              <p:cNvSpPr/>
              <p:nvPr/>
            </p:nvSpPr>
            <p:spPr>
              <a:xfrm>
                <a:off x="0" y="0"/>
                <a:ext cx="285900" cy="285900"/>
              </a:xfrm>
              <a:prstGeom prst="ellipse">
                <a:avLst/>
              </a:prstGeom>
              <a:solidFill>
                <a:srgbClr val="172554"/>
              </a:solidFill>
              <a:ln cap="flat" cmpd="sng" w="9525">
                <a:solidFill>
                  <a:srgbClr val="F59E0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8" name="Google Shape;258;p18"/>
              <p:cNvSpPr/>
              <p:nvPr/>
            </p:nvSpPr>
            <p:spPr>
              <a:xfrm>
                <a:off x="104775" y="95250"/>
                <a:ext cx="76200" cy="104700"/>
              </a:xfrm>
              <a:custGeom>
                <a:rect b="b" l="l" r="r" t="t"/>
                <a:pathLst>
                  <a:path extrusionOk="0" h="120000" w="120000">
                    <a:moveTo>
                      <a:pt x="0" y="0"/>
                    </a:moveTo>
                    <a:lnTo>
                      <a:pt x="60000" y="43636"/>
                    </a:lnTo>
                    <a:lnTo>
                      <a:pt x="120000" y="0"/>
                    </a:lnTo>
                    <a:moveTo>
                      <a:pt x="60000" y="43636"/>
                    </a:moveTo>
                    <a:lnTo>
                      <a:pt x="60000" y="120000"/>
                    </a:lnTo>
                  </a:path>
                </a:pathLst>
              </a:custGeom>
              <a:solidFill>
                <a:srgbClr val="000000">
                  <a:alpha val="0"/>
                </a:srgbClr>
              </a:solidFill>
              <a:ln cap="rnd" cmpd="sng" w="19050">
                <a:solidFill>
                  <a:srgbClr val="F59E0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259" name="Google Shape;259;p18"/>
            <p:cNvSpPr txBox="1"/>
            <p:nvPr/>
          </p:nvSpPr>
          <p:spPr>
            <a:xfrm>
              <a:off x="171450" y="457200"/>
              <a:ext cx="2229000" cy="2667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1400">
                  <a:solidFill>
                    <a:srgbClr val="F59E0B"/>
                  </a:solidFill>
                  <a:latin typeface="Outfit SemiBold"/>
                  <a:ea typeface="Outfit SemiBold"/>
                  <a:cs typeface="Outfit SemiBold"/>
                  <a:sym typeface="Outfit SemiBold"/>
                </a:rPr>
                <a:t>Technician Workflow</a:t>
              </a:r>
              <a:endParaRPr b="0" sz="1400">
                <a:solidFill>
                  <a:srgbClr val="F59E0B"/>
                </a:solidFill>
                <a:latin typeface="Outfit SemiBold"/>
                <a:ea typeface="Outfit SemiBold"/>
                <a:cs typeface="Outfit SemiBold"/>
                <a:sym typeface="Outfit SemiBold"/>
              </a:endParaRPr>
            </a:p>
            <a:p>
              <a:pPr indent="0" lvl="0" marL="0" rtl="0" algn="l">
                <a:spcBef>
                  <a:spcPts val="900"/>
                </a:spcBef>
                <a:spcAft>
                  <a:spcPts val="0"/>
                </a:spcAft>
                <a:buNone/>
              </a:pPr>
              <a:r>
                <a:rPr b="0" lang="en-GB" sz="1000">
                  <a:solidFill>
                    <a:srgbClr val="F8FAFC"/>
                  </a:solidFill>
                  <a:latin typeface="Inter SemiBold"/>
                  <a:ea typeface="Inter SemiBold"/>
                  <a:cs typeface="Inter SemiBold"/>
                  <a:sym typeface="Inter SemiBold"/>
                </a:rPr>
                <a:t>Mobile-Responsive Dashboard</a:t>
              </a:r>
              <a:endParaRPr b="0" sz="1000">
                <a:solidFill>
                  <a:srgbClr val="F8FAFC"/>
                </a:solidFill>
                <a:latin typeface="Inter SemiBold"/>
                <a:ea typeface="Inter SemiBold"/>
                <a:cs typeface="Inter SemiBold"/>
                <a:sym typeface="Inter SemiBold"/>
              </a:endParaRPr>
            </a:p>
            <a:p>
              <a:pPr indent="0" lvl="0" marL="0" rtl="0" algn="l">
                <a:spcBef>
                  <a:spcPts val="150"/>
                </a:spcBef>
                <a:spcAft>
                  <a:spcPts val="0"/>
                </a:spcAft>
                <a:buNone/>
              </a:pPr>
              <a:r>
                <a:rPr b="0" lang="en-GB" sz="950">
                  <a:solidFill>
                    <a:srgbClr val="94A3B8"/>
                  </a:solidFill>
                  <a:latin typeface="Inter"/>
                  <a:ea typeface="Inter"/>
                  <a:cs typeface="Inter"/>
                  <a:sym typeface="Inter"/>
                </a:rPr>
                <a:t>Specialized dashboard tailored for field technicians.</a:t>
              </a:r>
              <a:endParaRPr b="0" sz="950">
                <a:solidFill>
                  <a:srgbClr val="94A3B8"/>
                </a:solidFill>
                <a:latin typeface="Inter"/>
                <a:ea typeface="Inter"/>
                <a:cs typeface="Inter"/>
                <a:sym typeface="Inter"/>
              </a:endParaRPr>
            </a:p>
            <a:p>
              <a:pPr indent="0" lvl="0" marL="0" rtl="0" algn="l">
                <a:spcBef>
                  <a:spcPts val="750"/>
                </a:spcBef>
                <a:spcAft>
                  <a:spcPts val="0"/>
                </a:spcAft>
                <a:buNone/>
              </a:pPr>
              <a:r>
                <a:rPr b="0" lang="en-GB" sz="1000">
                  <a:solidFill>
                    <a:srgbClr val="F8FAFC"/>
                  </a:solidFill>
                  <a:latin typeface="Inter SemiBold"/>
                  <a:ea typeface="Inter SemiBold"/>
                  <a:cs typeface="Inter SemiBold"/>
                  <a:sym typeface="Inter SemiBold"/>
                </a:rPr>
                <a:t>GPS &amp; Availability Toggle</a:t>
              </a:r>
              <a:endParaRPr b="0" sz="1000">
                <a:solidFill>
                  <a:srgbClr val="F8FAFC"/>
                </a:solidFill>
                <a:latin typeface="Inter SemiBold"/>
                <a:ea typeface="Inter SemiBold"/>
                <a:cs typeface="Inter SemiBold"/>
                <a:sym typeface="Inter SemiBold"/>
              </a:endParaRPr>
            </a:p>
            <a:p>
              <a:pPr indent="0" lvl="0" marL="0" rtl="0" algn="l">
                <a:spcBef>
                  <a:spcPts val="150"/>
                </a:spcBef>
                <a:spcAft>
                  <a:spcPts val="0"/>
                </a:spcAft>
                <a:buNone/>
              </a:pPr>
              <a:r>
                <a:rPr b="0" lang="en-GB" sz="950">
                  <a:solidFill>
                    <a:srgbClr val="94A3B8"/>
                  </a:solidFill>
                  <a:latin typeface="Inter"/>
                  <a:ea typeface="Inter"/>
                  <a:cs typeface="Inter"/>
                  <a:sym typeface="Inter"/>
                </a:rPr>
                <a:t>Toggle active status and update real-time field GPS coordinates.</a:t>
              </a:r>
              <a:endParaRPr b="0" sz="950">
                <a:solidFill>
                  <a:srgbClr val="94A3B8"/>
                </a:solidFill>
                <a:latin typeface="Inter"/>
                <a:ea typeface="Inter"/>
                <a:cs typeface="Inter"/>
                <a:sym typeface="Inter"/>
              </a:endParaRPr>
            </a:p>
            <a:p>
              <a:pPr indent="0" lvl="0" marL="0" rtl="0" algn="l">
                <a:spcBef>
                  <a:spcPts val="750"/>
                </a:spcBef>
                <a:spcAft>
                  <a:spcPts val="0"/>
                </a:spcAft>
                <a:buNone/>
              </a:pPr>
              <a:r>
                <a:rPr b="0" lang="en-GB" sz="1000">
                  <a:solidFill>
                    <a:srgbClr val="F8FAFC"/>
                  </a:solidFill>
                  <a:latin typeface="Inter SemiBold"/>
                  <a:ea typeface="Inter SemiBold"/>
                  <a:cs typeface="Inter SemiBold"/>
                  <a:sym typeface="Inter SemiBold"/>
                </a:rPr>
                <a:t>Workload Autonomy</a:t>
              </a:r>
              <a:endParaRPr b="0" sz="1000">
                <a:solidFill>
                  <a:srgbClr val="F8FAFC"/>
                </a:solidFill>
                <a:latin typeface="Inter SemiBold"/>
                <a:ea typeface="Inter SemiBold"/>
                <a:cs typeface="Inter SemiBold"/>
                <a:sym typeface="Inter SemiBold"/>
              </a:endParaRPr>
            </a:p>
            <a:p>
              <a:pPr indent="0" lvl="0" marL="0" rtl="0" algn="l">
                <a:spcBef>
                  <a:spcPts val="150"/>
                </a:spcBef>
                <a:spcAft>
                  <a:spcPts val="0"/>
                </a:spcAft>
                <a:buNone/>
              </a:pPr>
              <a:r>
                <a:rPr b="0" lang="en-GB" sz="950">
                  <a:solidFill>
                    <a:srgbClr val="94A3B8"/>
                  </a:solidFill>
                  <a:latin typeface="Inter"/>
                  <a:ea typeface="Inter"/>
                  <a:cs typeface="Inter"/>
                  <a:sym typeface="Inter"/>
                </a:rPr>
                <a:t>Accept or reject assigned requests based on current workload.</a:t>
              </a:r>
              <a:endParaRPr b="0" sz="950">
                <a:solidFill>
                  <a:srgbClr val="94A3B8"/>
                </a:solidFill>
                <a:latin typeface="Inter"/>
                <a:ea typeface="Inter"/>
                <a:cs typeface="Inter"/>
                <a:sym typeface="Inter"/>
              </a:endParaRPr>
            </a:p>
            <a:p>
              <a:pPr indent="0" lvl="0" marL="0" rtl="0" algn="l">
                <a:spcBef>
                  <a:spcPts val="750"/>
                </a:spcBef>
                <a:spcAft>
                  <a:spcPts val="0"/>
                </a:spcAft>
                <a:buNone/>
              </a:pPr>
              <a:r>
                <a:rPr b="0" lang="en-GB" sz="1000">
                  <a:solidFill>
                    <a:srgbClr val="F8FAFC"/>
                  </a:solidFill>
                  <a:latin typeface="Inter SemiBold"/>
                  <a:ea typeface="Inter SemiBold"/>
                  <a:cs typeface="Inter SemiBold"/>
                  <a:sym typeface="Inter SemiBold"/>
                </a:rPr>
                <a:t>Resolution Lifecycle</a:t>
              </a:r>
              <a:endParaRPr b="0" sz="1000">
                <a:solidFill>
                  <a:srgbClr val="F8FAFC"/>
                </a:solidFill>
                <a:latin typeface="Inter SemiBold"/>
                <a:ea typeface="Inter SemiBold"/>
                <a:cs typeface="Inter SemiBold"/>
                <a:sym typeface="Inter SemiBold"/>
              </a:endParaRPr>
            </a:p>
            <a:p>
              <a:pPr indent="0" lvl="0" marL="0" rtl="0" algn="l">
                <a:spcBef>
                  <a:spcPts val="150"/>
                </a:spcBef>
                <a:spcAft>
                  <a:spcPts val="0"/>
                </a:spcAft>
                <a:buNone/>
              </a:pPr>
              <a:r>
                <a:rPr b="0" lang="en-GB" sz="950">
                  <a:solidFill>
                    <a:srgbClr val="94A3B8"/>
                  </a:solidFill>
                  <a:latin typeface="Inter"/>
                  <a:ea typeface="Inter"/>
                  <a:cs typeface="Inter"/>
                  <a:sym typeface="Inter"/>
                </a:rPr>
                <a:t>Progress complaints through status transitions until resolution.</a:t>
              </a:r>
              <a:endParaRPr b="0" sz="950">
                <a:solidFill>
                  <a:srgbClr val="94A3B8"/>
                </a:solidFill>
                <a:latin typeface="Inter"/>
                <a:ea typeface="Inter"/>
                <a:cs typeface="Inter"/>
                <a:sym typeface="Inter"/>
              </a:endParaRPr>
            </a:p>
          </p:txBody>
        </p:sp>
      </p:grpSp>
      <p:grpSp>
        <p:nvGrpSpPr>
          <p:cNvPr id="260" name="Google Shape;260;p18"/>
          <p:cNvGrpSpPr/>
          <p:nvPr/>
        </p:nvGrpSpPr>
        <p:grpSpPr>
          <a:xfrm>
            <a:off x="6115050" y="1333500"/>
            <a:ext cx="2571900" cy="3286200"/>
            <a:chOff x="0" y="0"/>
            <a:chExt cx="2571900" cy="3286200"/>
          </a:xfrm>
        </p:grpSpPr>
        <p:sp>
          <p:nvSpPr>
            <p:cNvPr id="261" name="Google Shape;261;p18"/>
            <p:cNvSpPr/>
            <p:nvPr/>
          </p:nvSpPr>
          <p:spPr>
            <a:xfrm>
              <a:off x="0" y="0"/>
              <a:ext cx="2571900" cy="3286200"/>
            </a:xfrm>
            <a:prstGeom prst="roundRect">
              <a:avLst>
                <a:gd fmla="val 2962" name="adj"/>
              </a:avLst>
            </a:prstGeom>
            <a:solidFill>
              <a:srgbClr val="1E293B"/>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2" name="Google Shape;262;p18"/>
            <p:cNvSpPr/>
            <p:nvPr/>
          </p:nvSpPr>
          <p:spPr>
            <a:xfrm>
              <a:off x="0" y="0"/>
              <a:ext cx="2571900" cy="38100"/>
            </a:xfrm>
            <a:prstGeom prst="roundRect">
              <a:avLst>
                <a:gd fmla="val 50000" name="adj"/>
              </a:avLst>
            </a:prstGeom>
            <a:solidFill>
              <a:srgbClr val="EF44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3" name="Google Shape;263;p18"/>
            <p:cNvSpPr/>
            <p:nvPr/>
          </p:nvSpPr>
          <p:spPr>
            <a:xfrm>
              <a:off x="171450" y="171450"/>
              <a:ext cx="1095300" cy="209700"/>
            </a:xfrm>
            <a:prstGeom prst="roundRect">
              <a:avLst>
                <a:gd fmla="val 50000" name="adj"/>
              </a:avLst>
            </a:prstGeom>
            <a:solidFill>
              <a:srgbClr val="EF44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4" name="Google Shape;264;p18"/>
            <p:cNvSpPr txBox="1"/>
            <p:nvPr/>
          </p:nvSpPr>
          <p:spPr>
            <a:xfrm>
              <a:off x="171450" y="200025"/>
              <a:ext cx="1095300" cy="171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850">
                  <a:solidFill>
                    <a:srgbClr val="F8FAFC"/>
                  </a:solidFill>
                  <a:latin typeface="Inter"/>
                  <a:ea typeface="Inter"/>
                  <a:cs typeface="Inter"/>
                  <a:sym typeface="Inter"/>
                </a:rPr>
                <a:t>ADMIN ROLE</a:t>
              </a:r>
              <a:endParaRPr b="1" sz="850">
                <a:solidFill>
                  <a:srgbClr val="F8FAFC"/>
                </a:solidFill>
                <a:latin typeface="Inter"/>
                <a:ea typeface="Inter"/>
                <a:cs typeface="Inter"/>
                <a:sym typeface="Inter"/>
              </a:endParaRPr>
            </a:p>
          </p:txBody>
        </p:sp>
        <p:grpSp>
          <p:nvGrpSpPr>
            <p:cNvPr id="265" name="Google Shape;265;p18"/>
            <p:cNvGrpSpPr/>
            <p:nvPr/>
          </p:nvGrpSpPr>
          <p:grpSpPr>
            <a:xfrm>
              <a:off x="2114550" y="152400"/>
              <a:ext cx="285900" cy="285900"/>
              <a:chOff x="0" y="0"/>
              <a:chExt cx="285900" cy="285900"/>
            </a:xfrm>
          </p:grpSpPr>
          <p:sp>
            <p:nvSpPr>
              <p:cNvPr id="266" name="Google Shape;266;p18"/>
              <p:cNvSpPr/>
              <p:nvPr/>
            </p:nvSpPr>
            <p:spPr>
              <a:xfrm>
                <a:off x="0" y="0"/>
                <a:ext cx="285900" cy="285900"/>
              </a:xfrm>
              <a:prstGeom prst="ellipse">
                <a:avLst/>
              </a:prstGeom>
              <a:solidFill>
                <a:srgbClr val="172554"/>
              </a:solidFill>
              <a:ln cap="flat" cmpd="sng" w="9525">
                <a:solidFill>
                  <a:srgbClr val="EF444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7" name="Google Shape;267;p18"/>
              <p:cNvSpPr/>
              <p:nvPr/>
            </p:nvSpPr>
            <p:spPr>
              <a:xfrm>
                <a:off x="85725" y="76200"/>
                <a:ext cx="114300" cy="142800"/>
              </a:xfrm>
              <a:custGeom>
                <a:rect b="b" l="l" r="r" t="t"/>
                <a:pathLst>
                  <a:path extrusionOk="0" h="120000" w="120000">
                    <a:moveTo>
                      <a:pt x="60000" y="0"/>
                    </a:moveTo>
                    <a:lnTo>
                      <a:pt x="120000" y="24000"/>
                    </a:lnTo>
                    <a:lnTo>
                      <a:pt x="120000" y="64000"/>
                    </a:lnTo>
                    <a:cubicBezTo>
                      <a:pt x="120000" y="92000"/>
                      <a:pt x="95000" y="112000"/>
                      <a:pt x="60000" y="120000"/>
                    </a:cubicBezTo>
                    <a:cubicBezTo>
                      <a:pt x="25000" y="112000"/>
                      <a:pt x="0" y="92000"/>
                      <a:pt x="0" y="64000"/>
                    </a:cubicBezTo>
                    <a:lnTo>
                      <a:pt x="0" y="24000"/>
                    </a:lnTo>
                    <a:close/>
                  </a:path>
                </a:pathLst>
              </a:custGeom>
              <a:solidFill>
                <a:srgbClr val="000000">
                  <a:alpha val="0"/>
                </a:srgbClr>
              </a:solidFill>
              <a:ln cap="flat" cmpd="sng" w="14300">
                <a:solidFill>
                  <a:srgbClr val="EF444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268" name="Google Shape;268;p18"/>
            <p:cNvSpPr txBox="1"/>
            <p:nvPr/>
          </p:nvSpPr>
          <p:spPr>
            <a:xfrm>
              <a:off x="171450" y="457200"/>
              <a:ext cx="2229000" cy="2667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1400">
                  <a:solidFill>
                    <a:srgbClr val="EF4444"/>
                  </a:solidFill>
                  <a:latin typeface="Outfit SemiBold"/>
                  <a:ea typeface="Outfit SemiBold"/>
                  <a:cs typeface="Outfit SemiBold"/>
                  <a:sym typeface="Outfit SemiBold"/>
                </a:rPr>
                <a:t>Admin Oversight</a:t>
              </a:r>
              <a:endParaRPr b="0" sz="1400">
                <a:solidFill>
                  <a:srgbClr val="EF4444"/>
                </a:solidFill>
                <a:latin typeface="Outfit SemiBold"/>
                <a:ea typeface="Outfit SemiBold"/>
                <a:cs typeface="Outfit SemiBold"/>
                <a:sym typeface="Outfit SemiBold"/>
              </a:endParaRPr>
            </a:p>
            <a:p>
              <a:pPr indent="0" lvl="0" marL="0" rtl="0" algn="l">
                <a:spcBef>
                  <a:spcPts val="900"/>
                </a:spcBef>
                <a:spcAft>
                  <a:spcPts val="0"/>
                </a:spcAft>
                <a:buNone/>
              </a:pPr>
              <a:r>
                <a:rPr b="0" lang="en-GB" sz="1000">
                  <a:solidFill>
                    <a:srgbClr val="F8FAFC"/>
                  </a:solidFill>
                  <a:latin typeface="Inter SemiBold"/>
                  <a:ea typeface="Inter SemiBold"/>
                  <a:cs typeface="Inter SemiBold"/>
                  <a:sym typeface="Inter SemiBold"/>
                </a:rPr>
                <a:t>Metrics &amp; Platform Health</a:t>
              </a:r>
              <a:endParaRPr b="0" sz="1000">
                <a:solidFill>
                  <a:srgbClr val="F8FAFC"/>
                </a:solidFill>
                <a:latin typeface="Inter SemiBold"/>
                <a:ea typeface="Inter SemiBold"/>
                <a:cs typeface="Inter SemiBold"/>
                <a:sym typeface="Inter SemiBold"/>
              </a:endParaRPr>
            </a:p>
            <a:p>
              <a:pPr indent="0" lvl="0" marL="0" rtl="0" algn="l">
                <a:spcBef>
                  <a:spcPts val="150"/>
                </a:spcBef>
                <a:spcAft>
                  <a:spcPts val="0"/>
                </a:spcAft>
                <a:buNone/>
              </a:pPr>
              <a:r>
                <a:rPr b="0" lang="en-GB" sz="950">
                  <a:solidFill>
                    <a:srgbClr val="94A3B8"/>
                  </a:solidFill>
                  <a:latin typeface="Inter"/>
                  <a:ea typeface="Inter"/>
                  <a:cs typeface="Inter"/>
                  <a:sym typeface="Inter"/>
                </a:rPr>
                <a:t>Summary metrics dashboard to monitor platform throughput.</a:t>
              </a:r>
              <a:endParaRPr b="0" sz="950">
                <a:solidFill>
                  <a:srgbClr val="94A3B8"/>
                </a:solidFill>
                <a:latin typeface="Inter"/>
                <a:ea typeface="Inter"/>
                <a:cs typeface="Inter"/>
                <a:sym typeface="Inter"/>
              </a:endParaRPr>
            </a:p>
            <a:p>
              <a:pPr indent="0" lvl="0" marL="0" rtl="0" algn="l">
                <a:spcBef>
                  <a:spcPts val="750"/>
                </a:spcBef>
                <a:spcAft>
                  <a:spcPts val="0"/>
                </a:spcAft>
                <a:buNone/>
              </a:pPr>
              <a:r>
                <a:rPr b="0" lang="en-GB" sz="1000">
                  <a:solidFill>
                    <a:srgbClr val="F8FAFC"/>
                  </a:solidFill>
                  <a:latin typeface="Inter SemiBold"/>
                  <a:ea typeface="Inter SemiBold"/>
                  <a:cs typeface="Inter SemiBold"/>
                  <a:sym typeface="Inter SemiBold"/>
                </a:rPr>
                <a:t>System-Wide Complaint Audit</a:t>
              </a:r>
              <a:endParaRPr b="0" sz="1000">
                <a:solidFill>
                  <a:srgbClr val="F8FAFC"/>
                </a:solidFill>
                <a:latin typeface="Inter SemiBold"/>
                <a:ea typeface="Inter SemiBold"/>
                <a:cs typeface="Inter SemiBold"/>
                <a:sym typeface="Inter SemiBold"/>
              </a:endParaRPr>
            </a:p>
            <a:p>
              <a:pPr indent="0" lvl="0" marL="0" rtl="0" algn="l">
                <a:spcBef>
                  <a:spcPts val="150"/>
                </a:spcBef>
                <a:spcAft>
                  <a:spcPts val="0"/>
                </a:spcAft>
                <a:buNone/>
              </a:pPr>
              <a:r>
                <a:rPr b="0" lang="en-GB" sz="950">
                  <a:solidFill>
                    <a:srgbClr val="94A3B8"/>
                  </a:solidFill>
                  <a:latin typeface="Inter"/>
                  <a:ea typeface="Inter"/>
                  <a:cs typeface="Inter"/>
                  <a:sym typeface="Inter"/>
                </a:rPr>
                <a:t>Filter and review all complaint logs across the entire system.</a:t>
              </a:r>
              <a:endParaRPr b="0" sz="950">
                <a:solidFill>
                  <a:srgbClr val="94A3B8"/>
                </a:solidFill>
                <a:latin typeface="Inter"/>
                <a:ea typeface="Inter"/>
                <a:cs typeface="Inter"/>
                <a:sym typeface="Inter"/>
              </a:endParaRPr>
            </a:p>
            <a:p>
              <a:pPr indent="0" lvl="0" marL="0" rtl="0" algn="l">
                <a:spcBef>
                  <a:spcPts val="750"/>
                </a:spcBef>
                <a:spcAft>
                  <a:spcPts val="0"/>
                </a:spcAft>
                <a:buNone/>
              </a:pPr>
              <a:r>
                <a:rPr b="0" lang="en-GB" sz="1000">
                  <a:solidFill>
                    <a:srgbClr val="F8FAFC"/>
                  </a:solidFill>
                  <a:latin typeface="Inter SemiBold"/>
                  <a:ea typeface="Inter SemiBold"/>
                  <a:cs typeface="Inter SemiBold"/>
                  <a:sym typeface="Inter SemiBold"/>
                </a:rPr>
                <a:t>Escalation Management</a:t>
              </a:r>
              <a:endParaRPr b="0" sz="1000">
                <a:solidFill>
                  <a:srgbClr val="F8FAFC"/>
                </a:solidFill>
                <a:latin typeface="Inter SemiBold"/>
                <a:ea typeface="Inter SemiBold"/>
                <a:cs typeface="Inter SemiBold"/>
                <a:sym typeface="Inter SemiBold"/>
              </a:endParaRPr>
            </a:p>
            <a:p>
              <a:pPr indent="0" lvl="0" marL="0" rtl="0" algn="l">
                <a:spcBef>
                  <a:spcPts val="150"/>
                </a:spcBef>
                <a:spcAft>
                  <a:spcPts val="0"/>
                </a:spcAft>
                <a:buNone/>
              </a:pPr>
              <a:r>
                <a:rPr b="0" lang="en-GB" sz="950">
                  <a:solidFill>
                    <a:srgbClr val="94A3B8"/>
                  </a:solidFill>
                  <a:latin typeface="Inter"/>
                  <a:ea typeface="Inter"/>
                  <a:cs typeface="Inter"/>
                  <a:sym typeface="Inter"/>
                </a:rPr>
                <a:t>Manually assign or reassign technicians for priority escalations.</a:t>
              </a:r>
              <a:endParaRPr b="0" sz="950">
                <a:solidFill>
                  <a:srgbClr val="94A3B8"/>
                </a:solidFill>
                <a:latin typeface="Inter"/>
                <a:ea typeface="Inter"/>
                <a:cs typeface="Inter"/>
                <a:sym typeface="Inter"/>
              </a:endParaRPr>
            </a:p>
            <a:p>
              <a:pPr indent="0" lvl="0" marL="0" rtl="0" algn="l">
                <a:spcBef>
                  <a:spcPts val="750"/>
                </a:spcBef>
                <a:spcAft>
                  <a:spcPts val="0"/>
                </a:spcAft>
                <a:buNone/>
              </a:pPr>
              <a:r>
                <a:rPr b="0" lang="en-GB" sz="1000">
                  <a:solidFill>
                    <a:srgbClr val="F8FAFC"/>
                  </a:solidFill>
                  <a:latin typeface="Inter SemiBold"/>
                  <a:ea typeface="Inter SemiBold"/>
                  <a:cs typeface="Inter SemiBold"/>
                  <a:sym typeface="Inter SemiBold"/>
                </a:rPr>
                <a:t>User Governance</a:t>
              </a:r>
              <a:endParaRPr b="0" sz="1000">
                <a:solidFill>
                  <a:srgbClr val="F8FAFC"/>
                </a:solidFill>
                <a:latin typeface="Inter SemiBold"/>
                <a:ea typeface="Inter SemiBold"/>
                <a:cs typeface="Inter SemiBold"/>
                <a:sym typeface="Inter SemiBold"/>
              </a:endParaRPr>
            </a:p>
            <a:p>
              <a:pPr indent="0" lvl="0" marL="0" rtl="0" algn="l">
                <a:spcBef>
                  <a:spcPts val="150"/>
                </a:spcBef>
                <a:spcAft>
                  <a:spcPts val="0"/>
                </a:spcAft>
                <a:buNone/>
              </a:pPr>
              <a:r>
                <a:rPr b="0" lang="en-GB" sz="950">
                  <a:solidFill>
                    <a:srgbClr val="94A3B8"/>
                  </a:solidFill>
                  <a:latin typeface="Inter"/>
                  <a:ea typeface="Inter"/>
                  <a:cs typeface="Inter"/>
                  <a:sym typeface="Inter"/>
                </a:rPr>
                <a:t>Perform critical tasks to activate or deactivate user accounts.</a:t>
              </a:r>
              <a:endParaRPr b="0" sz="950">
                <a:solidFill>
                  <a:srgbClr val="94A3B8"/>
                </a:solidFill>
                <a:latin typeface="Inter"/>
                <a:ea typeface="Inter"/>
                <a:cs typeface="Inter"/>
                <a:sym typeface="Inter"/>
              </a:endParaRPr>
            </a:p>
          </p:txBody>
        </p:sp>
      </p:grpSp>
      <p:grpSp>
        <p:nvGrpSpPr>
          <p:cNvPr id="269" name="Google Shape;269;p18"/>
          <p:cNvGrpSpPr/>
          <p:nvPr/>
        </p:nvGrpSpPr>
        <p:grpSpPr>
          <a:xfrm>
            <a:off x="457200" y="4762500"/>
            <a:ext cx="8229600" cy="285750"/>
            <a:chOff x="457200" y="4762500"/>
            <a:chExt cx="8229600" cy="285750"/>
          </a:xfrm>
        </p:grpSpPr>
        <p:sp>
          <p:nvSpPr>
            <p:cNvPr id="270" name="Google Shape;270;p18"/>
            <p:cNvSpPr/>
            <p:nvPr/>
          </p:nvSpPr>
          <p:spPr>
            <a:xfrm>
              <a:off x="457200" y="4762500"/>
              <a:ext cx="8229600" cy="9600"/>
            </a:xfrm>
            <a:prstGeom prst="rect">
              <a:avLst/>
            </a:prstGeom>
            <a:solidFill>
              <a:srgbClr val="F59E0B">
                <a:alpha val="5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1" name="Google Shape;271;p18"/>
            <p:cNvSpPr txBox="1"/>
            <p:nvPr/>
          </p:nvSpPr>
          <p:spPr>
            <a:xfrm>
              <a:off x="457200" y="485775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900">
                  <a:solidFill>
                    <a:srgbClr val="94A3B8"/>
                  </a:solidFill>
                  <a:latin typeface="Inter SemiBold"/>
                  <a:ea typeface="Inter SemiBold"/>
                  <a:cs typeface="Inter SemiBold"/>
                  <a:sym typeface="Inter SemiBold"/>
                </a:rPr>
                <a:t>Smart EB Connect | FSD Architecture</a:t>
              </a:r>
              <a:endParaRPr b="0" sz="900">
                <a:solidFill>
                  <a:srgbClr val="94A3B8"/>
                </a:solidFill>
                <a:latin typeface="Inter SemiBold"/>
                <a:ea typeface="Inter SemiBold"/>
                <a:cs typeface="Inter SemiBold"/>
                <a:sym typeface="Inter SemiBold"/>
              </a:endParaRPr>
            </a:p>
          </p:txBody>
        </p:sp>
        <p:sp>
          <p:nvSpPr>
            <p:cNvPr id="272" name="Google Shape;272;p18"/>
            <p:cNvSpPr txBox="1"/>
            <p:nvPr/>
          </p:nvSpPr>
          <p:spPr>
            <a:xfrm>
              <a:off x="4876800" y="485775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GB" sz="900">
                  <a:solidFill>
                    <a:srgbClr val="94A3B8"/>
                  </a:solidFill>
                  <a:latin typeface="Inter SemiBold"/>
                  <a:ea typeface="Inter SemiBold"/>
                  <a:cs typeface="Inter SemiBold"/>
                  <a:sym typeface="Inter SemiBold"/>
                </a:rPr>
                <a:t>Role-Based Access Control</a:t>
              </a:r>
              <a:endParaRPr b="0" sz="900">
                <a:solidFill>
                  <a:srgbClr val="94A3B8"/>
                </a:solidFill>
                <a:latin typeface="Inter SemiBold"/>
                <a:ea typeface="Inter SemiBold"/>
                <a:cs typeface="Inter SemiBold"/>
                <a:sym typeface="Inter SemiBold"/>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19"/>
          <p:cNvSpPr/>
          <p:nvPr/>
        </p:nvSpPr>
        <p:spPr>
          <a:xfrm>
            <a:off x="0" y="0"/>
            <a:ext cx="9144000" cy="5143500"/>
          </a:xfrm>
          <a:prstGeom prst="rect">
            <a:avLst/>
          </a:prstGeom>
          <a:solidFill>
            <a:srgbClr val="0B132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278" name="Google Shape;278;p19"/>
          <p:cNvPicPr preferRelativeResize="0"/>
          <p:nvPr/>
        </p:nvPicPr>
        <p:blipFill rotWithShape="1">
          <a:blip r:embed="rId3">
            <a:alphaModFix/>
          </a:blip>
          <a:srcRect b="0" l="0" r="0" t="0"/>
          <a:stretch/>
        </p:blipFill>
        <p:spPr>
          <a:xfrm>
            <a:off x="0" y="0"/>
            <a:ext cx="9144000" cy="5143500"/>
          </a:xfrm>
          <a:prstGeom prst="rect">
            <a:avLst/>
          </a:prstGeom>
          <a:noFill/>
          <a:ln>
            <a:noFill/>
          </a:ln>
        </p:spPr>
      </p:pic>
      <p:grpSp>
        <p:nvGrpSpPr>
          <p:cNvPr id="279" name="Google Shape;279;p19"/>
          <p:cNvGrpSpPr/>
          <p:nvPr/>
        </p:nvGrpSpPr>
        <p:grpSpPr>
          <a:xfrm>
            <a:off x="457200" y="4762500"/>
            <a:ext cx="8229600" cy="285750"/>
            <a:chOff x="457200" y="4762500"/>
            <a:chExt cx="8229600" cy="285750"/>
          </a:xfrm>
        </p:grpSpPr>
        <p:sp>
          <p:nvSpPr>
            <p:cNvPr id="280" name="Google Shape;280;p19"/>
            <p:cNvSpPr/>
            <p:nvPr/>
          </p:nvSpPr>
          <p:spPr>
            <a:xfrm>
              <a:off x="457200" y="4762500"/>
              <a:ext cx="8229600" cy="9600"/>
            </a:xfrm>
            <a:prstGeom prst="rect">
              <a:avLst/>
            </a:prstGeom>
            <a:solidFill>
              <a:srgbClr val="F59E0B">
                <a:alpha val="5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1" name="Google Shape;281;p19"/>
            <p:cNvSpPr txBox="1"/>
            <p:nvPr/>
          </p:nvSpPr>
          <p:spPr>
            <a:xfrm>
              <a:off x="457200" y="485775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950">
                  <a:solidFill>
                    <a:srgbClr val="94A3B8"/>
                  </a:solidFill>
                  <a:latin typeface="Inter SemiBold"/>
                  <a:ea typeface="Inter SemiBold"/>
                  <a:cs typeface="Inter SemiBold"/>
                  <a:sym typeface="Inter SemiBold"/>
                </a:rPr>
                <a:t>Smart EB Connect | FSD Architecture</a:t>
              </a:r>
              <a:endParaRPr b="0" sz="950">
                <a:solidFill>
                  <a:srgbClr val="94A3B8"/>
                </a:solidFill>
                <a:latin typeface="Inter SemiBold"/>
                <a:ea typeface="Inter SemiBold"/>
                <a:cs typeface="Inter SemiBold"/>
                <a:sym typeface="Inter SemiBold"/>
              </a:endParaRPr>
            </a:p>
          </p:txBody>
        </p:sp>
        <p:sp>
          <p:nvSpPr>
            <p:cNvPr id="282" name="Google Shape;282;p19"/>
            <p:cNvSpPr txBox="1"/>
            <p:nvPr/>
          </p:nvSpPr>
          <p:spPr>
            <a:xfrm>
              <a:off x="4876800" y="485775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GB" sz="950">
                  <a:solidFill>
                    <a:srgbClr val="94A3B8"/>
                  </a:solidFill>
                  <a:latin typeface="Inter SemiBold"/>
                  <a:ea typeface="Inter SemiBold"/>
                  <a:cs typeface="Inter SemiBold"/>
                  <a:sym typeface="Inter SemiBold"/>
                </a:rPr>
                <a:t>Geospatial Architecture Tier</a:t>
              </a:r>
              <a:endParaRPr b="0" sz="950">
                <a:solidFill>
                  <a:srgbClr val="94A3B8"/>
                </a:solidFill>
                <a:latin typeface="Inter SemiBold"/>
                <a:ea typeface="Inter SemiBold"/>
                <a:cs typeface="Inter SemiBold"/>
                <a:sym typeface="Inter SemiBold"/>
              </a:endParaRPr>
            </a:p>
          </p:txBody>
        </p:sp>
      </p:grpSp>
      <p:grpSp>
        <p:nvGrpSpPr>
          <p:cNvPr id="283" name="Google Shape;283;p19"/>
          <p:cNvGrpSpPr/>
          <p:nvPr/>
        </p:nvGrpSpPr>
        <p:grpSpPr>
          <a:xfrm>
            <a:off x="457200" y="361950"/>
            <a:ext cx="876300" cy="38100"/>
            <a:chOff x="0" y="0"/>
            <a:chExt cx="876300" cy="38100"/>
          </a:xfrm>
        </p:grpSpPr>
        <p:sp>
          <p:nvSpPr>
            <p:cNvPr id="284" name="Google Shape;284;p19"/>
            <p:cNvSpPr/>
            <p:nvPr/>
          </p:nvSpPr>
          <p:spPr>
            <a:xfrm>
              <a:off x="0" y="0"/>
              <a:ext cx="571500" cy="38100"/>
            </a:xfrm>
            <a:prstGeom prst="roundRect">
              <a:avLst>
                <a:gd fmla="val 50000" name="adj"/>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5" name="Google Shape;285;p19"/>
            <p:cNvSpPr/>
            <p:nvPr/>
          </p:nvSpPr>
          <p:spPr>
            <a:xfrm>
              <a:off x="609600" y="0"/>
              <a:ext cx="152400" cy="38100"/>
            </a:xfrm>
            <a:prstGeom prst="roundRect">
              <a:avLst>
                <a:gd fmla="val 50000" name="adj"/>
              </a:avLst>
            </a:prstGeom>
            <a:solidFill>
              <a:srgbClr val="38BDF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6" name="Google Shape;286;p19"/>
            <p:cNvSpPr/>
            <p:nvPr/>
          </p:nvSpPr>
          <p:spPr>
            <a:xfrm>
              <a:off x="800100" y="0"/>
              <a:ext cx="76200" cy="38100"/>
            </a:xfrm>
            <a:prstGeom prst="roundRect">
              <a:avLst>
                <a:gd fmla="val 50000" name="adj"/>
              </a:avLst>
            </a:prstGeom>
            <a:solidFill>
              <a:srgbClr val="38BDF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287" name="Google Shape;287;p19"/>
          <p:cNvSpPr txBox="1"/>
          <p:nvPr/>
        </p:nvSpPr>
        <p:spPr>
          <a:xfrm>
            <a:off x="457200" y="476250"/>
            <a:ext cx="8229600" cy="476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2600">
                <a:solidFill>
                  <a:srgbClr val="F8FAFC"/>
                </a:solidFill>
                <a:latin typeface="Outfit"/>
                <a:ea typeface="Outfit"/>
                <a:cs typeface="Outfit"/>
                <a:sym typeface="Outfit"/>
              </a:rPr>
              <a:t>Geospatial Discovery &amp; Haversine Ranking</a:t>
            </a:r>
            <a:endParaRPr b="1" sz="2600">
              <a:solidFill>
                <a:srgbClr val="F8FAFC"/>
              </a:solidFill>
              <a:latin typeface="Outfit"/>
              <a:ea typeface="Outfit"/>
              <a:cs typeface="Outfit"/>
              <a:sym typeface="Outfit"/>
            </a:endParaRPr>
          </a:p>
        </p:txBody>
      </p:sp>
      <p:sp>
        <p:nvSpPr>
          <p:cNvPr id="288" name="Google Shape;288;p19"/>
          <p:cNvSpPr txBox="1"/>
          <p:nvPr/>
        </p:nvSpPr>
        <p:spPr>
          <a:xfrm>
            <a:off x="457200" y="1162050"/>
            <a:ext cx="4000500" cy="1619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1388">
                <a:solidFill>
                  <a:srgbClr val="F59E0B"/>
                </a:solidFill>
                <a:latin typeface="Outfit SemiBold"/>
                <a:ea typeface="Outfit SemiBold"/>
                <a:cs typeface="Outfit SemiBold"/>
                <a:sym typeface="Outfit SemiBold"/>
              </a:rPr>
              <a:t>Precision Location Capture &amp; Data Conversion</a:t>
            </a:r>
            <a:endParaRPr b="0" sz="1388">
              <a:solidFill>
                <a:srgbClr val="F59E0B"/>
              </a:solidFill>
              <a:latin typeface="Outfit SemiBold"/>
              <a:ea typeface="Outfit SemiBold"/>
              <a:cs typeface="Outfit SemiBold"/>
              <a:sym typeface="Outfit SemiBold"/>
            </a:endParaRPr>
          </a:p>
          <a:p>
            <a:pPr indent="0" lvl="0" marL="0" rtl="0" algn="l">
              <a:spcBef>
                <a:spcPts val="450"/>
              </a:spcBef>
              <a:spcAft>
                <a:spcPts val="0"/>
              </a:spcAft>
              <a:buNone/>
            </a:pPr>
            <a:r>
              <a:rPr b="0" lang="en-GB" sz="971">
                <a:solidFill>
                  <a:srgbClr val="94A3B8"/>
                </a:solidFill>
                <a:latin typeface="Inter"/>
                <a:ea typeface="Inter"/>
                <a:cs typeface="Inter"/>
                <a:sym typeface="Inter"/>
              </a:rPr>
              <a:t>The platform relies on accurate geospatial data to function. The frontend utilizes the HTML5 Browser Geolocation API to capture user coordinates. To prioritize privacy and prevent unauthorized tracking, this API is only invoked after an explicit user action (e.g., clicking a 'Locate Me' button). The browser API returns data in a [latitude, longitude] format; however, our application tier automatically intercepts and converts this into the strict [longitude, latitude] order required by MongoDB's GeoJSON specifications.</a:t>
            </a:r>
            <a:endParaRPr b="0" sz="971">
              <a:solidFill>
                <a:srgbClr val="94A3B8"/>
              </a:solidFill>
              <a:latin typeface="Inter"/>
              <a:ea typeface="Inter"/>
              <a:cs typeface="Inter"/>
              <a:sym typeface="Inter"/>
            </a:endParaRPr>
          </a:p>
        </p:txBody>
      </p:sp>
      <p:grpSp>
        <p:nvGrpSpPr>
          <p:cNvPr id="289" name="Google Shape;289;p19"/>
          <p:cNvGrpSpPr/>
          <p:nvPr/>
        </p:nvGrpSpPr>
        <p:grpSpPr>
          <a:xfrm>
            <a:off x="457200" y="2838450"/>
            <a:ext cx="4000500" cy="495300"/>
            <a:chOff x="0" y="0"/>
            <a:chExt cx="4000500" cy="495300"/>
          </a:xfrm>
        </p:grpSpPr>
        <p:sp>
          <p:nvSpPr>
            <p:cNvPr id="290" name="Google Shape;290;p19"/>
            <p:cNvSpPr/>
            <p:nvPr/>
          </p:nvSpPr>
          <p:spPr>
            <a:xfrm>
              <a:off x="0" y="0"/>
              <a:ext cx="4000500" cy="495300"/>
            </a:xfrm>
            <a:prstGeom prst="roundRect">
              <a:avLst>
                <a:gd fmla="val 11538" name="adj"/>
              </a:avLst>
            </a:prstGeom>
            <a:solidFill>
              <a:srgbClr val="172554"/>
            </a:solidFill>
            <a:ln cap="flat" cmpd="sng" w="9525">
              <a:solidFill>
                <a:srgbClr val="38BDF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1" name="Google Shape;291;p19"/>
            <p:cNvSpPr/>
            <p:nvPr/>
          </p:nvSpPr>
          <p:spPr>
            <a:xfrm>
              <a:off x="114300" y="76200"/>
              <a:ext cx="952500" cy="171600"/>
            </a:xfrm>
            <a:prstGeom prst="roundRect">
              <a:avLst>
                <a:gd fmla="val 22222" name="adj"/>
              </a:avLst>
            </a:prstGeom>
            <a:solidFill>
              <a:srgbClr val="38BDF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2" name="Google Shape;292;p19"/>
            <p:cNvSpPr txBox="1"/>
            <p:nvPr/>
          </p:nvSpPr>
          <p:spPr>
            <a:xfrm>
              <a:off x="114300" y="95250"/>
              <a:ext cx="952500" cy="152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750">
                  <a:solidFill>
                    <a:srgbClr val="0B1325"/>
                  </a:solidFill>
                  <a:latin typeface="Inter SemiBold"/>
                  <a:ea typeface="Inter SemiBold"/>
                  <a:cs typeface="Inter SemiBold"/>
                  <a:sym typeface="Inter SemiBold"/>
                </a:rPr>
                <a:t>GEOJSON ADAPTER</a:t>
              </a:r>
              <a:endParaRPr b="0" sz="750">
                <a:solidFill>
                  <a:srgbClr val="0B1325"/>
                </a:solidFill>
                <a:latin typeface="Inter SemiBold"/>
                <a:ea typeface="Inter SemiBold"/>
                <a:cs typeface="Inter SemiBold"/>
                <a:sym typeface="Inter SemiBold"/>
              </a:endParaRPr>
            </a:p>
          </p:txBody>
        </p:sp>
        <p:sp>
          <p:nvSpPr>
            <p:cNvPr id="293" name="Google Shape;293;p19"/>
            <p:cNvSpPr txBox="1"/>
            <p:nvPr/>
          </p:nvSpPr>
          <p:spPr>
            <a:xfrm>
              <a:off x="114300" y="266700"/>
              <a:ext cx="37719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950">
                  <a:solidFill>
                    <a:srgbClr val="38BDF8"/>
                  </a:solidFill>
                  <a:latin typeface="Fira Code"/>
                  <a:ea typeface="Fira Code"/>
                  <a:cs typeface="Fira Code"/>
                  <a:sym typeface="Fira Code"/>
                </a:rPr>
                <a:t>Browser [lat, lng] ➝ MongoDB [lng, lat]</a:t>
              </a:r>
              <a:endParaRPr b="0" sz="950">
                <a:solidFill>
                  <a:srgbClr val="38BDF8"/>
                </a:solidFill>
                <a:latin typeface="Fira Code"/>
                <a:ea typeface="Fira Code"/>
                <a:cs typeface="Fira Code"/>
                <a:sym typeface="Fira Code"/>
              </a:endParaRPr>
            </a:p>
          </p:txBody>
        </p:sp>
      </p:grpSp>
      <p:sp>
        <p:nvSpPr>
          <p:cNvPr id="294" name="Google Shape;294;p19"/>
          <p:cNvSpPr txBox="1"/>
          <p:nvPr/>
        </p:nvSpPr>
        <p:spPr>
          <a:xfrm>
            <a:off x="457200" y="3476625"/>
            <a:ext cx="4000500" cy="1190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1388">
                <a:solidFill>
                  <a:srgbClr val="38BDF8"/>
                </a:solidFill>
                <a:latin typeface="Outfit SemiBold"/>
                <a:ea typeface="Outfit SemiBold"/>
                <a:cs typeface="Outfit SemiBold"/>
                <a:sym typeface="Outfit SemiBold"/>
              </a:rPr>
              <a:t>Graceful Fallback Mechanisms</a:t>
            </a:r>
            <a:endParaRPr b="0" sz="1388">
              <a:solidFill>
                <a:srgbClr val="38BDF8"/>
              </a:solidFill>
              <a:latin typeface="Outfit SemiBold"/>
              <a:ea typeface="Outfit SemiBold"/>
              <a:cs typeface="Outfit SemiBold"/>
              <a:sym typeface="Outfit SemiBold"/>
            </a:endParaRPr>
          </a:p>
          <a:p>
            <a:pPr indent="0" lvl="0" marL="0" rtl="0" algn="l">
              <a:spcBef>
                <a:spcPts val="450"/>
              </a:spcBef>
              <a:spcAft>
                <a:spcPts val="0"/>
              </a:spcAft>
              <a:buNone/>
            </a:pPr>
            <a:r>
              <a:rPr b="0" lang="en-GB" sz="971">
                <a:solidFill>
                  <a:srgbClr val="94A3B8"/>
                </a:solidFill>
                <a:latin typeface="Inter"/>
                <a:ea typeface="Inter"/>
                <a:cs typeface="Inter"/>
                <a:sym typeface="Inter"/>
              </a:rPr>
              <a:t>Recognizing that GPS signals can be denied by the user or unavailable due to environmental factors, the system is designed with a graceful fallback architecture. A lack of GPS data never blocks a user from submitting a critical fault report. Instead, users are seamlessly prompted to enter a manual text address or visually drop a pin on the interactive Leaflet map interface.</a:t>
            </a:r>
            <a:endParaRPr b="0" sz="971">
              <a:solidFill>
                <a:srgbClr val="94A3B8"/>
              </a:solidFill>
              <a:latin typeface="Inter"/>
              <a:ea typeface="Inter"/>
              <a:cs typeface="Inter"/>
              <a:sym typeface="Inter"/>
            </a:endParaRPr>
          </a:p>
        </p:txBody>
      </p:sp>
      <p:grpSp>
        <p:nvGrpSpPr>
          <p:cNvPr id="295" name="Google Shape;295;p19"/>
          <p:cNvGrpSpPr/>
          <p:nvPr/>
        </p:nvGrpSpPr>
        <p:grpSpPr>
          <a:xfrm>
            <a:off x="4686300" y="1162050"/>
            <a:ext cx="4000500" cy="2047800"/>
            <a:chOff x="0" y="0"/>
            <a:chExt cx="4000500" cy="2047800"/>
          </a:xfrm>
        </p:grpSpPr>
        <p:sp>
          <p:nvSpPr>
            <p:cNvPr id="296" name="Google Shape;296;p19"/>
            <p:cNvSpPr/>
            <p:nvPr/>
          </p:nvSpPr>
          <p:spPr>
            <a:xfrm>
              <a:off x="0" y="0"/>
              <a:ext cx="4000500" cy="2047800"/>
            </a:xfrm>
            <a:prstGeom prst="roundRect">
              <a:avLst>
                <a:gd fmla="val 3720" name="adj"/>
              </a:avLst>
            </a:prstGeom>
            <a:solidFill>
              <a:srgbClr val="1E293B"/>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7" name="Google Shape;297;p19"/>
            <p:cNvSpPr/>
            <p:nvPr/>
          </p:nvSpPr>
          <p:spPr>
            <a:xfrm>
              <a:off x="0" y="0"/>
              <a:ext cx="4000500" cy="38100"/>
            </a:xfrm>
            <a:prstGeom prst="roundRect">
              <a:avLst>
                <a:gd fmla="val 50000" name="adj"/>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8" name="Google Shape;298;p19"/>
            <p:cNvSpPr txBox="1"/>
            <p:nvPr/>
          </p:nvSpPr>
          <p:spPr>
            <a:xfrm>
              <a:off x="228600" y="190500"/>
              <a:ext cx="3543300" cy="1666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1600">
                  <a:solidFill>
                    <a:srgbClr val="F8FAFC"/>
                  </a:solidFill>
                  <a:latin typeface="Outfit SemiBold"/>
                  <a:ea typeface="Outfit SemiBold"/>
                  <a:cs typeface="Outfit SemiBold"/>
                  <a:sym typeface="Outfit SemiBold"/>
                </a:rPr>
                <a:t>Haversine Formula Implementation</a:t>
              </a:r>
              <a:endParaRPr b="0" sz="1600">
                <a:solidFill>
                  <a:srgbClr val="F8FAFC"/>
                </a:solidFill>
                <a:latin typeface="Outfit SemiBold"/>
                <a:ea typeface="Outfit SemiBold"/>
                <a:cs typeface="Outfit SemiBold"/>
                <a:sym typeface="Outfit SemiBold"/>
              </a:endParaRPr>
            </a:p>
            <a:p>
              <a:pPr indent="0" lvl="0" marL="0" rtl="0" algn="l">
                <a:spcBef>
                  <a:spcPts val="600"/>
                </a:spcBef>
                <a:spcAft>
                  <a:spcPts val="0"/>
                </a:spcAft>
                <a:buNone/>
              </a:pPr>
              <a:r>
                <a:rPr b="0" lang="en-GB" sz="1050">
                  <a:solidFill>
                    <a:srgbClr val="94A3B8"/>
                  </a:solidFill>
                  <a:latin typeface="Inter"/>
                  <a:ea typeface="Inter"/>
                  <a:cs typeface="Inter"/>
                  <a:sym typeface="Inter"/>
                </a:rPr>
                <a:t>To optimize technician dispatch, the backend utilizes the Haversine formula to calculate distances on a sphere. This service ranks all available and active technicians, presenting them nearest-first measured in kilometers.</a:t>
              </a:r>
              <a:endParaRPr b="0" sz="1050">
                <a:solidFill>
                  <a:srgbClr val="94A3B8"/>
                </a:solidFill>
                <a:latin typeface="Inter"/>
                <a:ea typeface="Inter"/>
                <a:cs typeface="Inter"/>
                <a:sym typeface="Inter"/>
              </a:endParaRPr>
            </a:p>
            <a:p>
              <a:pPr indent="0" lvl="0" marL="0" rtl="0" algn="l">
                <a:spcBef>
                  <a:spcPts val="1050"/>
                </a:spcBef>
                <a:spcAft>
                  <a:spcPts val="0"/>
                </a:spcAft>
                <a:buNone/>
              </a:pPr>
              <a:r>
                <a:rPr b="0" lang="en-GB" sz="900">
                  <a:solidFill>
                    <a:srgbClr val="F59E0B"/>
                  </a:solidFill>
                  <a:latin typeface="Fira Code"/>
                  <a:ea typeface="Fira Code"/>
                  <a:cs typeface="Fira Code"/>
                  <a:sym typeface="Fira Code"/>
                </a:rPr>
                <a:t>dispatch_order = sort_by_distance(haversine(user_loc, tech_locs))</a:t>
              </a:r>
              <a:endParaRPr/>
            </a:p>
          </p:txBody>
        </p:sp>
      </p:grpSp>
      <p:grpSp>
        <p:nvGrpSpPr>
          <p:cNvPr id="299" name="Google Shape;299;p19"/>
          <p:cNvGrpSpPr/>
          <p:nvPr/>
        </p:nvGrpSpPr>
        <p:grpSpPr>
          <a:xfrm>
            <a:off x="4686300" y="3352800"/>
            <a:ext cx="4000500" cy="1314600"/>
            <a:chOff x="0" y="0"/>
            <a:chExt cx="4000500" cy="1314600"/>
          </a:xfrm>
        </p:grpSpPr>
        <p:sp>
          <p:nvSpPr>
            <p:cNvPr id="300" name="Google Shape;300;p19"/>
            <p:cNvSpPr/>
            <p:nvPr/>
          </p:nvSpPr>
          <p:spPr>
            <a:xfrm>
              <a:off x="0" y="0"/>
              <a:ext cx="4000500" cy="1314600"/>
            </a:xfrm>
            <a:prstGeom prst="roundRect">
              <a:avLst>
                <a:gd fmla="val 5797" name="adj"/>
              </a:avLst>
            </a:prstGeom>
            <a:solidFill>
              <a:srgbClr val="172554"/>
            </a:solidFill>
            <a:ln cap="flat" cmpd="sng" w="14300">
              <a:solidFill>
                <a:srgbClr val="F59E0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1" name="Google Shape;301;p19"/>
            <p:cNvSpPr/>
            <p:nvPr/>
          </p:nvSpPr>
          <p:spPr>
            <a:xfrm>
              <a:off x="0" y="0"/>
              <a:ext cx="57300" cy="1314600"/>
            </a:xfrm>
            <a:prstGeom prst="roundRect">
              <a:avLst>
                <a:gd fmla="val 50000" name="adj"/>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2" name="Google Shape;302;p19"/>
            <p:cNvSpPr txBox="1"/>
            <p:nvPr/>
          </p:nvSpPr>
          <p:spPr>
            <a:xfrm>
              <a:off x="228600" y="152400"/>
              <a:ext cx="3543300" cy="104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1300">
                  <a:solidFill>
                    <a:srgbClr val="F59E0B"/>
                  </a:solidFill>
                  <a:latin typeface="Outfit SemiBold"/>
                  <a:ea typeface="Outfit SemiBold"/>
                  <a:cs typeface="Outfit SemiBold"/>
                  <a:sym typeface="Outfit SemiBold"/>
                </a:rPr>
                <a:t>UI Distance &amp; ETA Disclaimer</a:t>
              </a:r>
              <a:endParaRPr b="0" sz="1300">
                <a:solidFill>
                  <a:srgbClr val="F59E0B"/>
                </a:solidFill>
                <a:latin typeface="Outfit SemiBold"/>
                <a:ea typeface="Outfit SemiBold"/>
                <a:cs typeface="Outfit SemiBold"/>
                <a:sym typeface="Outfit SemiBold"/>
              </a:endParaRPr>
            </a:p>
            <a:p>
              <a:pPr indent="0" lvl="0" marL="0" rtl="0" algn="l">
                <a:spcBef>
                  <a:spcPts val="450"/>
                </a:spcBef>
                <a:spcAft>
                  <a:spcPts val="0"/>
                </a:spcAft>
                <a:buNone/>
              </a:pPr>
              <a:r>
                <a:rPr b="0" lang="en-GB" sz="950">
                  <a:solidFill>
                    <a:srgbClr val="F8FAFC"/>
                  </a:solidFill>
                  <a:latin typeface="Inter"/>
                  <a:ea typeface="Inter"/>
                  <a:cs typeface="Inter"/>
                  <a:sym typeface="Inter"/>
                </a:rPr>
                <a:t>To manage user expectations accurately, the UI features a clear disclaimer explaining that this calculation represents straight-line (as-the-crow-flies) distance, which will inherently differ from actual road travel distance and estimated time of arrival (ETA).</a:t>
              </a:r>
              <a:endParaRPr b="0" sz="950">
                <a:solidFill>
                  <a:srgbClr val="F8FAFC"/>
                </a:solidFill>
                <a:latin typeface="Inter"/>
                <a:ea typeface="Inter"/>
                <a:cs typeface="Inter"/>
                <a:sym typeface="Inte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20"/>
          <p:cNvSpPr/>
          <p:nvPr/>
        </p:nvSpPr>
        <p:spPr>
          <a:xfrm>
            <a:off x="0" y="0"/>
            <a:ext cx="9144000" cy="5143500"/>
          </a:xfrm>
          <a:prstGeom prst="rect">
            <a:avLst/>
          </a:prstGeom>
          <a:solidFill>
            <a:srgbClr val="0B132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308" name="Google Shape;308;p20"/>
          <p:cNvPicPr preferRelativeResize="0"/>
          <p:nvPr/>
        </p:nvPicPr>
        <p:blipFill rotWithShape="1">
          <a:blip r:embed="rId3">
            <a:alphaModFix/>
          </a:blip>
          <a:srcRect b="0" l="0" r="0" t="0"/>
          <a:stretch/>
        </p:blipFill>
        <p:spPr>
          <a:xfrm>
            <a:off x="0" y="0"/>
            <a:ext cx="9144000" cy="5143500"/>
          </a:xfrm>
          <a:prstGeom prst="rect">
            <a:avLst/>
          </a:prstGeom>
          <a:noFill/>
          <a:ln>
            <a:noFill/>
          </a:ln>
        </p:spPr>
      </p:pic>
      <p:grpSp>
        <p:nvGrpSpPr>
          <p:cNvPr id="309" name="Google Shape;309;p20"/>
          <p:cNvGrpSpPr/>
          <p:nvPr/>
        </p:nvGrpSpPr>
        <p:grpSpPr>
          <a:xfrm>
            <a:off x="457200" y="381000"/>
            <a:ext cx="8229600" cy="590700"/>
            <a:chOff x="0" y="0"/>
            <a:chExt cx="8229600" cy="590700"/>
          </a:xfrm>
        </p:grpSpPr>
        <p:sp>
          <p:nvSpPr>
            <p:cNvPr id="310" name="Google Shape;310;p20"/>
            <p:cNvSpPr/>
            <p:nvPr/>
          </p:nvSpPr>
          <p:spPr>
            <a:xfrm>
              <a:off x="0" y="0"/>
              <a:ext cx="571500" cy="38100"/>
            </a:xfrm>
            <a:prstGeom prst="roundRect">
              <a:avLst>
                <a:gd fmla="val 50000" name="adj"/>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1" name="Google Shape;311;p20"/>
            <p:cNvSpPr/>
            <p:nvPr/>
          </p:nvSpPr>
          <p:spPr>
            <a:xfrm>
              <a:off x="609600" y="0"/>
              <a:ext cx="152400" cy="38100"/>
            </a:xfrm>
            <a:prstGeom prst="roundRect">
              <a:avLst>
                <a:gd fmla="val 50000" name="adj"/>
              </a:avLst>
            </a:prstGeom>
            <a:solidFill>
              <a:srgbClr val="38BDF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2" name="Google Shape;312;p20"/>
            <p:cNvSpPr/>
            <p:nvPr/>
          </p:nvSpPr>
          <p:spPr>
            <a:xfrm>
              <a:off x="800100" y="0"/>
              <a:ext cx="76200" cy="38100"/>
            </a:xfrm>
            <a:prstGeom prst="roundRect">
              <a:avLst>
                <a:gd fmla="val 50000" name="adj"/>
              </a:avLst>
            </a:prstGeom>
            <a:solidFill>
              <a:srgbClr val="38BDF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3" name="Google Shape;313;p20"/>
            <p:cNvSpPr txBox="1"/>
            <p:nvPr/>
          </p:nvSpPr>
          <p:spPr>
            <a:xfrm>
              <a:off x="0" y="114300"/>
              <a:ext cx="8229600" cy="476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2800">
                  <a:solidFill>
                    <a:srgbClr val="F8FAFC"/>
                  </a:solidFill>
                  <a:latin typeface="Outfit"/>
                  <a:ea typeface="Outfit"/>
                  <a:cs typeface="Outfit"/>
                  <a:sym typeface="Outfit"/>
                </a:rPr>
                <a:t>Complaint State Machine &amp; Concurrency Guards</a:t>
              </a:r>
              <a:endParaRPr b="1" sz="2800">
                <a:solidFill>
                  <a:srgbClr val="F8FAFC"/>
                </a:solidFill>
                <a:latin typeface="Outfit"/>
                <a:ea typeface="Outfit"/>
                <a:cs typeface="Outfit"/>
                <a:sym typeface="Outfit"/>
              </a:endParaRPr>
            </a:p>
          </p:txBody>
        </p:sp>
      </p:grpSp>
      <p:grpSp>
        <p:nvGrpSpPr>
          <p:cNvPr id="314" name="Google Shape;314;p20"/>
          <p:cNvGrpSpPr/>
          <p:nvPr/>
        </p:nvGrpSpPr>
        <p:grpSpPr>
          <a:xfrm>
            <a:off x="457200" y="1000125"/>
            <a:ext cx="8229600" cy="3667200"/>
            <a:chOff x="0" y="0"/>
            <a:chExt cx="8229600" cy="3667200"/>
          </a:xfrm>
        </p:grpSpPr>
        <p:sp>
          <p:nvSpPr>
            <p:cNvPr id="315" name="Google Shape;315;p20"/>
            <p:cNvSpPr/>
            <p:nvPr/>
          </p:nvSpPr>
          <p:spPr>
            <a:xfrm>
              <a:off x="0" y="0"/>
              <a:ext cx="8229600" cy="3667200"/>
            </a:xfrm>
            <a:prstGeom prst="roundRect">
              <a:avLst>
                <a:gd fmla="val 2077" name="adj"/>
              </a:avLst>
            </a:prstGeom>
            <a:solidFill>
              <a:srgbClr val="172554">
                <a:alpha val="20000"/>
              </a:srgbClr>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316" name="Google Shape;316;p20"/>
            <p:cNvGrpSpPr/>
            <p:nvPr/>
          </p:nvGrpSpPr>
          <p:grpSpPr>
            <a:xfrm>
              <a:off x="114300" y="114300"/>
              <a:ext cx="8001000" cy="1476300"/>
              <a:chOff x="0" y="0"/>
              <a:chExt cx="8001000" cy="1476300"/>
            </a:xfrm>
          </p:grpSpPr>
          <p:sp>
            <p:nvSpPr>
              <p:cNvPr id="317" name="Google Shape;317;p20"/>
              <p:cNvSpPr/>
              <p:nvPr/>
            </p:nvSpPr>
            <p:spPr>
              <a:xfrm>
                <a:off x="0" y="0"/>
                <a:ext cx="8001000" cy="1476300"/>
              </a:xfrm>
              <a:prstGeom prst="roundRect">
                <a:avLst>
                  <a:gd fmla="val 3870" name="adj"/>
                </a:avLst>
              </a:prstGeom>
              <a:solidFill>
                <a:srgbClr val="1E293B"/>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8" name="Google Shape;318;p20"/>
              <p:cNvSpPr txBox="1"/>
              <p:nvPr/>
            </p:nvSpPr>
            <p:spPr>
              <a:xfrm>
                <a:off x="152400" y="95250"/>
                <a:ext cx="76962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1000">
                    <a:solidFill>
                      <a:srgbClr val="38BDF8"/>
                    </a:solidFill>
                    <a:latin typeface="Inter SemiBold"/>
                    <a:ea typeface="Inter SemiBold"/>
                    <a:cs typeface="Inter SemiBold"/>
                    <a:sym typeface="Inter SemiBold"/>
                  </a:rPr>
                  <a:t>Lifecycle State Machine Architecture</a:t>
                </a:r>
                <a:endParaRPr b="0" sz="1000">
                  <a:solidFill>
                    <a:srgbClr val="38BDF8"/>
                  </a:solidFill>
                  <a:latin typeface="Inter SemiBold"/>
                  <a:ea typeface="Inter SemiBold"/>
                  <a:cs typeface="Inter SemiBold"/>
                  <a:sym typeface="Inter SemiBold"/>
                </a:endParaRPr>
              </a:p>
            </p:txBody>
          </p:sp>
          <p:grpSp>
            <p:nvGrpSpPr>
              <p:cNvPr id="319" name="Google Shape;319;p20"/>
              <p:cNvGrpSpPr/>
              <p:nvPr/>
            </p:nvGrpSpPr>
            <p:grpSpPr>
              <a:xfrm>
                <a:off x="152400" y="361950"/>
                <a:ext cx="990600" cy="324000"/>
                <a:chOff x="0" y="0"/>
                <a:chExt cx="990600" cy="324000"/>
              </a:xfrm>
            </p:grpSpPr>
            <p:sp>
              <p:nvSpPr>
                <p:cNvPr id="320" name="Google Shape;320;p20"/>
                <p:cNvSpPr/>
                <p:nvPr/>
              </p:nvSpPr>
              <p:spPr>
                <a:xfrm>
                  <a:off x="0" y="0"/>
                  <a:ext cx="990600" cy="324000"/>
                </a:xfrm>
                <a:prstGeom prst="roundRect">
                  <a:avLst>
                    <a:gd fmla="val 17647" name="adj"/>
                  </a:avLst>
                </a:prstGeom>
                <a:solidFill>
                  <a:srgbClr val="0B1325"/>
                </a:solidFill>
                <a:ln cap="flat" cmpd="sng" w="14300">
                  <a:solidFill>
                    <a:srgbClr val="38BDF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1" name="Google Shape;321;p20"/>
                <p:cNvSpPr txBox="1"/>
                <p:nvPr/>
              </p:nvSpPr>
              <p:spPr>
                <a:xfrm>
                  <a:off x="0" y="76200"/>
                  <a:ext cx="9906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1000">
                      <a:solidFill>
                        <a:srgbClr val="38BDF8"/>
                      </a:solidFill>
                      <a:latin typeface="Inter SemiBold"/>
                      <a:ea typeface="Inter SemiBold"/>
                      <a:cs typeface="Inter SemiBold"/>
                      <a:sym typeface="Inter SemiBold"/>
                    </a:rPr>
                    <a:t>Pending</a:t>
                  </a:r>
                  <a:endParaRPr b="0" sz="1000">
                    <a:solidFill>
                      <a:srgbClr val="38BDF8"/>
                    </a:solidFill>
                    <a:latin typeface="Inter SemiBold"/>
                    <a:ea typeface="Inter SemiBold"/>
                    <a:cs typeface="Inter SemiBold"/>
                    <a:sym typeface="Inter SemiBold"/>
                  </a:endParaRPr>
                </a:p>
              </p:txBody>
            </p:sp>
          </p:grpSp>
          <p:grpSp>
            <p:nvGrpSpPr>
              <p:cNvPr id="322" name="Google Shape;322;p20"/>
              <p:cNvGrpSpPr/>
              <p:nvPr/>
            </p:nvGrpSpPr>
            <p:grpSpPr>
              <a:xfrm>
                <a:off x="1447800" y="361950"/>
                <a:ext cx="990600" cy="324000"/>
                <a:chOff x="0" y="0"/>
                <a:chExt cx="990600" cy="324000"/>
              </a:xfrm>
            </p:grpSpPr>
            <p:sp>
              <p:nvSpPr>
                <p:cNvPr id="323" name="Google Shape;323;p20"/>
                <p:cNvSpPr/>
                <p:nvPr/>
              </p:nvSpPr>
              <p:spPr>
                <a:xfrm>
                  <a:off x="0" y="0"/>
                  <a:ext cx="990600" cy="324000"/>
                </a:xfrm>
                <a:prstGeom prst="roundRect">
                  <a:avLst>
                    <a:gd fmla="val 17647" name="adj"/>
                  </a:avLst>
                </a:prstGeom>
                <a:solidFill>
                  <a:srgbClr val="0B1325"/>
                </a:solidFill>
                <a:ln cap="flat" cmpd="sng" w="14300">
                  <a:solidFill>
                    <a:srgbClr val="38BDF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4" name="Google Shape;324;p20"/>
                <p:cNvSpPr txBox="1"/>
                <p:nvPr/>
              </p:nvSpPr>
              <p:spPr>
                <a:xfrm>
                  <a:off x="0" y="76200"/>
                  <a:ext cx="9906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1000">
                      <a:solidFill>
                        <a:srgbClr val="F8FAFC"/>
                      </a:solidFill>
                      <a:latin typeface="Inter SemiBold"/>
                      <a:ea typeface="Inter SemiBold"/>
                      <a:cs typeface="Inter SemiBold"/>
                      <a:sym typeface="Inter SemiBold"/>
                    </a:rPr>
                    <a:t>Assigned</a:t>
                  </a:r>
                  <a:endParaRPr b="0" sz="1000">
                    <a:solidFill>
                      <a:srgbClr val="F8FAFC"/>
                    </a:solidFill>
                    <a:latin typeface="Inter SemiBold"/>
                    <a:ea typeface="Inter SemiBold"/>
                    <a:cs typeface="Inter SemiBold"/>
                    <a:sym typeface="Inter SemiBold"/>
                  </a:endParaRPr>
                </a:p>
              </p:txBody>
            </p:sp>
          </p:grpSp>
          <p:grpSp>
            <p:nvGrpSpPr>
              <p:cNvPr id="325" name="Google Shape;325;p20"/>
              <p:cNvGrpSpPr/>
              <p:nvPr/>
            </p:nvGrpSpPr>
            <p:grpSpPr>
              <a:xfrm>
                <a:off x="2743200" y="361950"/>
                <a:ext cx="990600" cy="324000"/>
                <a:chOff x="0" y="0"/>
                <a:chExt cx="990600" cy="324000"/>
              </a:xfrm>
            </p:grpSpPr>
            <p:sp>
              <p:nvSpPr>
                <p:cNvPr id="326" name="Google Shape;326;p20"/>
                <p:cNvSpPr/>
                <p:nvPr/>
              </p:nvSpPr>
              <p:spPr>
                <a:xfrm>
                  <a:off x="0" y="0"/>
                  <a:ext cx="990600" cy="324000"/>
                </a:xfrm>
                <a:prstGeom prst="roundRect">
                  <a:avLst>
                    <a:gd fmla="val 17647" name="adj"/>
                  </a:avLst>
                </a:prstGeom>
                <a:solidFill>
                  <a:srgbClr val="0B1325"/>
                </a:solidFill>
                <a:ln cap="flat" cmpd="sng" w="14300">
                  <a:solidFill>
                    <a:srgbClr val="38BDF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7" name="Google Shape;327;p20"/>
                <p:cNvSpPr txBox="1"/>
                <p:nvPr/>
              </p:nvSpPr>
              <p:spPr>
                <a:xfrm>
                  <a:off x="0" y="76200"/>
                  <a:ext cx="9906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1000">
                      <a:solidFill>
                        <a:srgbClr val="F8FAFC"/>
                      </a:solidFill>
                      <a:latin typeface="Inter SemiBold"/>
                      <a:ea typeface="Inter SemiBold"/>
                      <a:cs typeface="Inter SemiBold"/>
                      <a:sym typeface="Inter SemiBold"/>
                    </a:rPr>
                    <a:t>Accepted</a:t>
                  </a:r>
                  <a:endParaRPr b="0" sz="1000">
                    <a:solidFill>
                      <a:srgbClr val="F8FAFC"/>
                    </a:solidFill>
                    <a:latin typeface="Inter SemiBold"/>
                    <a:ea typeface="Inter SemiBold"/>
                    <a:cs typeface="Inter SemiBold"/>
                    <a:sym typeface="Inter SemiBold"/>
                  </a:endParaRPr>
                </a:p>
              </p:txBody>
            </p:sp>
          </p:grpSp>
          <p:grpSp>
            <p:nvGrpSpPr>
              <p:cNvPr id="328" name="Google Shape;328;p20"/>
              <p:cNvGrpSpPr/>
              <p:nvPr/>
            </p:nvGrpSpPr>
            <p:grpSpPr>
              <a:xfrm>
                <a:off x="4038600" y="361950"/>
                <a:ext cx="990600" cy="324000"/>
                <a:chOff x="0" y="0"/>
                <a:chExt cx="990600" cy="324000"/>
              </a:xfrm>
            </p:grpSpPr>
            <p:sp>
              <p:nvSpPr>
                <p:cNvPr id="329" name="Google Shape;329;p20"/>
                <p:cNvSpPr/>
                <p:nvPr/>
              </p:nvSpPr>
              <p:spPr>
                <a:xfrm>
                  <a:off x="0" y="0"/>
                  <a:ext cx="990600" cy="324000"/>
                </a:xfrm>
                <a:prstGeom prst="roundRect">
                  <a:avLst>
                    <a:gd fmla="val 17647" name="adj"/>
                  </a:avLst>
                </a:prstGeom>
                <a:solidFill>
                  <a:srgbClr val="0B1325"/>
                </a:solidFill>
                <a:ln cap="flat" cmpd="sng" w="14300">
                  <a:solidFill>
                    <a:srgbClr val="38BDF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0" name="Google Shape;330;p20"/>
                <p:cNvSpPr txBox="1"/>
                <p:nvPr/>
              </p:nvSpPr>
              <p:spPr>
                <a:xfrm>
                  <a:off x="0" y="76200"/>
                  <a:ext cx="9906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1000">
                      <a:solidFill>
                        <a:srgbClr val="F8FAFC"/>
                      </a:solidFill>
                      <a:latin typeface="Inter SemiBold"/>
                      <a:ea typeface="Inter SemiBold"/>
                      <a:cs typeface="Inter SemiBold"/>
                      <a:sym typeface="Inter SemiBold"/>
                    </a:rPr>
                    <a:t>On the Way</a:t>
                  </a:r>
                  <a:endParaRPr b="0" sz="1000">
                    <a:solidFill>
                      <a:srgbClr val="F8FAFC"/>
                    </a:solidFill>
                    <a:latin typeface="Inter SemiBold"/>
                    <a:ea typeface="Inter SemiBold"/>
                    <a:cs typeface="Inter SemiBold"/>
                    <a:sym typeface="Inter SemiBold"/>
                  </a:endParaRPr>
                </a:p>
              </p:txBody>
            </p:sp>
          </p:grpSp>
          <p:grpSp>
            <p:nvGrpSpPr>
              <p:cNvPr id="331" name="Google Shape;331;p20"/>
              <p:cNvGrpSpPr/>
              <p:nvPr/>
            </p:nvGrpSpPr>
            <p:grpSpPr>
              <a:xfrm>
                <a:off x="5334000" y="361950"/>
                <a:ext cx="990600" cy="324000"/>
                <a:chOff x="0" y="0"/>
                <a:chExt cx="990600" cy="324000"/>
              </a:xfrm>
            </p:grpSpPr>
            <p:sp>
              <p:nvSpPr>
                <p:cNvPr id="332" name="Google Shape;332;p20"/>
                <p:cNvSpPr/>
                <p:nvPr/>
              </p:nvSpPr>
              <p:spPr>
                <a:xfrm>
                  <a:off x="0" y="0"/>
                  <a:ext cx="990600" cy="324000"/>
                </a:xfrm>
                <a:prstGeom prst="roundRect">
                  <a:avLst>
                    <a:gd fmla="val 17647" name="adj"/>
                  </a:avLst>
                </a:prstGeom>
                <a:solidFill>
                  <a:srgbClr val="0B1325"/>
                </a:solidFill>
                <a:ln cap="flat" cmpd="sng" w="14300">
                  <a:solidFill>
                    <a:srgbClr val="38BDF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3" name="Google Shape;333;p20"/>
                <p:cNvSpPr txBox="1"/>
                <p:nvPr/>
              </p:nvSpPr>
              <p:spPr>
                <a:xfrm>
                  <a:off x="0" y="76200"/>
                  <a:ext cx="9906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1000">
                      <a:solidFill>
                        <a:srgbClr val="F8FAFC"/>
                      </a:solidFill>
                      <a:latin typeface="Inter SemiBold"/>
                      <a:ea typeface="Inter SemiBold"/>
                      <a:cs typeface="Inter SemiBold"/>
                      <a:sym typeface="Inter SemiBold"/>
                    </a:rPr>
                    <a:t>In Progress</a:t>
                  </a:r>
                  <a:endParaRPr b="0" sz="1000">
                    <a:solidFill>
                      <a:srgbClr val="F8FAFC"/>
                    </a:solidFill>
                    <a:latin typeface="Inter SemiBold"/>
                    <a:ea typeface="Inter SemiBold"/>
                    <a:cs typeface="Inter SemiBold"/>
                    <a:sym typeface="Inter SemiBold"/>
                  </a:endParaRPr>
                </a:p>
              </p:txBody>
            </p:sp>
          </p:grpSp>
          <p:grpSp>
            <p:nvGrpSpPr>
              <p:cNvPr id="334" name="Google Shape;334;p20"/>
              <p:cNvGrpSpPr/>
              <p:nvPr/>
            </p:nvGrpSpPr>
            <p:grpSpPr>
              <a:xfrm>
                <a:off x="6629400" y="361950"/>
                <a:ext cx="1219200" cy="324000"/>
                <a:chOff x="0" y="0"/>
                <a:chExt cx="1219200" cy="324000"/>
              </a:xfrm>
            </p:grpSpPr>
            <p:sp>
              <p:nvSpPr>
                <p:cNvPr id="335" name="Google Shape;335;p20"/>
                <p:cNvSpPr/>
                <p:nvPr/>
              </p:nvSpPr>
              <p:spPr>
                <a:xfrm>
                  <a:off x="0" y="0"/>
                  <a:ext cx="1219200" cy="324000"/>
                </a:xfrm>
                <a:prstGeom prst="roundRect">
                  <a:avLst>
                    <a:gd fmla="val 17647" name="adj"/>
                  </a:avLst>
                </a:prstGeom>
                <a:solidFill>
                  <a:srgbClr val="0B1325"/>
                </a:solidFill>
                <a:ln cap="flat" cmpd="sng" w="19050">
                  <a:solidFill>
                    <a:srgbClr val="F59E0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6" name="Google Shape;336;p20"/>
                <p:cNvSpPr txBox="1"/>
                <p:nvPr/>
              </p:nvSpPr>
              <p:spPr>
                <a:xfrm>
                  <a:off x="0" y="76200"/>
                  <a:ext cx="12192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1000">
                      <a:solidFill>
                        <a:srgbClr val="F59E0B"/>
                      </a:solidFill>
                      <a:latin typeface="Inter SemiBold"/>
                      <a:ea typeface="Inter SemiBold"/>
                      <a:cs typeface="Inter SemiBold"/>
                      <a:sym typeface="Inter SemiBold"/>
                    </a:rPr>
                    <a:t>Resolved</a:t>
                  </a:r>
                  <a:endParaRPr b="0" sz="1000">
                    <a:solidFill>
                      <a:srgbClr val="F59E0B"/>
                    </a:solidFill>
                    <a:latin typeface="Inter SemiBold"/>
                    <a:ea typeface="Inter SemiBold"/>
                    <a:cs typeface="Inter SemiBold"/>
                    <a:sym typeface="Inter SemiBold"/>
                  </a:endParaRPr>
                </a:p>
              </p:txBody>
            </p:sp>
          </p:grpSp>
          <p:grpSp>
            <p:nvGrpSpPr>
              <p:cNvPr id="337" name="Google Shape;337;p20"/>
              <p:cNvGrpSpPr/>
              <p:nvPr/>
            </p:nvGrpSpPr>
            <p:grpSpPr>
              <a:xfrm>
                <a:off x="1905000" y="952500"/>
                <a:ext cx="857400" cy="266700"/>
                <a:chOff x="0" y="0"/>
                <a:chExt cx="857400" cy="266700"/>
              </a:xfrm>
            </p:grpSpPr>
            <p:sp>
              <p:nvSpPr>
                <p:cNvPr id="338" name="Google Shape;338;p20"/>
                <p:cNvSpPr/>
                <p:nvPr/>
              </p:nvSpPr>
              <p:spPr>
                <a:xfrm>
                  <a:off x="0" y="0"/>
                  <a:ext cx="857400" cy="266700"/>
                </a:xfrm>
                <a:prstGeom prst="roundRect">
                  <a:avLst>
                    <a:gd fmla="val 14285" name="adj"/>
                  </a:avLst>
                </a:prstGeom>
                <a:solidFill>
                  <a:srgbClr val="450A0A"/>
                </a:solidFill>
                <a:ln cap="flat" cmpd="sng" w="9525">
                  <a:solidFill>
                    <a:srgbClr val="EF444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9" name="Google Shape;339;p20"/>
                <p:cNvSpPr txBox="1"/>
                <p:nvPr/>
              </p:nvSpPr>
              <p:spPr>
                <a:xfrm>
                  <a:off x="0" y="47625"/>
                  <a:ext cx="857400" cy="171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00">
                      <a:solidFill>
                        <a:srgbClr val="EF4444"/>
                      </a:solidFill>
                      <a:latin typeface="Inter SemiBold"/>
                      <a:ea typeface="Inter SemiBold"/>
                      <a:cs typeface="Inter SemiBold"/>
                      <a:sym typeface="Inter SemiBold"/>
                    </a:rPr>
                    <a:t>Rejected</a:t>
                  </a:r>
                  <a:endParaRPr b="0" sz="900">
                    <a:solidFill>
                      <a:srgbClr val="EF4444"/>
                    </a:solidFill>
                    <a:latin typeface="Inter SemiBold"/>
                    <a:ea typeface="Inter SemiBold"/>
                    <a:cs typeface="Inter SemiBold"/>
                    <a:sym typeface="Inter SemiBold"/>
                  </a:endParaRPr>
                </a:p>
              </p:txBody>
            </p:sp>
          </p:grpSp>
          <p:pic>
            <p:nvPicPr>
              <p:cNvPr id="340" name="Google Shape;340;p20"/>
              <p:cNvPicPr preferRelativeResize="0"/>
              <p:nvPr/>
            </p:nvPicPr>
            <p:blipFill rotWithShape="1">
              <a:blip r:embed="rId4">
                <a:alphaModFix/>
              </a:blip>
              <a:srcRect b="0" l="0" r="0" t="0"/>
              <a:stretch/>
            </p:blipFill>
            <p:spPr>
              <a:xfrm>
                <a:off x="1914525" y="685800"/>
                <a:ext cx="33300" cy="404700"/>
              </a:xfrm>
              <a:prstGeom prst="rect">
                <a:avLst/>
              </a:prstGeom>
              <a:noFill/>
              <a:ln>
                <a:noFill/>
              </a:ln>
            </p:spPr>
          </p:pic>
          <p:pic>
            <p:nvPicPr>
              <p:cNvPr id="341" name="Google Shape;341;p20"/>
              <p:cNvPicPr preferRelativeResize="0"/>
              <p:nvPr/>
            </p:nvPicPr>
            <p:blipFill rotWithShape="1">
              <a:blip r:embed="rId5">
                <a:alphaModFix/>
              </a:blip>
              <a:srcRect b="0" l="0" r="0" t="0"/>
              <a:stretch/>
            </p:blipFill>
            <p:spPr>
              <a:xfrm>
                <a:off x="2762250" y="790575"/>
                <a:ext cx="480900" cy="300000"/>
              </a:xfrm>
              <a:prstGeom prst="rect">
                <a:avLst/>
              </a:prstGeom>
              <a:noFill/>
              <a:ln>
                <a:noFill/>
              </a:ln>
            </p:spPr>
          </p:pic>
          <p:pic>
            <p:nvPicPr>
              <p:cNvPr id="342" name="Google Shape;342;p20"/>
              <p:cNvPicPr preferRelativeResize="0"/>
              <p:nvPr/>
            </p:nvPicPr>
            <p:blipFill rotWithShape="1">
              <a:blip r:embed="rId6">
                <a:alphaModFix/>
              </a:blip>
              <a:srcRect b="0" l="0" r="0" t="0"/>
              <a:stretch/>
            </p:blipFill>
            <p:spPr>
              <a:xfrm>
                <a:off x="623888" y="738188"/>
                <a:ext cx="1714500" cy="619200"/>
              </a:xfrm>
              <a:prstGeom prst="rect">
                <a:avLst/>
              </a:prstGeom>
              <a:noFill/>
              <a:ln>
                <a:noFill/>
              </a:ln>
            </p:spPr>
          </p:pic>
          <p:sp>
            <p:nvSpPr>
              <p:cNvPr id="343" name="Google Shape;343;p20"/>
              <p:cNvSpPr txBox="1"/>
              <p:nvPr/>
            </p:nvSpPr>
            <p:spPr>
              <a:xfrm>
                <a:off x="857250" y="1200150"/>
                <a:ext cx="1333500" cy="152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800">
                    <a:solidFill>
                      <a:srgbClr val="EF4444"/>
                    </a:solidFill>
                    <a:latin typeface="Inter"/>
                    <a:ea typeface="Inter"/>
                    <a:cs typeface="Inter"/>
                    <a:sym typeface="Inter"/>
                  </a:rPr>
                  <a:t>Tech Declines → Reassign</a:t>
                </a:r>
                <a:endParaRPr b="0" sz="800">
                  <a:solidFill>
                    <a:srgbClr val="EF4444"/>
                  </a:solidFill>
                  <a:latin typeface="Inter"/>
                  <a:ea typeface="Inter"/>
                  <a:cs typeface="Inter"/>
                  <a:sym typeface="Inter"/>
                </a:endParaRPr>
              </a:p>
            </p:txBody>
          </p:sp>
          <p:grpSp>
            <p:nvGrpSpPr>
              <p:cNvPr id="344" name="Google Shape;344;p20"/>
              <p:cNvGrpSpPr/>
              <p:nvPr/>
            </p:nvGrpSpPr>
            <p:grpSpPr>
              <a:xfrm>
                <a:off x="147638" y="909638"/>
                <a:ext cx="1000200" cy="276300"/>
                <a:chOff x="-4762" y="-4762"/>
                <a:chExt cx="1000200" cy="276300"/>
              </a:xfrm>
            </p:grpSpPr>
            <p:pic>
              <p:nvPicPr>
                <p:cNvPr id="345" name="Google Shape;345;p20"/>
                <p:cNvPicPr preferRelativeResize="0"/>
                <p:nvPr/>
              </p:nvPicPr>
              <p:blipFill rotWithShape="1">
                <a:blip r:embed="rId7">
                  <a:alphaModFix/>
                </a:blip>
                <a:srcRect b="0" l="0" r="0" t="0"/>
                <a:stretch/>
              </p:blipFill>
              <p:spPr>
                <a:xfrm>
                  <a:off x="-4762" y="-4762"/>
                  <a:ext cx="1000200" cy="276300"/>
                </a:xfrm>
                <a:prstGeom prst="rect">
                  <a:avLst/>
                </a:prstGeom>
                <a:noFill/>
                <a:ln>
                  <a:noFill/>
                </a:ln>
              </p:spPr>
            </p:pic>
            <p:sp>
              <p:nvSpPr>
                <p:cNvPr id="346" name="Google Shape;346;p20"/>
                <p:cNvSpPr txBox="1"/>
                <p:nvPr/>
              </p:nvSpPr>
              <p:spPr>
                <a:xfrm>
                  <a:off x="0" y="47625"/>
                  <a:ext cx="990600" cy="171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900">
                      <a:solidFill>
                        <a:srgbClr val="94A3B8"/>
                      </a:solidFill>
                      <a:latin typeface="Inter SemiBold"/>
                      <a:ea typeface="Inter SemiBold"/>
                      <a:cs typeface="Inter SemiBold"/>
                      <a:sym typeface="Inter SemiBold"/>
                    </a:rPr>
                    <a:t>Cancelled</a:t>
                  </a:r>
                  <a:endParaRPr b="0" sz="900">
                    <a:solidFill>
                      <a:srgbClr val="94A3B8"/>
                    </a:solidFill>
                    <a:latin typeface="Inter SemiBold"/>
                    <a:ea typeface="Inter SemiBold"/>
                    <a:cs typeface="Inter SemiBold"/>
                    <a:sym typeface="Inter SemiBold"/>
                  </a:endParaRPr>
                </a:p>
              </p:txBody>
            </p:sp>
          </p:grpSp>
          <p:pic>
            <p:nvPicPr>
              <p:cNvPr id="347" name="Google Shape;347;p20"/>
              <p:cNvPicPr preferRelativeResize="0"/>
              <p:nvPr/>
            </p:nvPicPr>
            <p:blipFill rotWithShape="1">
              <a:blip r:embed="rId8">
                <a:alphaModFix/>
              </a:blip>
              <a:srcRect b="0" l="0" r="0" t="0"/>
              <a:stretch/>
            </p:blipFill>
            <p:spPr>
              <a:xfrm>
                <a:off x="623888" y="685800"/>
                <a:ext cx="47700" cy="195300"/>
              </a:xfrm>
              <a:prstGeom prst="rect">
                <a:avLst/>
              </a:prstGeom>
              <a:noFill/>
              <a:ln>
                <a:noFill/>
              </a:ln>
            </p:spPr>
          </p:pic>
          <p:sp>
            <p:nvSpPr>
              <p:cNvPr id="348" name="Google Shape;348;p20"/>
              <p:cNvSpPr txBox="1"/>
              <p:nvPr/>
            </p:nvSpPr>
            <p:spPr>
              <a:xfrm>
                <a:off x="1181100" y="933450"/>
                <a:ext cx="1428900" cy="152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800">
                    <a:solidFill>
                      <a:srgbClr val="94A3B8"/>
                    </a:solidFill>
                    <a:latin typeface="Inter"/>
                    <a:ea typeface="Inter"/>
                    <a:cs typeface="Inter"/>
                    <a:sym typeface="Inter"/>
                  </a:rPr>
                  <a:t>User Abort (Soft-Delete)</a:t>
                </a:r>
                <a:endParaRPr b="0" sz="800">
                  <a:solidFill>
                    <a:srgbClr val="94A3B8"/>
                  </a:solidFill>
                  <a:latin typeface="Inter"/>
                  <a:ea typeface="Inter"/>
                  <a:cs typeface="Inter"/>
                  <a:sym typeface="Inter"/>
                </a:endParaRPr>
              </a:p>
            </p:txBody>
          </p:sp>
        </p:grpSp>
        <p:grpSp>
          <p:nvGrpSpPr>
            <p:cNvPr id="349" name="Google Shape;349;p20"/>
            <p:cNvGrpSpPr/>
            <p:nvPr/>
          </p:nvGrpSpPr>
          <p:grpSpPr>
            <a:xfrm>
              <a:off x="114300" y="1714500"/>
              <a:ext cx="2552700" cy="1828800"/>
              <a:chOff x="0" y="0"/>
              <a:chExt cx="2552700" cy="1828800"/>
            </a:xfrm>
          </p:grpSpPr>
          <p:sp>
            <p:nvSpPr>
              <p:cNvPr id="350" name="Google Shape;350;p20"/>
              <p:cNvSpPr/>
              <p:nvPr/>
            </p:nvSpPr>
            <p:spPr>
              <a:xfrm>
                <a:off x="0" y="0"/>
                <a:ext cx="2552700" cy="1828800"/>
              </a:xfrm>
              <a:prstGeom prst="roundRect">
                <a:avLst>
                  <a:gd fmla="val 4166" name="adj"/>
                </a:avLst>
              </a:prstGeom>
              <a:solidFill>
                <a:srgbClr val="1E293B"/>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1" name="Google Shape;351;p20"/>
              <p:cNvSpPr/>
              <p:nvPr/>
            </p:nvSpPr>
            <p:spPr>
              <a:xfrm>
                <a:off x="0" y="0"/>
                <a:ext cx="2552700" cy="38100"/>
              </a:xfrm>
              <a:prstGeom prst="roundRect">
                <a:avLst>
                  <a:gd fmla="val 50000" name="adj"/>
                </a:avLst>
              </a:prstGeom>
              <a:solidFill>
                <a:srgbClr val="EF44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2" name="Google Shape;352;p20"/>
              <p:cNvSpPr txBox="1"/>
              <p:nvPr/>
            </p:nvSpPr>
            <p:spPr>
              <a:xfrm>
                <a:off x="152400" y="152400"/>
                <a:ext cx="2247900" cy="1524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1300">
                    <a:solidFill>
                      <a:srgbClr val="EF4444"/>
                    </a:solidFill>
                    <a:latin typeface="Outfit SemiBold"/>
                    <a:ea typeface="Outfit SemiBold"/>
                    <a:cs typeface="Outfit SemiBold"/>
                    <a:sym typeface="Outfit SemiBold"/>
                  </a:rPr>
                  <a:t>Race Condition Guard</a:t>
                </a:r>
                <a:endParaRPr b="0" sz="1300">
                  <a:solidFill>
                    <a:srgbClr val="EF4444"/>
                  </a:solidFill>
                  <a:latin typeface="Outfit SemiBold"/>
                  <a:ea typeface="Outfit SemiBold"/>
                  <a:cs typeface="Outfit SemiBold"/>
                  <a:sym typeface="Outfit SemiBold"/>
                </a:endParaRPr>
              </a:p>
              <a:p>
                <a:pPr indent="0" lvl="0" marL="0" rtl="0" algn="l">
                  <a:spcBef>
                    <a:spcPts val="300"/>
                  </a:spcBef>
                  <a:spcAft>
                    <a:spcPts val="0"/>
                  </a:spcAft>
                  <a:buNone/>
                </a:pPr>
                <a:r>
                  <a:rPr b="0" lang="en-GB" sz="1000">
                    <a:solidFill>
                      <a:srgbClr val="38BDF8"/>
                    </a:solidFill>
                    <a:latin typeface="Fira Code"/>
                    <a:ea typeface="Fira Code"/>
                    <a:cs typeface="Fira Code"/>
                    <a:sym typeface="Fira Code"/>
                  </a:rPr>
                  <a:t>HTTP 409 ALREADY_ACCEPTED</a:t>
                </a:r>
                <a:endParaRPr b="0" sz="1000">
                  <a:solidFill>
                    <a:srgbClr val="38BDF8"/>
                  </a:solidFill>
                  <a:latin typeface="Fira Code"/>
                  <a:ea typeface="Fira Code"/>
                  <a:cs typeface="Fira Code"/>
                  <a:sym typeface="Fira Code"/>
                </a:endParaRPr>
              </a:p>
              <a:p>
                <a:pPr indent="0" lvl="0" marL="0" rtl="0" algn="l">
                  <a:spcBef>
                    <a:spcPts val="600"/>
                  </a:spcBef>
                  <a:spcAft>
                    <a:spcPts val="0"/>
                  </a:spcAft>
                  <a:buNone/>
                </a:pPr>
                <a:r>
                  <a:rPr b="0" lang="en-GB" sz="1000">
                    <a:solidFill>
                      <a:srgbClr val="94A3B8"/>
                    </a:solidFill>
                    <a:latin typeface="Inter"/>
                    <a:ea typeface="Inter"/>
                    <a:cs typeface="Inter"/>
                    <a:sym typeface="Inter"/>
                  </a:rPr>
                  <a:t>Actively prevents double acceptance of a fault ticket. If two technicians accept simultaneously, secondary requests are blocked.</a:t>
                </a:r>
                <a:endParaRPr b="0" sz="1000">
                  <a:solidFill>
                    <a:srgbClr val="94A3B8"/>
                  </a:solidFill>
                  <a:latin typeface="Inter"/>
                  <a:ea typeface="Inter"/>
                  <a:cs typeface="Inter"/>
                  <a:sym typeface="Inter"/>
                </a:endParaRPr>
              </a:p>
            </p:txBody>
          </p:sp>
        </p:grpSp>
        <p:grpSp>
          <p:nvGrpSpPr>
            <p:cNvPr id="353" name="Google Shape;353;p20"/>
            <p:cNvGrpSpPr/>
            <p:nvPr/>
          </p:nvGrpSpPr>
          <p:grpSpPr>
            <a:xfrm>
              <a:off x="2838450" y="1714500"/>
              <a:ext cx="2552700" cy="1828800"/>
              <a:chOff x="0" y="0"/>
              <a:chExt cx="2552700" cy="1828800"/>
            </a:xfrm>
          </p:grpSpPr>
          <p:sp>
            <p:nvSpPr>
              <p:cNvPr id="354" name="Google Shape;354;p20"/>
              <p:cNvSpPr/>
              <p:nvPr/>
            </p:nvSpPr>
            <p:spPr>
              <a:xfrm>
                <a:off x="0" y="0"/>
                <a:ext cx="2552700" cy="1828800"/>
              </a:xfrm>
              <a:prstGeom prst="roundRect">
                <a:avLst>
                  <a:gd fmla="val 4166" name="adj"/>
                </a:avLst>
              </a:prstGeom>
              <a:solidFill>
                <a:srgbClr val="1E293B"/>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5" name="Google Shape;355;p20"/>
              <p:cNvSpPr/>
              <p:nvPr/>
            </p:nvSpPr>
            <p:spPr>
              <a:xfrm>
                <a:off x="0" y="0"/>
                <a:ext cx="2552700" cy="38100"/>
              </a:xfrm>
              <a:prstGeom prst="roundRect">
                <a:avLst>
                  <a:gd fmla="val 50000" name="adj"/>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6" name="Google Shape;356;p20"/>
              <p:cNvSpPr txBox="1"/>
              <p:nvPr/>
            </p:nvSpPr>
            <p:spPr>
              <a:xfrm>
                <a:off x="152400" y="152400"/>
                <a:ext cx="2247900" cy="1524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1300">
                    <a:solidFill>
                      <a:srgbClr val="F59E0B"/>
                    </a:solidFill>
                    <a:latin typeface="Outfit SemiBold"/>
                    <a:ea typeface="Outfit SemiBold"/>
                    <a:cs typeface="Outfit SemiBold"/>
                    <a:sym typeface="Outfit SemiBold"/>
                  </a:rPr>
                  <a:t>State Enforcement</a:t>
                </a:r>
                <a:endParaRPr b="0" sz="1300">
                  <a:solidFill>
                    <a:srgbClr val="F59E0B"/>
                  </a:solidFill>
                  <a:latin typeface="Outfit SemiBold"/>
                  <a:ea typeface="Outfit SemiBold"/>
                  <a:cs typeface="Outfit SemiBold"/>
                  <a:sym typeface="Outfit SemiBold"/>
                </a:endParaRPr>
              </a:p>
              <a:p>
                <a:pPr indent="0" lvl="0" marL="0" rtl="0" algn="l">
                  <a:spcBef>
                    <a:spcPts val="300"/>
                  </a:spcBef>
                  <a:spcAft>
                    <a:spcPts val="0"/>
                  </a:spcAft>
                  <a:buNone/>
                </a:pPr>
                <a:r>
                  <a:rPr b="0" lang="en-GB" sz="1000">
                    <a:solidFill>
                      <a:srgbClr val="38BDF8"/>
                    </a:solidFill>
                    <a:latin typeface="Fira Code"/>
                    <a:ea typeface="Fira Code"/>
                    <a:cs typeface="Fira Code"/>
                    <a:sym typeface="Fira Code"/>
                  </a:rPr>
                  <a:t>HTTP 400 INVALID_TRANSITION</a:t>
                </a:r>
                <a:endParaRPr b="0" sz="1000">
                  <a:solidFill>
                    <a:srgbClr val="38BDF8"/>
                  </a:solidFill>
                  <a:latin typeface="Fira Code"/>
                  <a:ea typeface="Fira Code"/>
                  <a:cs typeface="Fira Code"/>
                  <a:sym typeface="Fira Code"/>
                </a:endParaRPr>
              </a:p>
              <a:p>
                <a:pPr indent="0" lvl="0" marL="0" rtl="0" algn="l">
                  <a:spcBef>
                    <a:spcPts val="600"/>
                  </a:spcBef>
                  <a:spcAft>
                    <a:spcPts val="0"/>
                  </a:spcAft>
                  <a:buNone/>
                </a:pPr>
                <a:r>
                  <a:rPr b="0" lang="en-GB" sz="1000">
                    <a:solidFill>
                      <a:srgbClr val="94A3B8"/>
                    </a:solidFill>
                    <a:latin typeface="Inter"/>
                    <a:ea typeface="Inter"/>
                    <a:cs typeface="Inter"/>
                    <a:sym typeface="Inter"/>
                  </a:rPr>
                  <a:t>Blocks unauthorized or illogical state jumps (e.g. Pending directly to Resolved without Acceptance).</a:t>
                </a:r>
                <a:endParaRPr b="0" sz="1000">
                  <a:solidFill>
                    <a:srgbClr val="94A3B8"/>
                  </a:solidFill>
                  <a:latin typeface="Inter"/>
                  <a:ea typeface="Inter"/>
                  <a:cs typeface="Inter"/>
                  <a:sym typeface="Inter"/>
                </a:endParaRPr>
              </a:p>
            </p:txBody>
          </p:sp>
        </p:grpSp>
        <p:grpSp>
          <p:nvGrpSpPr>
            <p:cNvPr id="357" name="Google Shape;357;p20"/>
            <p:cNvGrpSpPr/>
            <p:nvPr/>
          </p:nvGrpSpPr>
          <p:grpSpPr>
            <a:xfrm>
              <a:off x="5562600" y="1714500"/>
              <a:ext cx="2552700" cy="1828800"/>
              <a:chOff x="0" y="0"/>
              <a:chExt cx="2552700" cy="1828800"/>
            </a:xfrm>
          </p:grpSpPr>
          <p:sp>
            <p:nvSpPr>
              <p:cNvPr id="358" name="Google Shape;358;p20"/>
              <p:cNvSpPr/>
              <p:nvPr/>
            </p:nvSpPr>
            <p:spPr>
              <a:xfrm>
                <a:off x="0" y="0"/>
                <a:ext cx="2552700" cy="1828800"/>
              </a:xfrm>
              <a:prstGeom prst="roundRect">
                <a:avLst>
                  <a:gd fmla="val 4166" name="adj"/>
                </a:avLst>
              </a:prstGeom>
              <a:solidFill>
                <a:srgbClr val="1E293B"/>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9" name="Google Shape;359;p20"/>
              <p:cNvSpPr/>
              <p:nvPr/>
            </p:nvSpPr>
            <p:spPr>
              <a:xfrm>
                <a:off x="0" y="0"/>
                <a:ext cx="2552700" cy="38100"/>
              </a:xfrm>
              <a:prstGeom prst="roundRect">
                <a:avLst>
                  <a:gd fmla="val 50000" name="adj"/>
                </a:avLst>
              </a:prstGeom>
              <a:solidFill>
                <a:srgbClr val="38BDF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0" name="Google Shape;360;p20"/>
              <p:cNvSpPr txBox="1"/>
              <p:nvPr/>
            </p:nvSpPr>
            <p:spPr>
              <a:xfrm>
                <a:off x="152400" y="152400"/>
                <a:ext cx="2247900" cy="1524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1300">
                    <a:solidFill>
                      <a:srgbClr val="38BDF8"/>
                    </a:solidFill>
                    <a:latin typeface="Outfit SemiBold"/>
                    <a:ea typeface="Outfit SemiBold"/>
                    <a:cs typeface="Outfit SemiBold"/>
                    <a:sym typeface="Outfit SemiBold"/>
                  </a:rPr>
                  <a:t>Audit Logging</a:t>
                </a:r>
                <a:endParaRPr b="0" sz="1300">
                  <a:solidFill>
                    <a:srgbClr val="38BDF8"/>
                  </a:solidFill>
                  <a:latin typeface="Outfit SemiBold"/>
                  <a:ea typeface="Outfit SemiBold"/>
                  <a:cs typeface="Outfit SemiBold"/>
                  <a:sym typeface="Outfit SemiBold"/>
                </a:endParaRPr>
              </a:p>
              <a:p>
                <a:pPr indent="0" lvl="0" marL="0" rtl="0" algn="l">
                  <a:spcBef>
                    <a:spcPts val="300"/>
                  </a:spcBef>
                  <a:spcAft>
                    <a:spcPts val="0"/>
                  </a:spcAft>
                  <a:buNone/>
                </a:pPr>
                <a:r>
                  <a:rPr b="0" lang="en-GB" sz="1000">
                    <a:solidFill>
                      <a:srgbClr val="38BDF8"/>
                    </a:solidFill>
                    <a:latin typeface="Fira Code"/>
                    <a:ea typeface="Fira Code"/>
                    <a:cs typeface="Fira Code"/>
                    <a:sym typeface="Fira Code"/>
                  </a:rPr>
                  <a:t>statusHistory: [] Array</a:t>
                </a:r>
                <a:endParaRPr b="0" sz="1000">
                  <a:solidFill>
                    <a:srgbClr val="38BDF8"/>
                  </a:solidFill>
                  <a:latin typeface="Fira Code"/>
                  <a:ea typeface="Fira Code"/>
                  <a:cs typeface="Fira Code"/>
                  <a:sym typeface="Fira Code"/>
                </a:endParaRPr>
              </a:p>
              <a:p>
                <a:pPr indent="0" lvl="0" marL="0" rtl="0" algn="l">
                  <a:spcBef>
                    <a:spcPts val="600"/>
                  </a:spcBef>
                  <a:spcAft>
                    <a:spcPts val="0"/>
                  </a:spcAft>
                  <a:buNone/>
                </a:pPr>
                <a:r>
                  <a:rPr b="0" lang="en-GB" sz="1000">
                    <a:solidFill>
                      <a:srgbClr val="94A3B8"/>
                    </a:solidFill>
                    <a:latin typeface="Inter"/>
                    <a:ea typeface="Inter"/>
                    <a:cs typeface="Inter"/>
                    <a:sym typeface="Inter"/>
                  </a:rPr>
                  <a:t>Every lifecycle transition is permanently appended into an immutable status history array for system accountability.</a:t>
                </a:r>
                <a:endParaRPr b="0" sz="1000">
                  <a:solidFill>
                    <a:srgbClr val="94A3B8"/>
                  </a:solidFill>
                  <a:latin typeface="Inter"/>
                  <a:ea typeface="Inter"/>
                  <a:cs typeface="Inter"/>
                  <a:sym typeface="Inter"/>
                </a:endParaRPr>
              </a:p>
            </p:txBody>
          </p:sp>
        </p:grpSp>
      </p:grpSp>
      <p:grpSp>
        <p:nvGrpSpPr>
          <p:cNvPr id="361" name="Google Shape;361;p20"/>
          <p:cNvGrpSpPr/>
          <p:nvPr/>
        </p:nvGrpSpPr>
        <p:grpSpPr>
          <a:xfrm>
            <a:off x="457200" y="4762500"/>
            <a:ext cx="8229600" cy="285750"/>
            <a:chOff x="457200" y="4762500"/>
            <a:chExt cx="8229600" cy="285750"/>
          </a:xfrm>
        </p:grpSpPr>
        <p:sp>
          <p:nvSpPr>
            <p:cNvPr id="362" name="Google Shape;362;p20"/>
            <p:cNvSpPr/>
            <p:nvPr/>
          </p:nvSpPr>
          <p:spPr>
            <a:xfrm>
              <a:off x="457200" y="4762500"/>
              <a:ext cx="8229600" cy="9600"/>
            </a:xfrm>
            <a:prstGeom prst="rect">
              <a:avLst/>
            </a:prstGeom>
            <a:solidFill>
              <a:srgbClr val="F59E0B">
                <a:alpha val="5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3" name="Google Shape;363;p20"/>
            <p:cNvSpPr txBox="1"/>
            <p:nvPr/>
          </p:nvSpPr>
          <p:spPr>
            <a:xfrm>
              <a:off x="457200" y="485775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1000">
                  <a:solidFill>
                    <a:srgbClr val="94A3B8"/>
                  </a:solidFill>
                  <a:latin typeface="Inter SemiBold"/>
                  <a:ea typeface="Inter SemiBold"/>
                  <a:cs typeface="Inter SemiBold"/>
                  <a:sym typeface="Inter SemiBold"/>
                </a:rPr>
                <a:t>Smart EB Connect | FSD Architecture</a:t>
              </a:r>
              <a:endParaRPr b="0" sz="1000">
                <a:solidFill>
                  <a:srgbClr val="94A3B8"/>
                </a:solidFill>
                <a:latin typeface="Inter SemiBold"/>
                <a:ea typeface="Inter SemiBold"/>
                <a:cs typeface="Inter SemiBold"/>
                <a:sym typeface="Inter SemiBold"/>
              </a:endParaRPr>
            </a:p>
          </p:txBody>
        </p:sp>
        <p:sp>
          <p:nvSpPr>
            <p:cNvPr id="364" name="Google Shape;364;p20"/>
            <p:cNvSpPr txBox="1"/>
            <p:nvPr/>
          </p:nvSpPr>
          <p:spPr>
            <a:xfrm>
              <a:off x="4876800" y="485775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GB" sz="1000">
                  <a:solidFill>
                    <a:srgbClr val="94A3B8"/>
                  </a:solidFill>
                  <a:latin typeface="Inter SemiBold"/>
                  <a:ea typeface="Inter SemiBold"/>
                  <a:cs typeface="Inter SemiBold"/>
                  <a:sym typeface="Inter SemiBold"/>
                </a:rPr>
                <a:t>State Machine &amp; Concurrency</a:t>
              </a:r>
              <a:endParaRPr b="0" sz="1000">
                <a:solidFill>
                  <a:srgbClr val="94A3B8"/>
                </a:solidFill>
                <a:latin typeface="Inter SemiBold"/>
                <a:ea typeface="Inter SemiBold"/>
                <a:cs typeface="Inter SemiBold"/>
                <a:sym typeface="Inter SemiBold"/>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325"/>
        </a:solidFill>
      </p:bgPr>
    </p:bg>
    <p:spTree>
      <p:nvGrpSpPr>
        <p:cNvPr id="368" name="Shape 368"/>
        <p:cNvGrpSpPr/>
        <p:nvPr/>
      </p:nvGrpSpPr>
      <p:grpSpPr>
        <a:xfrm>
          <a:off x="0" y="0"/>
          <a:ext cx="0" cy="0"/>
          <a:chOff x="0" y="0"/>
          <a:chExt cx="0" cy="0"/>
        </a:xfrm>
      </p:grpSpPr>
      <p:sp>
        <p:nvSpPr>
          <p:cNvPr id="369" name="Google Shape;369;p21"/>
          <p:cNvSpPr/>
          <p:nvPr/>
        </p:nvSpPr>
        <p:spPr>
          <a:xfrm>
            <a:off x="0" y="0"/>
            <a:ext cx="9144000" cy="5143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370" name="Google Shape;370;p21"/>
          <p:cNvGrpSpPr/>
          <p:nvPr/>
        </p:nvGrpSpPr>
        <p:grpSpPr>
          <a:xfrm>
            <a:off x="457200" y="4762500"/>
            <a:ext cx="8229600" cy="285750"/>
            <a:chOff x="457200" y="4762500"/>
            <a:chExt cx="8229600" cy="285750"/>
          </a:xfrm>
        </p:grpSpPr>
        <p:sp>
          <p:nvSpPr>
            <p:cNvPr id="371" name="Google Shape;371;p21"/>
            <p:cNvSpPr/>
            <p:nvPr/>
          </p:nvSpPr>
          <p:spPr>
            <a:xfrm>
              <a:off x="457200" y="4762500"/>
              <a:ext cx="8229600" cy="9600"/>
            </a:xfrm>
            <a:prstGeom prst="rect">
              <a:avLst/>
            </a:prstGeom>
            <a:solidFill>
              <a:srgbClr val="F59E0B">
                <a:alpha val="5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2" name="Google Shape;372;p21"/>
            <p:cNvSpPr txBox="1"/>
            <p:nvPr/>
          </p:nvSpPr>
          <p:spPr>
            <a:xfrm>
              <a:off x="457200" y="485775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900">
                  <a:solidFill>
                    <a:srgbClr val="94A3B8"/>
                  </a:solidFill>
                  <a:latin typeface="Inter SemiBold"/>
                  <a:ea typeface="Inter SemiBold"/>
                  <a:cs typeface="Inter SemiBold"/>
                  <a:sym typeface="Inter SemiBold"/>
                </a:rPr>
                <a:t>Smart EB Connect | Backend REST API Architecture</a:t>
              </a:r>
              <a:endParaRPr b="0" sz="900">
                <a:solidFill>
                  <a:srgbClr val="94A3B8"/>
                </a:solidFill>
                <a:latin typeface="Inter SemiBold"/>
                <a:ea typeface="Inter SemiBold"/>
                <a:cs typeface="Inter SemiBold"/>
                <a:sym typeface="Inter SemiBold"/>
              </a:endParaRPr>
            </a:p>
          </p:txBody>
        </p:sp>
        <p:sp>
          <p:nvSpPr>
            <p:cNvPr id="373" name="Google Shape;373;p21"/>
            <p:cNvSpPr txBox="1"/>
            <p:nvPr/>
          </p:nvSpPr>
          <p:spPr>
            <a:xfrm>
              <a:off x="4876800" y="485775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GB" sz="900">
                  <a:solidFill>
                    <a:srgbClr val="94A3B8"/>
                  </a:solidFill>
                  <a:latin typeface="Inter SemiBold"/>
                  <a:ea typeface="Inter SemiBold"/>
                  <a:cs typeface="Inter SemiBold"/>
                  <a:sym typeface="Inter SemiBold"/>
                </a:rPr>
                <a:t>17 Endpoints | RBAC Middleware</a:t>
              </a:r>
              <a:endParaRPr b="0" sz="900">
                <a:solidFill>
                  <a:srgbClr val="94A3B8"/>
                </a:solidFill>
                <a:latin typeface="Inter SemiBold"/>
                <a:ea typeface="Inter SemiBold"/>
                <a:cs typeface="Inter SemiBold"/>
                <a:sym typeface="Inter SemiBold"/>
              </a:endParaRPr>
            </a:p>
          </p:txBody>
        </p:sp>
      </p:grpSp>
      <p:grpSp>
        <p:nvGrpSpPr>
          <p:cNvPr id="374" name="Google Shape;374;p21"/>
          <p:cNvGrpSpPr/>
          <p:nvPr/>
        </p:nvGrpSpPr>
        <p:grpSpPr>
          <a:xfrm>
            <a:off x="457200" y="228600"/>
            <a:ext cx="876300" cy="38100"/>
            <a:chOff x="0" y="0"/>
            <a:chExt cx="876300" cy="38100"/>
          </a:xfrm>
        </p:grpSpPr>
        <p:sp>
          <p:nvSpPr>
            <p:cNvPr id="375" name="Google Shape;375;p21"/>
            <p:cNvSpPr/>
            <p:nvPr/>
          </p:nvSpPr>
          <p:spPr>
            <a:xfrm>
              <a:off x="0" y="0"/>
              <a:ext cx="571500" cy="38100"/>
            </a:xfrm>
            <a:prstGeom prst="roundRect">
              <a:avLst>
                <a:gd fmla="val 50000" name="adj"/>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6" name="Google Shape;376;p21"/>
            <p:cNvSpPr/>
            <p:nvPr/>
          </p:nvSpPr>
          <p:spPr>
            <a:xfrm>
              <a:off x="609600" y="0"/>
              <a:ext cx="152400" cy="38100"/>
            </a:xfrm>
            <a:prstGeom prst="roundRect">
              <a:avLst>
                <a:gd fmla="val 50000" name="adj"/>
              </a:avLst>
            </a:prstGeom>
            <a:solidFill>
              <a:srgbClr val="38BDF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7" name="Google Shape;377;p21"/>
            <p:cNvSpPr/>
            <p:nvPr/>
          </p:nvSpPr>
          <p:spPr>
            <a:xfrm>
              <a:off x="800100" y="0"/>
              <a:ext cx="76200" cy="38100"/>
            </a:xfrm>
            <a:prstGeom prst="roundRect">
              <a:avLst>
                <a:gd fmla="val 50000" name="adj"/>
              </a:avLst>
            </a:prstGeom>
            <a:solidFill>
              <a:srgbClr val="38BDF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378" name="Google Shape;378;p21"/>
          <p:cNvSpPr txBox="1"/>
          <p:nvPr/>
        </p:nvSpPr>
        <p:spPr>
          <a:xfrm>
            <a:off x="457200" y="323850"/>
            <a:ext cx="8229600" cy="342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2220">
                <a:solidFill>
                  <a:srgbClr val="F8FAFC"/>
                </a:solidFill>
                <a:latin typeface="Outfit"/>
                <a:ea typeface="Outfit"/>
                <a:cs typeface="Outfit"/>
                <a:sym typeface="Outfit"/>
              </a:rPr>
              <a:t>REST API Overview (17 Endpoints)</a:t>
            </a:r>
            <a:endParaRPr b="1" sz="2220">
              <a:solidFill>
                <a:srgbClr val="F8FAFC"/>
              </a:solidFill>
              <a:latin typeface="Outfit"/>
              <a:ea typeface="Outfit"/>
              <a:cs typeface="Outfit"/>
              <a:sym typeface="Outfit"/>
            </a:endParaRPr>
          </a:p>
        </p:txBody>
      </p:sp>
      <p:sp>
        <p:nvSpPr>
          <p:cNvPr id="379" name="Google Shape;379;p21"/>
          <p:cNvSpPr txBox="1"/>
          <p:nvPr/>
        </p:nvSpPr>
        <p:spPr>
          <a:xfrm>
            <a:off x="457200" y="685800"/>
            <a:ext cx="8229600" cy="228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1018">
                <a:solidFill>
                  <a:srgbClr val="94A3B8"/>
                </a:solidFill>
                <a:latin typeface="Inter"/>
                <a:ea typeface="Inter"/>
                <a:cs typeface="Inter"/>
                <a:sym typeface="Inter"/>
              </a:rPr>
              <a:t>The backend architecture exposes 17 distinct RESTful endpoints, logically grouped by resource and secured via RBAC middleware:</a:t>
            </a:r>
            <a:endParaRPr b="0" sz="1018">
              <a:solidFill>
                <a:srgbClr val="94A3B8"/>
              </a:solidFill>
              <a:latin typeface="Inter"/>
              <a:ea typeface="Inter"/>
              <a:cs typeface="Inter"/>
              <a:sym typeface="Inter"/>
            </a:endParaRPr>
          </a:p>
        </p:txBody>
      </p:sp>
      <p:grpSp>
        <p:nvGrpSpPr>
          <p:cNvPr id="380" name="Google Shape;380;p21"/>
          <p:cNvGrpSpPr/>
          <p:nvPr/>
        </p:nvGrpSpPr>
        <p:grpSpPr>
          <a:xfrm>
            <a:off x="457200" y="971550"/>
            <a:ext cx="4000500" cy="1086000"/>
            <a:chOff x="0" y="0"/>
            <a:chExt cx="4000500" cy="1086000"/>
          </a:xfrm>
        </p:grpSpPr>
        <p:sp>
          <p:nvSpPr>
            <p:cNvPr id="381" name="Google Shape;381;p21"/>
            <p:cNvSpPr/>
            <p:nvPr/>
          </p:nvSpPr>
          <p:spPr>
            <a:xfrm>
              <a:off x="0" y="0"/>
              <a:ext cx="4000500" cy="1086000"/>
            </a:xfrm>
            <a:prstGeom prst="roundRect">
              <a:avLst>
                <a:gd fmla="val 5263" name="adj"/>
              </a:avLst>
            </a:prstGeom>
            <a:solidFill>
              <a:srgbClr val="1E293B"/>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2" name="Google Shape;382;p21"/>
            <p:cNvSpPr/>
            <p:nvPr/>
          </p:nvSpPr>
          <p:spPr>
            <a:xfrm>
              <a:off x="0" y="0"/>
              <a:ext cx="4000500" cy="28500"/>
            </a:xfrm>
            <a:prstGeom prst="roundRect">
              <a:avLst>
                <a:gd fmla="val 33333" name="adj"/>
              </a:avLst>
            </a:prstGeom>
            <a:solidFill>
              <a:srgbClr val="38BDF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3" name="Google Shape;383;p21"/>
            <p:cNvSpPr txBox="1"/>
            <p:nvPr/>
          </p:nvSpPr>
          <p:spPr>
            <a:xfrm>
              <a:off x="133350" y="76200"/>
              <a:ext cx="37338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1200">
                  <a:solidFill>
                    <a:srgbClr val="F59E0B"/>
                  </a:solidFill>
                  <a:latin typeface="Outfit SemiBold"/>
                  <a:ea typeface="Outfit SemiBold"/>
                  <a:cs typeface="Outfit SemiBold"/>
                  <a:sym typeface="Outfit SemiBold"/>
                </a:rPr>
                <a:t>Authentication &amp; Identity (Auth)</a:t>
              </a:r>
              <a:endParaRPr b="0" sz="1200">
                <a:solidFill>
                  <a:srgbClr val="F59E0B"/>
                </a:solidFill>
                <a:latin typeface="Outfit SemiBold"/>
                <a:ea typeface="Outfit SemiBold"/>
                <a:cs typeface="Outfit SemiBold"/>
                <a:sym typeface="Outfit SemiBold"/>
              </a:endParaRPr>
            </a:p>
          </p:txBody>
        </p:sp>
        <p:grpSp>
          <p:nvGrpSpPr>
            <p:cNvPr id="384" name="Google Shape;384;p21"/>
            <p:cNvGrpSpPr/>
            <p:nvPr/>
          </p:nvGrpSpPr>
          <p:grpSpPr>
            <a:xfrm>
              <a:off x="133350" y="304800"/>
              <a:ext cx="3733800" cy="171600"/>
              <a:chOff x="0" y="0"/>
              <a:chExt cx="3733800" cy="171600"/>
            </a:xfrm>
          </p:grpSpPr>
          <p:sp>
            <p:nvSpPr>
              <p:cNvPr id="385" name="Google Shape;385;p21"/>
              <p:cNvSpPr/>
              <p:nvPr/>
            </p:nvSpPr>
            <p:spPr>
              <a:xfrm>
                <a:off x="0" y="0"/>
                <a:ext cx="438300" cy="171600"/>
              </a:xfrm>
              <a:prstGeom prst="roundRect">
                <a:avLst>
                  <a:gd fmla="val 16666" name="adj"/>
                </a:avLst>
              </a:prstGeom>
              <a:solidFill>
                <a:srgbClr val="38BDF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6" name="Google Shape;386;p21"/>
              <p:cNvSpPr txBox="1"/>
              <p:nvPr/>
            </p:nvSpPr>
            <p:spPr>
              <a:xfrm>
                <a:off x="0" y="0"/>
                <a:ext cx="438300" cy="171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750">
                    <a:solidFill>
                      <a:srgbClr val="0B1325"/>
                    </a:solidFill>
                    <a:latin typeface="Inter"/>
                    <a:ea typeface="Inter"/>
                    <a:cs typeface="Inter"/>
                    <a:sym typeface="Inter"/>
                  </a:rPr>
                  <a:t>POST</a:t>
                </a:r>
                <a:endParaRPr b="1" sz="750">
                  <a:solidFill>
                    <a:srgbClr val="0B1325"/>
                  </a:solidFill>
                  <a:latin typeface="Inter"/>
                  <a:ea typeface="Inter"/>
                  <a:cs typeface="Inter"/>
                  <a:sym typeface="Inter"/>
                </a:endParaRPr>
              </a:p>
            </p:txBody>
          </p:sp>
          <p:sp>
            <p:nvSpPr>
              <p:cNvPr id="387" name="Google Shape;387;p21"/>
              <p:cNvSpPr txBox="1"/>
              <p:nvPr/>
            </p:nvSpPr>
            <p:spPr>
              <a:xfrm>
                <a:off x="495300" y="0"/>
                <a:ext cx="3238500" cy="171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GB" sz="786">
                    <a:solidFill>
                      <a:srgbClr val="38BDF8"/>
                    </a:solidFill>
                    <a:latin typeface="Fira Code Medium"/>
                    <a:ea typeface="Fira Code Medium"/>
                    <a:cs typeface="Fira Code Medium"/>
                    <a:sym typeface="Fira Code Medium"/>
                  </a:rPr>
                  <a:t>/api/auth/register</a:t>
                </a:r>
                <a:r>
                  <a:rPr lang="en-GB" sz="786"/>
                  <a:t> </a:t>
                </a:r>
                <a:r>
                  <a:rPr b="0" lang="en-GB" sz="740">
                    <a:solidFill>
                      <a:srgbClr val="94A3B8"/>
                    </a:solidFill>
                    <a:latin typeface="Inter"/>
                    <a:ea typeface="Inter"/>
                    <a:cs typeface="Inter"/>
                    <a:sym typeface="Inter"/>
                  </a:rPr>
                  <a:t>— Creates new users with hashed passwords</a:t>
                </a:r>
                <a:endParaRPr sz="786"/>
              </a:p>
            </p:txBody>
          </p:sp>
        </p:grpSp>
        <p:grpSp>
          <p:nvGrpSpPr>
            <p:cNvPr id="388" name="Google Shape;388;p21"/>
            <p:cNvGrpSpPr/>
            <p:nvPr/>
          </p:nvGrpSpPr>
          <p:grpSpPr>
            <a:xfrm>
              <a:off x="133350" y="514350"/>
              <a:ext cx="3733800" cy="171600"/>
              <a:chOff x="0" y="0"/>
              <a:chExt cx="3733800" cy="171600"/>
            </a:xfrm>
          </p:grpSpPr>
          <p:sp>
            <p:nvSpPr>
              <p:cNvPr id="389" name="Google Shape;389;p21"/>
              <p:cNvSpPr/>
              <p:nvPr/>
            </p:nvSpPr>
            <p:spPr>
              <a:xfrm>
                <a:off x="0" y="0"/>
                <a:ext cx="438300" cy="171600"/>
              </a:xfrm>
              <a:prstGeom prst="roundRect">
                <a:avLst>
                  <a:gd fmla="val 16666" name="adj"/>
                </a:avLst>
              </a:prstGeom>
              <a:solidFill>
                <a:srgbClr val="38BDF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0" name="Google Shape;390;p21"/>
              <p:cNvSpPr txBox="1"/>
              <p:nvPr/>
            </p:nvSpPr>
            <p:spPr>
              <a:xfrm>
                <a:off x="0" y="0"/>
                <a:ext cx="438300" cy="171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750">
                    <a:solidFill>
                      <a:srgbClr val="0B1325"/>
                    </a:solidFill>
                    <a:latin typeface="Inter"/>
                    <a:ea typeface="Inter"/>
                    <a:cs typeface="Inter"/>
                    <a:sym typeface="Inter"/>
                  </a:rPr>
                  <a:t>POST</a:t>
                </a:r>
                <a:endParaRPr b="1" sz="750">
                  <a:solidFill>
                    <a:srgbClr val="0B1325"/>
                  </a:solidFill>
                  <a:latin typeface="Inter"/>
                  <a:ea typeface="Inter"/>
                  <a:cs typeface="Inter"/>
                  <a:sym typeface="Inter"/>
                </a:endParaRPr>
              </a:p>
            </p:txBody>
          </p:sp>
          <p:sp>
            <p:nvSpPr>
              <p:cNvPr id="391" name="Google Shape;391;p21"/>
              <p:cNvSpPr txBox="1"/>
              <p:nvPr/>
            </p:nvSpPr>
            <p:spPr>
              <a:xfrm>
                <a:off x="495300" y="0"/>
                <a:ext cx="3238500" cy="171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GB" sz="850">
                    <a:solidFill>
                      <a:srgbClr val="38BDF8"/>
                    </a:solidFill>
                    <a:latin typeface="Fira Code Medium"/>
                    <a:ea typeface="Fira Code Medium"/>
                    <a:cs typeface="Fira Code Medium"/>
                    <a:sym typeface="Fira Code Medium"/>
                  </a:rPr>
                  <a:t>/api/auth/login</a:t>
                </a:r>
                <a:r>
                  <a:rPr lang="en-GB" sz="850"/>
                  <a:t> </a:t>
                </a:r>
                <a:r>
                  <a:rPr b="0" lang="en-GB" sz="800">
                    <a:solidFill>
                      <a:srgbClr val="94A3B8"/>
                    </a:solidFill>
                    <a:latin typeface="Inter"/>
                    <a:ea typeface="Inter"/>
                    <a:cs typeface="Inter"/>
                    <a:sym typeface="Inter"/>
                  </a:rPr>
                  <a:t>— Authenticates credentials &amp; issues JWTs</a:t>
                </a:r>
                <a:endParaRPr sz="850"/>
              </a:p>
            </p:txBody>
          </p:sp>
        </p:grpSp>
        <p:grpSp>
          <p:nvGrpSpPr>
            <p:cNvPr id="392" name="Google Shape;392;p21"/>
            <p:cNvGrpSpPr/>
            <p:nvPr/>
          </p:nvGrpSpPr>
          <p:grpSpPr>
            <a:xfrm>
              <a:off x="133350" y="723900"/>
              <a:ext cx="3733800" cy="171600"/>
              <a:chOff x="0" y="0"/>
              <a:chExt cx="3733800" cy="171600"/>
            </a:xfrm>
          </p:grpSpPr>
          <p:sp>
            <p:nvSpPr>
              <p:cNvPr id="393" name="Google Shape;393;p21"/>
              <p:cNvSpPr/>
              <p:nvPr/>
            </p:nvSpPr>
            <p:spPr>
              <a:xfrm>
                <a:off x="0" y="0"/>
                <a:ext cx="438300" cy="171600"/>
              </a:xfrm>
              <a:prstGeom prst="roundRect">
                <a:avLst>
                  <a:gd fmla="val 16666" name="adj"/>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4" name="Google Shape;394;p21"/>
              <p:cNvSpPr txBox="1"/>
              <p:nvPr/>
            </p:nvSpPr>
            <p:spPr>
              <a:xfrm>
                <a:off x="0" y="0"/>
                <a:ext cx="438300" cy="171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750">
                    <a:solidFill>
                      <a:srgbClr val="0B1325"/>
                    </a:solidFill>
                    <a:latin typeface="Inter"/>
                    <a:ea typeface="Inter"/>
                    <a:cs typeface="Inter"/>
                    <a:sym typeface="Inter"/>
                  </a:rPr>
                  <a:t>GET</a:t>
                </a:r>
                <a:endParaRPr b="1" sz="750">
                  <a:solidFill>
                    <a:srgbClr val="0B1325"/>
                  </a:solidFill>
                  <a:latin typeface="Inter"/>
                  <a:ea typeface="Inter"/>
                  <a:cs typeface="Inter"/>
                  <a:sym typeface="Inter"/>
                </a:endParaRPr>
              </a:p>
            </p:txBody>
          </p:sp>
          <p:sp>
            <p:nvSpPr>
              <p:cNvPr id="395" name="Google Shape;395;p21"/>
              <p:cNvSpPr txBox="1"/>
              <p:nvPr/>
            </p:nvSpPr>
            <p:spPr>
              <a:xfrm>
                <a:off x="495300" y="0"/>
                <a:ext cx="3238500" cy="171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GB" sz="850">
                    <a:solidFill>
                      <a:srgbClr val="38BDF8"/>
                    </a:solidFill>
                    <a:latin typeface="Fira Code Medium"/>
                    <a:ea typeface="Fira Code Medium"/>
                    <a:cs typeface="Fira Code Medium"/>
                    <a:sym typeface="Fira Code Medium"/>
                  </a:rPr>
                  <a:t>/api/auth/me</a:t>
                </a:r>
                <a:r>
                  <a:rPr lang="en-GB" sz="850"/>
                  <a:t> </a:t>
                </a:r>
                <a:r>
                  <a:rPr b="0" lang="en-GB" sz="800">
                    <a:solidFill>
                      <a:srgbClr val="94A3B8"/>
                    </a:solidFill>
                    <a:latin typeface="Inter"/>
                    <a:ea typeface="Inter"/>
                    <a:cs typeface="Inter"/>
                    <a:sym typeface="Inter"/>
                  </a:rPr>
                  <a:t>— Retrieves current authenticated profile</a:t>
                </a:r>
                <a:endParaRPr sz="850"/>
              </a:p>
            </p:txBody>
          </p:sp>
        </p:grpSp>
      </p:grpSp>
      <p:grpSp>
        <p:nvGrpSpPr>
          <p:cNvPr id="396" name="Google Shape;396;p21"/>
          <p:cNvGrpSpPr/>
          <p:nvPr/>
        </p:nvGrpSpPr>
        <p:grpSpPr>
          <a:xfrm>
            <a:off x="457200" y="2152650"/>
            <a:ext cx="4000500" cy="2495700"/>
            <a:chOff x="0" y="0"/>
            <a:chExt cx="4000500" cy="2495700"/>
          </a:xfrm>
        </p:grpSpPr>
        <p:sp>
          <p:nvSpPr>
            <p:cNvPr id="397" name="Google Shape;397;p21"/>
            <p:cNvSpPr/>
            <p:nvPr/>
          </p:nvSpPr>
          <p:spPr>
            <a:xfrm>
              <a:off x="0" y="0"/>
              <a:ext cx="4000500" cy="2495700"/>
            </a:xfrm>
            <a:prstGeom prst="roundRect">
              <a:avLst>
                <a:gd fmla="val 2290" name="adj"/>
              </a:avLst>
            </a:prstGeom>
            <a:solidFill>
              <a:srgbClr val="1E293B"/>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8" name="Google Shape;398;p21"/>
            <p:cNvSpPr/>
            <p:nvPr/>
          </p:nvSpPr>
          <p:spPr>
            <a:xfrm>
              <a:off x="0" y="0"/>
              <a:ext cx="4000500" cy="28500"/>
            </a:xfrm>
            <a:prstGeom prst="roundRect">
              <a:avLst>
                <a:gd fmla="val 33333" name="adj"/>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9" name="Google Shape;399;p21"/>
            <p:cNvSpPr txBox="1"/>
            <p:nvPr/>
          </p:nvSpPr>
          <p:spPr>
            <a:xfrm>
              <a:off x="133350" y="76200"/>
              <a:ext cx="37338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1200">
                  <a:solidFill>
                    <a:srgbClr val="F59E0B"/>
                  </a:solidFill>
                  <a:latin typeface="Outfit SemiBold"/>
                  <a:ea typeface="Outfit SemiBold"/>
                  <a:cs typeface="Outfit SemiBold"/>
                  <a:sym typeface="Outfit SemiBold"/>
                </a:rPr>
                <a:t>Complaint Management</a:t>
              </a:r>
              <a:endParaRPr b="0" sz="1200">
                <a:solidFill>
                  <a:srgbClr val="F59E0B"/>
                </a:solidFill>
                <a:latin typeface="Outfit SemiBold"/>
                <a:ea typeface="Outfit SemiBold"/>
                <a:cs typeface="Outfit SemiBold"/>
                <a:sym typeface="Outfit SemiBold"/>
              </a:endParaRPr>
            </a:p>
          </p:txBody>
        </p:sp>
        <p:grpSp>
          <p:nvGrpSpPr>
            <p:cNvPr id="400" name="Google Shape;400;p21"/>
            <p:cNvGrpSpPr/>
            <p:nvPr/>
          </p:nvGrpSpPr>
          <p:grpSpPr>
            <a:xfrm>
              <a:off x="133350" y="285750"/>
              <a:ext cx="3733800" cy="171600"/>
              <a:chOff x="0" y="0"/>
              <a:chExt cx="3733800" cy="171600"/>
            </a:xfrm>
          </p:grpSpPr>
          <p:sp>
            <p:nvSpPr>
              <p:cNvPr id="401" name="Google Shape;401;p21"/>
              <p:cNvSpPr/>
              <p:nvPr/>
            </p:nvSpPr>
            <p:spPr>
              <a:xfrm>
                <a:off x="0" y="0"/>
                <a:ext cx="438300" cy="171600"/>
              </a:xfrm>
              <a:prstGeom prst="roundRect">
                <a:avLst>
                  <a:gd fmla="val 16666" name="adj"/>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2" name="Google Shape;402;p21"/>
              <p:cNvSpPr txBox="1"/>
              <p:nvPr/>
            </p:nvSpPr>
            <p:spPr>
              <a:xfrm>
                <a:off x="0" y="0"/>
                <a:ext cx="438300" cy="171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750">
                    <a:solidFill>
                      <a:srgbClr val="0B1325"/>
                    </a:solidFill>
                    <a:latin typeface="Inter"/>
                    <a:ea typeface="Inter"/>
                    <a:cs typeface="Inter"/>
                    <a:sym typeface="Inter"/>
                  </a:rPr>
                  <a:t>GET</a:t>
                </a:r>
                <a:endParaRPr b="1" sz="750">
                  <a:solidFill>
                    <a:srgbClr val="0B1325"/>
                  </a:solidFill>
                  <a:latin typeface="Inter"/>
                  <a:ea typeface="Inter"/>
                  <a:cs typeface="Inter"/>
                  <a:sym typeface="Inter"/>
                </a:endParaRPr>
              </a:p>
            </p:txBody>
          </p:sp>
          <p:sp>
            <p:nvSpPr>
              <p:cNvPr id="403" name="Google Shape;403;p21"/>
              <p:cNvSpPr txBox="1"/>
              <p:nvPr/>
            </p:nvSpPr>
            <p:spPr>
              <a:xfrm>
                <a:off x="495300" y="0"/>
                <a:ext cx="3238500" cy="171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GB" sz="850">
                    <a:solidFill>
                      <a:srgbClr val="38BDF8"/>
                    </a:solidFill>
                    <a:latin typeface="Fira Code Medium"/>
                    <a:ea typeface="Fira Code Medium"/>
                    <a:cs typeface="Fira Code Medium"/>
                    <a:sym typeface="Fira Code Medium"/>
                  </a:rPr>
                  <a:t>/api/complaints</a:t>
                </a:r>
                <a:r>
                  <a:rPr lang="en-GB" sz="850"/>
                  <a:t> </a:t>
                </a:r>
                <a:r>
                  <a:rPr b="0" lang="en-GB" sz="800">
                    <a:solidFill>
                      <a:srgbClr val="94A3B8"/>
                    </a:solidFill>
                    <a:latin typeface="Inter"/>
                    <a:ea typeface="Inter"/>
                    <a:cs typeface="Inter"/>
                    <a:sym typeface="Inter"/>
                  </a:rPr>
                  <a:t>— Fetches complaint lists (role filtered)</a:t>
                </a:r>
                <a:endParaRPr sz="850"/>
              </a:p>
            </p:txBody>
          </p:sp>
        </p:grpSp>
        <p:grpSp>
          <p:nvGrpSpPr>
            <p:cNvPr id="404" name="Google Shape;404;p21"/>
            <p:cNvGrpSpPr/>
            <p:nvPr/>
          </p:nvGrpSpPr>
          <p:grpSpPr>
            <a:xfrm>
              <a:off x="133350" y="495300"/>
              <a:ext cx="3733800" cy="171600"/>
              <a:chOff x="0" y="0"/>
              <a:chExt cx="3733800" cy="171600"/>
            </a:xfrm>
          </p:grpSpPr>
          <p:sp>
            <p:nvSpPr>
              <p:cNvPr id="405" name="Google Shape;405;p21"/>
              <p:cNvSpPr/>
              <p:nvPr/>
            </p:nvSpPr>
            <p:spPr>
              <a:xfrm>
                <a:off x="0" y="0"/>
                <a:ext cx="438300" cy="171600"/>
              </a:xfrm>
              <a:prstGeom prst="roundRect">
                <a:avLst>
                  <a:gd fmla="val 16666" name="adj"/>
                </a:avLst>
              </a:prstGeom>
              <a:solidFill>
                <a:srgbClr val="38BDF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6" name="Google Shape;406;p21"/>
              <p:cNvSpPr txBox="1"/>
              <p:nvPr/>
            </p:nvSpPr>
            <p:spPr>
              <a:xfrm>
                <a:off x="0" y="0"/>
                <a:ext cx="438300" cy="171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750">
                    <a:solidFill>
                      <a:srgbClr val="0B1325"/>
                    </a:solidFill>
                    <a:latin typeface="Inter"/>
                    <a:ea typeface="Inter"/>
                    <a:cs typeface="Inter"/>
                    <a:sym typeface="Inter"/>
                  </a:rPr>
                  <a:t>POST</a:t>
                </a:r>
                <a:endParaRPr b="1" sz="750">
                  <a:solidFill>
                    <a:srgbClr val="0B1325"/>
                  </a:solidFill>
                  <a:latin typeface="Inter"/>
                  <a:ea typeface="Inter"/>
                  <a:cs typeface="Inter"/>
                  <a:sym typeface="Inter"/>
                </a:endParaRPr>
              </a:p>
            </p:txBody>
          </p:sp>
          <p:sp>
            <p:nvSpPr>
              <p:cNvPr id="407" name="Google Shape;407;p21"/>
              <p:cNvSpPr txBox="1"/>
              <p:nvPr/>
            </p:nvSpPr>
            <p:spPr>
              <a:xfrm>
                <a:off x="495300" y="0"/>
                <a:ext cx="3238500" cy="171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GB" sz="850">
                    <a:solidFill>
                      <a:srgbClr val="38BDF8"/>
                    </a:solidFill>
                    <a:latin typeface="Fira Code Medium"/>
                    <a:ea typeface="Fira Code Medium"/>
                    <a:cs typeface="Fira Code Medium"/>
                    <a:sym typeface="Fira Code Medium"/>
                  </a:rPr>
                  <a:t>/api/complaints</a:t>
                </a:r>
                <a:r>
                  <a:rPr lang="en-GB" sz="850"/>
                  <a:t> </a:t>
                </a:r>
                <a:r>
                  <a:rPr b="0" lang="en-GB" sz="800">
                    <a:solidFill>
                      <a:srgbClr val="94A3B8"/>
                    </a:solidFill>
                    <a:latin typeface="Inter"/>
                    <a:ea typeface="Inter"/>
                    <a:cs typeface="Inter"/>
                    <a:sym typeface="Inter"/>
                  </a:rPr>
                  <a:t>— Submits a new fault report</a:t>
                </a:r>
                <a:endParaRPr sz="850"/>
              </a:p>
            </p:txBody>
          </p:sp>
        </p:grpSp>
        <p:grpSp>
          <p:nvGrpSpPr>
            <p:cNvPr id="408" name="Google Shape;408;p21"/>
            <p:cNvGrpSpPr/>
            <p:nvPr/>
          </p:nvGrpSpPr>
          <p:grpSpPr>
            <a:xfrm>
              <a:off x="133350" y="704850"/>
              <a:ext cx="3733800" cy="171600"/>
              <a:chOff x="0" y="0"/>
              <a:chExt cx="3733800" cy="171600"/>
            </a:xfrm>
          </p:grpSpPr>
          <p:sp>
            <p:nvSpPr>
              <p:cNvPr id="409" name="Google Shape;409;p21"/>
              <p:cNvSpPr/>
              <p:nvPr/>
            </p:nvSpPr>
            <p:spPr>
              <a:xfrm>
                <a:off x="0" y="0"/>
                <a:ext cx="438300" cy="171600"/>
              </a:xfrm>
              <a:prstGeom prst="roundRect">
                <a:avLst>
                  <a:gd fmla="val 16666" name="adj"/>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0" name="Google Shape;410;p21"/>
              <p:cNvSpPr txBox="1"/>
              <p:nvPr/>
            </p:nvSpPr>
            <p:spPr>
              <a:xfrm>
                <a:off x="0" y="0"/>
                <a:ext cx="438300" cy="171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750">
                    <a:solidFill>
                      <a:srgbClr val="0B1325"/>
                    </a:solidFill>
                    <a:latin typeface="Inter"/>
                    <a:ea typeface="Inter"/>
                    <a:cs typeface="Inter"/>
                    <a:sym typeface="Inter"/>
                  </a:rPr>
                  <a:t>GET</a:t>
                </a:r>
                <a:endParaRPr b="1" sz="750">
                  <a:solidFill>
                    <a:srgbClr val="0B1325"/>
                  </a:solidFill>
                  <a:latin typeface="Inter"/>
                  <a:ea typeface="Inter"/>
                  <a:cs typeface="Inter"/>
                  <a:sym typeface="Inter"/>
                </a:endParaRPr>
              </a:p>
            </p:txBody>
          </p:sp>
          <p:sp>
            <p:nvSpPr>
              <p:cNvPr id="411" name="Google Shape;411;p21"/>
              <p:cNvSpPr txBox="1"/>
              <p:nvPr/>
            </p:nvSpPr>
            <p:spPr>
              <a:xfrm>
                <a:off x="495300" y="0"/>
                <a:ext cx="3238500" cy="171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GB" sz="850">
                    <a:solidFill>
                      <a:srgbClr val="38BDF8"/>
                    </a:solidFill>
                    <a:latin typeface="Fira Code Medium"/>
                    <a:ea typeface="Fira Code Medium"/>
                    <a:cs typeface="Fira Code Medium"/>
                    <a:sym typeface="Fira Code Medium"/>
                  </a:rPr>
                  <a:t>/api/complaints/:id</a:t>
                </a:r>
                <a:r>
                  <a:rPr lang="en-GB" sz="850"/>
                  <a:t> </a:t>
                </a:r>
                <a:r>
                  <a:rPr b="0" lang="en-GB" sz="800">
                    <a:solidFill>
                      <a:srgbClr val="94A3B8"/>
                    </a:solidFill>
                    <a:latin typeface="Inter"/>
                    <a:ea typeface="Inter"/>
                    <a:cs typeface="Inter"/>
                    <a:sym typeface="Inter"/>
                  </a:rPr>
                  <a:t>— Retrieves detailed complaint data</a:t>
                </a:r>
                <a:endParaRPr sz="850"/>
              </a:p>
            </p:txBody>
          </p:sp>
        </p:grpSp>
        <p:grpSp>
          <p:nvGrpSpPr>
            <p:cNvPr id="412" name="Google Shape;412;p21"/>
            <p:cNvGrpSpPr/>
            <p:nvPr/>
          </p:nvGrpSpPr>
          <p:grpSpPr>
            <a:xfrm>
              <a:off x="133350" y="914400"/>
              <a:ext cx="3733800" cy="171600"/>
              <a:chOff x="0" y="0"/>
              <a:chExt cx="3733800" cy="171600"/>
            </a:xfrm>
          </p:grpSpPr>
          <p:sp>
            <p:nvSpPr>
              <p:cNvPr id="413" name="Google Shape;413;p21"/>
              <p:cNvSpPr/>
              <p:nvPr/>
            </p:nvSpPr>
            <p:spPr>
              <a:xfrm>
                <a:off x="0" y="0"/>
                <a:ext cx="438300" cy="171600"/>
              </a:xfrm>
              <a:prstGeom prst="roundRect">
                <a:avLst>
                  <a:gd fmla="val 16666" name="adj"/>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4" name="Google Shape;414;p21"/>
              <p:cNvSpPr txBox="1"/>
              <p:nvPr/>
            </p:nvSpPr>
            <p:spPr>
              <a:xfrm>
                <a:off x="0" y="0"/>
                <a:ext cx="438300" cy="171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750">
                    <a:solidFill>
                      <a:srgbClr val="0B1325"/>
                    </a:solidFill>
                    <a:latin typeface="Inter"/>
                    <a:ea typeface="Inter"/>
                    <a:cs typeface="Inter"/>
                    <a:sym typeface="Inter"/>
                  </a:rPr>
                  <a:t>PATCH</a:t>
                </a:r>
                <a:endParaRPr b="1" sz="750">
                  <a:solidFill>
                    <a:srgbClr val="0B1325"/>
                  </a:solidFill>
                  <a:latin typeface="Inter"/>
                  <a:ea typeface="Inter"/>
                  <a:cs typeface="Inter"/>
                  <a:sym typeface="Inter"/>
                </a:endParaRPr>
              </a:p>
            </p:txBody>
          </p:sp>
          <p:sp>
            <p:nvSpPr>
              <p:cNvPr id="415" name="Google Shape;415;p21"/>
              <p:cNvSpPr txBox="1"/>
              <p:nvPr/>
            </p:nvSpPr>
            <p:spPr>
              <a:xfrm>
                <a:off x="495300" y="0"/>
                <a:ext cx="3238500" cy="171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GB" sz="850">
                    <a:solidFill>
                      <a:srgbClr val="38BDF8"/>
                    </a:solidFill>
                    <a:latin typeface="Fira Code Medium"/>
                    <a:ea typeface="Fira Code Medium"/>
                    <a:cs typeface="Fira Code Medium"/>
                    <a:sym typeface="Fira Code Medium"/>
                  </a:rPr>
                  <a:t>/api/complaints/:id</a:t>
                </a:r>
                <a:r>
                  <a:rPr lang="en-GB" sz="850"/>
                  <a:t> </a:t>
                </a:r>
                <a:r>
                  <a:rPr b="0" lang="en-GB" sz="800">
                    <a:solidFill>
                      <a:srgbClr val="94A3B8"/>
                    </a:solidFill>
                    <a:latin typeface="Inter"/>
                    <a:ea typeface="Inter"/>
                    <a:cs typeface="Inter"/>
                    <a:sym typeface="Inter"/>
                  </a:rPr>
                  <a:t>— Updates complaint details</a:t>
                </a:r>
                <a:endParaRPr sz="850"/>
              </a:p>
            </p:txBody>
          </p:sp>
        </p:grpSp>
        <p:grpSp>
          <p:nvGrpSpPr>
            <p:cNvPr id="416" name="Google Shape;416;p21"/>
            <p:cNvGrpSpPr/>
            <p:nvPr/>
          </p:nvGrpSpPr>
          <p:grpSpPr>
            <a:xfrm>
              <a:off x="133350" y="1123950"/>
              <a:ext cx="3733800" cy="171600"/>
              <a:chOff x="0" y="0"/>
              <a:chExt cx="3733800" cy="171600"/>
            </a:xfrm>
          </p:grpSpPr>
          <p:sp>
            <p:nvSpPr>
              <p:cNvPr id="417" name="Google Shape;417;p21"/>
              <p:cNvSpPr/>
              <p:nvPr/>
            </p:nvSpPr>
            <p:spPr>
              <a:xfrm>
                <a:off x="0" y="0"/>
                <a:ext cx="438300" cy="171600"/>
              </a:xfrm>
              <a:prstGeom prst="roundRect">
                <a:avLst>
                  <a:gd fmla="val 16666" name="adj"/>
                </a:avLst>
              </a:prstGeom>
              <a:solidFill>
                <a:srgbClr val="EF44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8" name="Google Shape;418;p21"/>
              <p:cNvSpPr txBox="1"/>
              <p:nvPr/>
            </p:nvSpPr>
            <p:spPr>
              <a:xfrm>
                <a:off x="0" y="0"/>
                <a:ext cx="438300" cy="171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750">
                    <a:solidFill>
                      <a:srgbClr val="F8FAFC"/>
                    </a:solidFill>
                    <a:latin typeface="Inter"/>
                    <a:ea typeface="Inter"/>
                    <a:cs typeface="Inter"/>
                    <a:sym typeface="Inter"/>
                  </a:rPr>
                  <a:t>DELETE</a:t>
                </a:r>
                <a:endParaRPr b="1" sz="750">
                  <a:solidFill>
                    <a:srgbClr val="F8FAFC"/>
                  </a:solidFill>
                  <a:latin typeface="Inter"/>
                  <a:ea typeface="Inter"/>
                  <a:cs typeface="Inter"/>
                  <a:sym typeface="Inter"/>
                </a:endParaRPr>
              </a:p>
            </p:txBody>
          </p:sp>
          <p:sp>
            <p:nvSpPr>
              <p:cNvPr id="419" name="Google Shape;419;p21"/>
              <p:cNvSpPr txBox="1"/>
              <p:nvPr/>
            </p:nvSpPr>
            <p:spPr>
              <a:xfrm>
                <a:off x="495300" y="0"/>
                <a:ext cx="3238500" cy="171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GB" sz="850">
                    <a:solidFill>
                      <a:srgbClr val="38BDF8"/>
                    </a:solidFill>
                    <a:latin typeface="Fira Code Medium"/>
                    <a:ea typeface="Fira Code Medium"/>
                    <a:cs typeface="Fira Code Medium"/>
                    <a:sym typeface="Fira Code Medium"/>
                  </a:rPr>
                  <a:t>/api/complaints/:id</a:t>
                </a:r>
                <a:r>
                  <a:rPr lang="en-GB" sz="850"/>
                  <a:t> </a:t>
                </a:r>
                <a:r>
                  <a:rPr b="0" lang="en-GB" sz="800">
                    <a:solidFill>
                      <a:srgbClr val="94A3B8"/>
                    </a:solidFill>
                    <a:latin typeface="Inter"/>
                    <a:ea typeface="Inter"/>
                    <a:cs typeface="Inter"/>
                    <a:sym typeface="Inter"/>
                  </a:rPr>
                  <a:t>— Soft-deletes/cancels a complaint</a:t>
                </a:r>
                <a:endParaRPr sz="850"/>
              </a:p>
            </p:txBody>
          </p:sp>
        </p:grpSp>
        <p:grpSp>
          <p:nvGrpSpPr>
            <p:cNvPr id="420" name="Google Shape;420;p21"/>
            <p:cNvGrpSpPr/>
            <p:nvPr/>
          </p:nvGrpSpPr>
          <p:grpSpPr>
            <a:xfrm>
              <a:off x="133350" y="1333500"/>
              <a:ext cx="3733800" cy="171600"/>
              <a:chOff x="0" y="0"/>
              <a:chExt cx="3733800" cy="171600"/>
            </a:xfrm>
          </p:grpSpPr>
          <p:sp>
            <p:nvSpPr>
              <p:cNvPr id="421" name="Google Shape;421;p21"/>
              <p:cNvSpPr/>
              <p:nvPr/>
            </p:nvSpPr>
            <p:spPr>
              <a:xfrm>
                <a:off x="0" y="0"/>
                <a:ext cx="438300" cy="171600"/>
              </a:xfrm>
              <a:prstGeom prst="roundRect">
                <a:avLst>
                  <a:gd fmla="val 16666" name="adj"/>
                </a:avLst>
              </a:prstGeom>
              <a:solidFill>
                <a:srgbClr val="38BDF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2" name="Google Shape;422;p21"/>
              <p:cNvSpPr txBox="1"/>
              <p:nvPr/>
            </p:nvSpPr>
            <p:spPr>
              <a:xfrm>
                <a:off x="0" y="0"/>
                <a:ext cx="438300" cy="171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750">
                    <a:solidFill>
                      <a:srgbClr val="0B1325"/>
                    </a:solidFill>
                    <a:latin typeface="Inter"/>
                    <a:ea typeface="Inter"/>
                    <a:cs typeface="Inter"/>
                    <a:sym typeface="Inter"/>
                  </a:rPr>
                  <a:t>POST</a:t>
                </a:r>
                <a:endParaRPr b="1" sz="750">
                  <a:solidFill>
                    <a:srgbClr val="0B1325"/>
                  </a:solidFill>
                  <a:latin typeface="Inter"/>
                  <a:ea typeface="Inter"/>
                  <a:cs typeface="Inter"/>
                  <a:sym typeface="Inter"/>
                </a:endParaRPr>
              </a:p>
            </p:txBody>
          </p:sp>
          <p:sp>
            <p:nvSpPr>
              <p:cNvPr id="423" name="Google Shape;423;p21"/>
              <p:cNvSpPr txBox="1"/>
              <p:nvPr/>
            </p:nvSpPr>
            <p:spPr>
              <a:xfrm>
                <a:off x="495300" y="0"/>
                <a:ext cx="3238500" cy="171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GB" sz="850">
                    <a:solidFill>
                      <a:srgbClr val="38BDF8"/>
                    </a:solidFill>
                    <a:latin typeface="Fira Code Medium"/>
                    <a:ea typeface="Fira Code Medium"/>
                    <a:cs typeface="Fira Code Medium"/>
                    <a:sym typeface="Fira Code Medium"/>
                  </a:rPr>
                  <a:t>/api/complaints/:id/assign</a:t>
                </a:r>
                <a:r>
                  <a:rPr lang="en-GB" sz="850"/>
                  <a:t> </a:t>
                </a:r>
                <a:r>
                  <a:rPr b="0" lang="en-GB" sz="800">
                    <a:solidFill>
                      <a:srgbClr val="94A3B8"/>
                    </a:solidFill>
                    <a:latin typeface="Inter"/>
                    <a:ea typeface="Inter"/>
                    <a:cs typeface="Inter"/>
                    <a:sym typeface="Inter"/>
                  </a:rPr>
                  <a:t>— Assigns technician to fault</a:t>
                </a:r>
                <a:endParaRPr sz="850"/>
              </a:p>
            </p:txBody>
          </p:sp>
        </p:grpSp>
        <p:grpSp>
          <p:nvGrpSpPr>
            <p:cNvPr id="424" name="Google Shape;424;p21"/>
            <p:cNvGrpSpPr/>
            <p:nvPr/>
          </p:nvGrpSpPr>
          <p:grpSpPr>
            <a:xfrm>
              <a:off x="133350" y="1543050"/>
              <a:ext cx="3733800" cy="171600"/>
              <a:chOff x="0" y="0"/>
              <a:chExt cx="3733800" cy="171600"/>
            </a:xfrm>
          </p:grpSpPr>
          <p:sp>
            <p:nvSpPr>
              <p:cNvPr id="425" name="Google Shape;425;p21"/>
              <p:cNvSpPr/>
              <p:nvPr/>
            </p:nvSpPr>
            <p:spPr>
              <a:xfrm>
                <a:off x="0" y="0"/>
                <a:ext cx="438300" cy="171600"/>
              </a:xfrm>
              <a:prstGeom prst="roundRect">
                <a:avLst>
                  <a:gd fmla="val 16666" name="adj"/>
                </a:avLst>
              </a:prstGeom>
              <a:solidFill>
                <a:srgbClr val="38BDF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6" name="Google Shape;426;p21"/>
              <p:cNvSpPr txBox="1"/>
              <p:nvPr/>
            </p:nvSpPr>
            <p:spPr>
              <a:xfrm>
                <a:off x="0" y="0"/>
                <a:ext cx="438300" cy="171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750">
                    <a:solidFill>
                      <a:srgbClr val="0B1325"/>
                    </a:solidFill>
                    <a:latin typeface="Inter"/>
                    <a:ea typeface="Inter"/>
                    <a:cs typeface="Inter"/>
                    <a:sym typeface="Inter"/>
                  </a:rPr>
                  <a:t>POST</a:t>
                </a:r>
                <a:endParaRPr b="1" sz="750">
                  <a:solidFill>
                    <a:srgbClr val="0B1325"/>
                  </a:solidFill>
                  <a:latin typeface="Inter"/>
                  <a:ea typeface="Inter"/>
                  <a:cs typeface="Inter"/>
                  <a:sym typeface="Inter"/>
                </a:endParaRPr>
              </a:p>
            </p:txBody>
          </p:sp>
          <p:sp>
            <p:nvSpPr>
              <p:cNvPr id="427" name="Google Shape;427;p21"/>
              <p:cNvSpPr txBox="1"/>
              <p:nvPr/>
            </p:nvSpPr>
            <p:spPr>
              <a:xfrm>
                <a:off x="495300" y="0"/>
                <a:ext cx="3238500" cy="171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GB" sz="786">
                    <a:solidFill>
                      <a:srgbClr val="38BDF8"/>
                    </a:solidFill>
                    <a:latin typeface="Fira Code Medium"/>
                    <a:ea typeface="Fira Code Medium"/>
                    <a:cs typeface="Fira Code Medium"/>
                    <a:sym typeface="Fira Code Medium"/>
                  </a:rPr>
                  <a:t>/api/complaints/:id/accept</a:t>
                </a:r>
                <a:r>
                  <a:rPr lang="en-GB" sz="786"/>
                  <a:t> </a:t>
                </a:r>
                <a:r>
                  <a:rPr b="0" lang="en-GB" sz="740">
                    <a:solidFill>
                      <a:srgbClr val="94A3B8"/>
                    </a:solidFill>
                    <a:latin typeface="Inter"/>
                    <a:ea typeface="Inter"/>
                    <a:cs typeface="Inter"/>
                    <a:sym typeface="Inter"/>
                  </a:rPr>
                  <a:t>— Technician accepts assignment</a:t>
                </a:r>
                <a:endParaRPr sz="786"/>
              </a:p>
            </p:txBody>
          </p:sp>
        </p:grpSp>
        <p:grpSp>
          <p:nvGrpSpPr>
            <p:cNvPr id="428" name="Google Shape;428;p21"/>
            <p:cNvGrpSpPr/>
            <p:nvPr/>
          </p:nvGrpSpPr>
          <p:grpSpPr>
            <a:xfrm>
              <a:off x="133350" y="1752600"/>
              <a:ext cx="3733800" cy="171600"/>
              <a:chOff x="0" y="0"/>
              <a:chExt cx="3733800" cy="171600"/>
            </a:xfrm>
          </p:grpSpPr>
          <p:sp>
            <p:nvSpPr>
              <p:cNvPr id="429" name="Google Shape;429;p21"/>
              <p:cNvSpPr/>
              <p:nvPr/>
            </p:nvSpPr>
            <p:spPr>
              <a:xfrm>
                <a:off x="0" y="0"/>
                <a:ext cx="438300" cy="171600"/>
              </a:xfrm>
              <a:prstGeom prst="roundRect">
                <a:avLst>
                  <a:gd fmla="val 16666" name="adj"/>
                </a:avLst>
              </a:prstGeom>
              <a:solidFill>
                <a:srgbClr val="38BDF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0" name="Google Shape;430;p21"/>
              <p:cNvSpPr txBox="1"/>
              <p:nvPr/>
            </p:nvSpPr>
            <p:spPr>
              <a:xfrm>
                <a:off x="0" y="0"/>
                <a:ext cx="438300" cy="171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750">
                    <a:solidFill>
                      <a:srgbClr val="0B1325"/>
                    </a:solidFill>
                    <a:latin typeface="Inter"/>
                    <a:ea typeface="Inter"/>
                    <a:cs typeface="Inter"/>
                    <a:sym typeface="Inter"/>
                  </a:rPr>
                  <a:t>POST</a:t>
                </a:r>
                <a:endParaRPr b="1" sz="750">
                  <a:solidFill>
                    <a:srgbClr val="0B1325"/>
                  </a:solidFill>
                  <a:latin typeface="Inter"/>
                  <a:ea typeface="Inter"/>
                  <a:cs typeface="Inter"/>
                  <a:sym typeface="Inter"/>
                </a:endParaRPr>
              </a:p>
            </p:txBody>
          </p:sp>
          <p:sp>
            <p:nvSpPr>
              <p:cNvPr id="431" name="Google Shape;431;p21"/>
              <p:cNvSpPr txBox="1"/>
              <p:nvPr/>
            </p:nvSpPr>
            <p:spPr>
              <a:xfrm>
                <a:off x="495300" y="0"/>
                <a:ext cx="3238500" cy="171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GB" sz="786">
                    <a:solidFill>
                      <a:srgbClr val="38BDF8"/>
                    </a:solidFill>
                    <a:latin typeface="Fira Code Medium"/>
                    <a:ea typeface="Fira Code Medium"/>
                    <a:cs typeface="Fira Code Medium"/>
                    <a:sym typeface="Fira Code Medium"/>
                  </a:rPr>
                  <a:t>/api/complaints/:id/reject</a:t>
                </a:r>
                <a:r>
                  <a:rPr lang="en-GB" sz="786"/>
                  <a:t> </a:t>
                </a:r>
                <a:r>
                  <a:rPr b="0" lang="en-GB" sz="740">
                    <a:solidFill>
                      <a:srgbClr val="94A3B8"/>
                    </a:solidFill>
                    <a:latin typeface="Inter"/>
                    <a:ea typeface="Inter"/>
                    <a:cs typeface="Inter"/>
                    <a:sym typeface="Inter"/>
                  </a:rPr>
                  <a:t>— Technician declines assignment</a:t>
                </a:r>
                <a:endParaRPr sz="786"/>
              </a:p>
            </p:txBody>
          </p:sp>
        </p:grpSp>
      </p:grpSp>
      <p:grpSp>
        <p:nvGrpSpPr>
          <p:cNvPr id="432" name="Google Shape;432;p21"/>
          <p:cNvGrpSpPr/>
          <p:nvPr/>
        </p:nvGrpSpPr>
        <p:grpSpPr>
          <a:xfrm>
            <a:off x="4686300" y="971550"/>
            <a:ext cx="4000500" cy="1086000"/>
            <a:chOff x="0" y="0"/>
            <a:chExt cx="4000500" cy="1086000"/>
          </a:xfrm>
        </p:grpSpPr>
        <p:sp>
          <p:nvSpPr>
            <p:cNvPr id="433" name="Google Shape;433;p21"/>
            <p:cNvSpPr/>
            <p:nvPr/>
          </p:nvSpPr>
          <p:spPr>
            <a:xfrm>
              <a:off x="0" y="0"/>
              <a:ext cx="4000500" cy="1086000"/>
            </a:xfrm>
            <a:prstGeom prst="roundRect">
              <a:avLst>
                <a:gd fmla="val 5263" name="adj"/>
              </a:avLst>
            </a:prstGeom>
            <a:solidFill>
              <a:srgbClr val="1E293B"/>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4" name="Google Shape;434;p21"/>
            <p:cNvSpPr/>
            <p:nvPr/>
          </p:nvSpPr>
          <p:spPr>
            <a:xfrm>
              <a:off x="0" y="0"/>
              <a:ext cx="4000500" cy="28500"/>
            </a:xfrm>
            <a:prstGeom prst="roundRect">
              <a:avLst>
                <a:gd fmla="val 33333" name="adj"/>
              </a:avLst>
            </a:prstGeom>
            <a:solidFill>
              <a:srgbClr val="38BDF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5" name="Google Shape;435;p21"/>
            <p:cNvSpPr txBox="1"/>
            <p:nvPr/>
          </p:nvSpPr>
          <p:spPr>
            <a:xfrm>
              <a:off x="133350" y="76200"/>
              <a:ext cx="37338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1200">
                  <a:solidFill>
                    <a:srgbClr val="F59E0B"/>
                  </a:solidFill>
                  <a:latin typeface="Outfit SemiBold"/>
                  <a:ea typeface="Outfit SemiBold"/>
                  <a:cs typeface="Outfit SemiBold"/>
                  <a:sym typeface="Outfit SemiBold"/>
                </a:rPr>
                <a:t>Technician Operations</a:t>
              </a:r>
              <a:endParaRPr b="0" sz="1200">
                <a:solidFill>
                  <a:srgbClr val="F59E0B"/>
                </a:solidFill>
                <a:latin typeface="Outfit SemiBold"/>
                <a:ea typeface="Outfit SemiBold"/>
                <a:cs typeface="Outfit SemiBold"/>
                <a:sym typeface="Outfit SemiBold"/>
              </a:endParaRPr>
            </a:p>
          </p:txBody>
        </p:sp>
        <p:grpSp>
          <p:nvGrpSpPr>
            <p:cNvPr id="436" name="Google Shape;436;p21"/>
            <p:cNvGrpSpPr/>
            <p:nvPr/>
          </p:nvGrpSpPr>
          <p:grpSpPr>
            <a:xfrm>
              <a:off x="133350" y="304800"/>
              <a:ext cx="3733800" cy="171600"/>
              <a:chOff x="0" y="0"/>
              <a:chExt cx="3733800" cy="171600"/>
            </a:xfrm>
          </p:grpSpPr>
          <p:sp>
            <p:nvSpPr>
              <p:cNvPr id="437" name="Google Shape;437;p21"/>
              <p:cNvSpPr/>
              <p:nvPr/>
            </p:nvSpPr>
            <p:spPr>
              <a:xfrm>
                <a:off x="0" y="0"/>
                <a:ext cx="438300" cy="171600"/>
              </a:xfrm>
              <a:prstGeom prst="roundRect">
                <a:avLst>
                  <a:gd fmla="val 16666" name="adj"/>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8" name="Google Shape;438;p21"/>
              <p:cNvSpPr txBox="1"/>
              <p:nvPr/>
            </p:nvSpPr>
            <p:spPr>
              <a:xfrm>
                <a:off x="0" y="0"/>
                <a:ext cx="438300" cy="171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750">
                    <a:solidFill>
                      <a:srgbClr val="0B1325"/>
                    </a:solidFill>
                    <a:latin typeface="Inter"/>
                    <a:ea typeface="Inter"/>
                    <a:cs typeface="Inter"/>
                    <a:sym typeface="Inter"/>
                  </a:rPr>
                  <a:t>GET</a:t>
                </a:r>
                <a:endParaRPr b="1" sz="750">
                  <a:solidFill>
                    <a:srgbClr val="0B1325"/>
                  </a:solidFill>
                  <a:latin typeface="Inter"/>
                  <a:ea typeface="Inter"/>
                  <a:cs typeface="Inter"/>
                  <a:sym typeface="Inter"/>
                </a:endParaRPr>
              </a:p>
            </p:txBody>
          </p:sp>
          <p:sp>
            <p:nvSpPr>
              <p:cNvPr id="439" name="Google Shape;439;p21"/>
              <p:cNvSpPr txBox="1"/>
              <p:nvPr/>
            </p:nvSpPr>
            <p:spPr>
              <a:xfrm>
                <a:off x="495300" y="0"/>
                <a:ext cx="3238500" cy="171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GB" sz="786">
                    <a:solidFill>
                      <a:srgbClr val="38BDF8"/>
                    </a:solidFill>
                    <a:latin typeface="Fira Code Medium"/>
                    <a:ea typeface="Fira Code Medium"/>
                    <a:cs typeface="Fira Code Medium"/>
                    <a:sym typeface="Fira Code Medium"/>
                  </a:rPr>
                  <a:t>/api/technicians/nearby</a:t>
                </a:r>
                <a:r>
                  <a:rPr lang="en-GB" sz="786"/>
                  <a:t> </a:t>
                </a:r>
                <a:r>
                  <a:rPr b="0" lang="en-GB" sz="740">
                    <a:solidFill>
                      <a:srgbClr val="94A3B8"/>
                    </a:solidFill>
                    <a:latin typeface="Inter"/>
                    <a:ea typeface="Inter"/>
                    <a:cs typeface="Inter"/>
                    <a:sym typeface="Inter"/>
                  </a:rPr>
                  <a:t>— Geospatial queries for local techs</a:t>
                </a:r>
                <a:endParaRPr sz="786"/>
              </a:p>
            </p:txBody>
          </p:sp>
        </p:grpSp>
        <p:grpSp>
          <p:nvGrpSpPr>
            <p:cNvPr id="440" name="Google Shape;440;p21"/>
            <p:cNvGrpSpPr/>
            <p:nvPr/>
          </p:nvGrpSpPr>
          <p:grpSpPr>
            <a:xfrm>
              <a:off x="133350" y="514350"/>
              <a:ext cx="3733800" cy="171600"/>
              <a:chOff x="0" y="0"/>
              <a:chExt cx="3733800" cy="171600"/>
            </a:xfrm>
          </p:grpSpPr>
          <p:sp>
            <p:nvSpPr>
              <p:cNvPr id="441" name="Google Shape;441;p21"/>
              <p:cNvSpPr/>
              <p:nvPr/>
            </p:nvSpPr>
            <p:spPr>
              <a:xfrm>
                <a:off x="0" y="0"/>
                <a:ext cx="438300" cy="171600"/>
              </a:xfrm>
              <a:prstGeom prst="roundRect">
                <a:avLst>
                  <a:gd fmla="val 16666" name="adj"/>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2" name="Google Shape;442;p21"/>
              <p:cNvSpPr txBox="1"/>
              <p:nvPr/>
            </p:nvSpPr>
            <p:spPr>
              <a:xfrm>
                <a:off x="0" y="0"/>
                <a:ext cx="438300" cy="171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750">
                    <a:solidFill>
                      <a:srgbClr val="0B1325"/>
                    </a:solidFill>
                    <a:latin typeface="Inter"/>
                    <a:ea typeface="Inter"/>
                    <a:cs typeface="Inter"/>
                    <a:sym typeface="Inter"/>
                  </a:rPr>
                  <a:t>PATCH</a:t>
                </a:r>
                <a:endParaRPr b="1" sz="750">
                  <a:solidFill>
                    <a:srgbClr val="0B1325"/>
                  </a:solidFill>
                  <a:latin typeface="Inter"/>
                  <a:ea typeface="Inter"/>
                  <a:cs typeface="Inter"/>
                  <a:sym typeface="Inter"/>
                </a:endParaRPr>
              </a:p>
            </p:txBody>
          </p:sp>
          <p:sp>
            <p:nvSpPr>
              <p:cNvPr id="443" name="Google Shape;443;p21"/>
              <p:cNvSpPr txBox="1"/>
              <p:nvPr/>
            </p:nvSpPr>
            <p:spPr>
              <a:xfrm>
                <a:off x="495300" y="0"/>
                <a:ext cx="3238500" cy="171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GB" sz="786">
                    <a:solidFill>
                      <a:srgbClr val="38BDF8"/>
                    </a:solidFill>
                    <a:latin typeface="Fira Code Medium"/>
                    <a:ea typeface="Fira Code Medium"/>
                    <a:cs typeface="Fira Code Medium"/>
                    <a:sym typeface="Fira Code Medium"/>
                  </a:rPr>
                  <a:t>/api/technicians/me/availability</a:t>
                </a:r>
                <a:r>
                  <a:rPr lang="en-GB" sz="786"/>
                  <a:t> </a:t>
                </a:r>
                <a:r>
                  <a:rPr b="0" lang="en-GB" sz="740">
                    <a:solidFill>
                      <a:srgbClr val="94A3B8"/>
                    </a:solidFill>
                    <a:latin typeface="Inter"/>
                    <a:ea typeface="Inter"/>
                    <a:cs typeface="Inter"/>
                    <a:sym typeface="Inter"/>
                  </a:rPr>
                  <a:t>— Toggles working status</a:t>
                </a:r>
                <a:endParaRPr sz="786"/>
              </a:p>
            </p:txBody>
          </p:sp>
        </p:grpSp>
        <p:grpSp>
          <p:nvGrpSpPr>
            <p:cNvPr id="444" name="Google Shape;444;p21"/>
            <p:cNvGrpSpPr/>
            <p:nvPr/>
          </p:nvGrpSpPr>
          <p:grpSpPr>
            <a:xfrm>
              <a:off x="133350" y="723900"/>
              <a:ext cx="3733800" cy="171600"/>
              <a:chOff x="0" y="0"/>
              <a:chExt cx="3733800" cy="171600"/>
            </a:xfrm>
          </p:grpSpPr>
          <p:sp>
            <p:nvSpPr>
              <p:cNvPr id="445" name="Google Shape;445;p21"/>
              <p:cNvSpPr/>
              <p:nvPr/>
            </p:nvSpPr>
            <p:spPr>
              <a:xfrm>
                <a:off x="0" y="0"/>
                <a:ext cx="438300" cy="171600"/>
              </a:xfrm>
              <a:prstGeom prst="roundRect">
                <a:avLst>
                  <a:gd fmla="val 16666" name="adj"/>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6" name="Google Shape;446;p21"/>
              <p:cNvSpPr txBox="1"/>
              <p:nvPr/>
            </p:nvSpPr>
            <p:spPr>
              <a:xfrm>
                <a:off x="0" y="0"/>
                <a:ext cx="438300" cy="171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750">
                    <a:solidFill>
                      <a:srgbClr val="0B1325"/>
                    </a:solidFill>
                    <a:latin typeface="Inter"/>
                    <a:ea typeface="Inter"/>
                    <a:cs typeface="Inter"/>
                    <a:sym typeface="Inter"/>
                  </a:rPr>
                  <a:t>PATCH</a:t>
                </a:r>
                <a:endParaRPr b="1" sz="750">
                  <a:solidFill>
                    <a:srgbClr val="0B1325"/>
                  </a:solidFill>
                  <a:latin typeface="Inter"/>
                  <a:ea typeface="Inter"/>
                  <a:cs typeface="Inter"/>
                  <a:sym typeface="Inter"/>
                </a:endParaRPr>
              </a:p>
            </p:txBody>
          </p:sp>
          <p:sp>
            <p:nvSpPr>
              <p:cNvPr id="447" name="Google Shape;447;p21"/>
              <p:cNvSpPr txBox="1"/>
              <p:nvPr/>
            </p:nvSpPr>
            <p:spPr>
              <a:xfrm>
                <a:off x="495300" y="0"/>
                <a:ext cx="3238500" cy="171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GB" sz="786">
                    <a:solidFill>
                      <a:srgbClr val="38BDF8"/>
                    </a:solidFill>
                    <a:latin typeface="Fira Code Medium"/>
                    <a:ea typeface="Fira Code Medium"/>
                    <a:cs typeface="Fira Code Medium"/>
                    <a:sym typeface="Fira Code Medium"/>
                  </a:rPr>
                  <a:t>/api/technicians/me/location</a:t>
                </a:r>
                <a:r>
                  <a:rPr lang="en-GB" sz="786"/>
                  <a:t> </a:t>
                </a:r>
                <a:r>
                  <a:rPr b="0" lang="en-GB" sz="740">
                    <a:solidFill>
                      <a:srgbClr val="94A3B8"/>
                    </a:solidFill>
                    <a:latin typeface="Inter"/>
                    <a:ea typeface="Inter"/>
                    <a:cs typeface="Inter"/>
                    <a:sym typeface="Inter"/>
                  </a:rPr>
                  <a:t>— Updates live GPS coordinates</a:t>
                </a:r>
                <a:endParaRPr sz="786"/>
              </a:p>
            </p:txBody>
          </p:sp>
        </p:grpSp>
      </p:grpSp>
      <p:grpSp>
        <p:nvGrpSpPr>
          <p:cNvPr id="448" name="Google Shape;448;p21"/>
          <p:cNvGrpSpPr/>
          <p:nvPr/>
        </p:nvGrpSpPr>
        <p:grpSpPr>
          <a:xfrm>
            <a:off x="4686300" y="2152650"/>
            <a:ext cx="4000500" cy="1086000"/>
            <a:chOff x="0" y="0"/>
            <a:chExt cx="4000500" cy="1086000"/>
          </a:xfrm>
        </p:grpSpPr>
        <p:sp>
          <p:nvSpPr>
            <p:cNvPr id="449" name="Google Shape;449;p21"/>
            <p:cNvSpPr/>
            <p:nvPr/>
          </p:nvSpPr>
          <p:spPr>
            <a:xfrm>
              <a:off x="0" y="0"/>
              <a:ext cx="4000500" cy="1086000"/>
            </a:xfrm>
            <a:prstGeom prst="roundRect">
              <a:avLst>
                <a:gd fmla="val 5263" name="adj"/>
              </a:avLst>
            </a:prstGeom>
            <a:solidFill>
              <a:srgbClr val="1E293B"/>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0" name="Google Shape;450;p21"/>
            <p:cNvSpPr/>
            <p:nvPr/>
          </p:nvSpPr>
          <p:spPr>
            <a:xfrm>
              <a:off x="0" y="0"/>
              <a:ext cx="4000500" cy="28500"/>
            </a:xfrm>
            <a:prstGeom prst="roundRect">
              <a:avLst>
                <a:gd fmla="val 33333" name="adj"/>
              </a:avLst>
            </a:prstGeom>
            <a:solidFill>
              <a:srgbClr val="38BDF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1" name="Google Shape;451;p21"/>
            <p:cNvSpPr txBox="1"/>
            <p:nvPr/>
          </p:nvSpPr>
          <p:spPr>
            <a:xfrm>
              <a:off x="133350" y="76200"/>
              <a:ext cx="37338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1200">
                  <a:solidFill>
                    <a:srgbClr val="F59E0B"/>
                  </a:solidFill>
                  <a:latin typeface="Outfit SemiBold"/>
                  <a:ea typeface="Outfit SemiBold"/>
                  <a:cs typeface="Outfit SemiBold"/>
                  <a:sym typeface="Outfit SemiBold"/>
                </a:rPr>
                <a:t>Administrative &amp; System Health</a:t>
              </a:r>
              <a:endParaRPr b="0" sz="1200">
                <a:solidFill>
                  <a:srgbClr val="F59E0B"/>
                </a:solidFill>
                <a:latin typeface="Outfit SemiBold"/>
                <a:ea typeface="Outfit SemiBold"/>
                <a:cs typeface="Outfit SemiBold"/>
                <a:sym typeface="Outfit SemiBold"/>
              </a:endParaRPr>
            </a:p>
          </p:txBody>
        </p:sp>
        <p:grpSp>
          <p:nvGrpSpPr>
            <p:cNvPr id="452" name="Google Shape;452;p21"/>
            <p:cNvGrpSpPr/>
            <p:nvPr/>
          </p:nvGrpSpPr>
          <p:grpSpPr>
            <a:xfrm>
              <a:off x="133350" y="304800"/>
              <a:ext cx="3733800" cy="171600"/>
              <a:chOff x="0" y="0"/>
              <a:chExt cx="3733800" cy="171600"/>
            </a:xfrm>
          </p:grpSpPr>
          <p:sp>
            <p:nvSpPr>
              <p:cNvPr id="453" name="Google Shape;453;p21"/>
              <p:cNvSpPr/>
              <p:nvPr/>
            </p:nvSpPr>
            <p:spPr>
              <a:xfrm>
                <a:off x="0" y="0"/>
                <a:ext cx="438300" cy="171600"/>
              </a:xfrm>
              <a:prstGeom prst="roundRect">
                <a:avLst>
                  <a:gd fmla="val 16666" name="adj"/>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4" name="Google Shape;454;p21"/>
              <p:cNvSpPr txBox="1"/>
              <p:nvPr/>
            </p:nvSpPr>
            <p:spPr>
              <a:xfrm>
                <a:off x="0" y="0"/>
                <a:ext cx="438300" cy="171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750">
                    <a:solidFill>
                      <a:srgbClr val="0B1325"/>
                    </a:solidFill>
                    <a:latin typeface="Inter"/>
                    <a:ea typeface="Inter"/>
                    <a:cs typeface="Inter"/>
                    <a:sym typeface="Inter"/>
                  </a:rPr>
                  <a:t>GET</a:t>
                </a:r>
                <a:endParaRPr b="1" sz="750">
                  <a:solidFill>
                    <a:srgbClr val="0B1325"/>
                  </a:solidFill>
                  <a:latin typeface="Inter"/>
                  <a:ea typeface="Inter"/>
                  <a:cs typeface="Inter"/>
                  <a:sym typeface="Inter"/>
                </a:endParaRPr>
              </a:p>
            </p:txBody>
          </p:sp>
          <p:sp>
            <p:nvSpPr>
              <p:cNvPr id="455" name="Google Shape;455;p21"/>
              <p:cNvSpPr txBox="1"/>
              <p:nvPr/>
            </p:nvSpPr>
            <p:spPr>
              <a:xfrm>
                <a:off x="495300" y="0"/>
                <a:ext cx="3238500" cy="171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GB" sz="850">
                    <a:solidFill>
                      <a:srgbClr val="38BDF8"/>
                    </a:solidFill>
                    <a:latin typeface="Fira Code Medium"/>
                    <a:ea typeface="Fira Code Medium"/>
                    <a:cs typeface="Fira Code Medium"/>
                    <a:sym typeface="Fira Code Medium"/>
                  </a:rPr>
                  <a:t>/api/health</a:t>
                </a:r>
                <a:r>
                  <a:rPr lang="en-GB" sz="850"/>
                  <a:t> </a:t>
                </a:r>
                <a:r>
                  <a:rPr b="0" lang="en-GB" sz="800">
                    <a:solidFill>
                      <a:srgbClr val="94A3B8"/>
                    </a:solidFill>
                    <a:latin typeface="Inter"/>
                    <a:ea typeface="Inter"/>
                    <a:cs typeface="Inter"/>
                    <a:sym typeface="Inter"/>
                  </a:rPr>
                  <a:t>— Returns HTTP 200 verifying server uptime</a:t>
                </a:r>
                <a:endParaRPr sz="850"/>
              </a:p>
            </p:txBody>
          </p:sp>
        </p:grpSp>
        <p:grpSp>
          <p:nvGrpSpPr>
            <p:cNvPr id="456" name="Google Shape;456;p21"/>
            <p:cNvGrpSpPr/>
            <p:nvPr/>
          </p:nvGrpSpPr>
          <p:grpSpPr>
            <a:xfrm>
              <a:off x="133350" y="514350"/>
              <a:ext cx="3733800" cy="171600"/>
              <a:chOff x="0" y="0"/>
              <a:chExt cx="3733800" cy="171600"/>
            </a:xfrm>
          </p:grpSpPr>
          <p:sp>
            <p:nvSpPr>
              <p:cNvPr id="457" name="Google Shape;457;p21"/>
              <p:cNvSpPr/>
              <p:nvPr/>
            </p:nvSpPr>
            <p:spPr>
              <a:xfrm>
                <a:off x="0" y="0"/>
                <a:ext cx="438300" cy="171600"/>
              </a:xfrm>
              <a:prstGeom prst="roundRect">
                <a:avLst>
                  <a:gd fmla="val 16666" name="adj"/>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8" name="Google Shape;458;p21"/>
              <p:cNvSpPr txBox="1"/>
              <p:nvPr/>
            </p:nvSpPr>
            <p:spPr>
              <a:xfrm>
                <a:off x="0" y="0"/>
                <a:ext cx="438300" cy="171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750">
                    <a:solidFill>
                      <a:srgbClr val="0B1325"/>
                    </a:solidFill>
                    <a:latin typeface="Inter"/>
                    <a:ea typeface="Inter"/>
                    <a:cs typeface="Inter"/>
                    <a:sym typeface="Inter"/>
                  </a:rPr>
                  <a:t>GET</a:t>
                </a:r>
                <a:endParaRPr b="1" sz="750">
                  <a:solidFill>
                    <a:srgbClr val="0B1325"/>
                  </a:solidFill>
                  <a:latin typeface="Inter"/>
                  <a:ea typeface="Inter"/>
                  <a:cs typeface="Inter"/>
                  <a:sym typeface="Inter"/>
                </a:endParaRPr>
              </a:p>
            </p:txBody>
          </p:sp>
          <p:sp>
            <p:nvSpPr>
              <p:cNvPr id="459" name="Google Shape;459;p21"/>
              <p:cNvSpPr txBox="1"/>
              <p:nvPr/>
            </p:nvSpPr>
            <p:spPr>
              <a:xfrm>
                <a:off x="495300" y="0"/>
                <a:ext cx="3238500" cy="171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GB" sz="850">
                    <a:solidFill>
                      <a:srgbClr val="38BDF8"/>
                    </a:solidFill>
                    <a:latin typeface="Fira Code Medium"/>
                    <a:ea typeface="Fira Code Medium"/>
                    <a:cs typeface="Fira Code Medium"/>
                    <a:sym typeface="Fira Code Medium"/>
                  </a:rPr>
                  <a:t>/api/admin/summary</a:t>
                </a:r>
                <a:r>
                  <a:rPr lang="en-GB" sz="850"/>
                  <a:t> </a:t>
                </a:r>
                <a:r>
                  <a:rPr b="0" lang="en-GB" sz="800">
                    <a:solidFill>
                      <a:srgbClr val="94A3B8"/>
                    </a:solidFill>
                    <a:latin typeface="Inter"/>
                    <a:ea typeface="Inter"/>
                    <a:cs typeface="Inter"/>
                    <a:sym typeface="Inter"/>
                  </a:rPr>
                  <a:t>— Aggregates system dashboard metrics</a:t>
                </a:r>
                <a:endParaRPr sz="850"/>
              </a:p>
            </p:txBody>
          </p:sp>
        </p:grpSp>
        <p:grpSp>
          <p:nvGrpSpPr>
            <p:cNvPr id="460" name="Google Shape;460;p21"/>
            <p:cNvGrpSpPr/>
            <p:nvPr/>
          </p:nvGrpSpPr>
          <p:grpSpPr>
            <a:xfrm>
              <a:off x="133350" y="723900"/>
              <a:ext cx="3733800" cy="171600"/>
              <a:chOff x="0" y="0"/>
              <a:chExt cx="3733800" cy="171600"/>
            </a:xfrm>
          </p:grpSpPr>
          <p:sp>
            <p:nvSpPr>
              <p:cNvPr id="461" name="Google Shape;461;p21"/>
              <p:cNvSpPr/>
              <p:nvPr/>
            </p:nvSpPr>
            <p:spPr>
              <a:xfrm>
                <a:off x="0" y="0"/>
                <a:ext cx="438300" cy="171600"/>
              </a:xfrm>
              <a:prstGeom prst="roundRect">
                <a:avLst>
                  <a:gd fmla="val 16666" name="adj"/>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2" name="Google Shape;462;p21"/>
              <p:cNvSpPr txBox="1"/>
              <p:nvPr/>
            </p:nvSpPr>
            <p:spPr>
              <a:xfrm>
                <a:off x="0" y="0"/>
                <a:ext cx="438300" cy="171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750">
                    <a:solidFill>
                      <a:srgbClr val="0B1325"/>
                    </a:solidFill>
                    <a:latin typeface="Inter"/>
                    <a:ea typeface="Inter"/>
                    <a:cs typeface="Inter"/>
                    <a:sym typeface="Inter"/>
                  </a:rPr>
                  <a:t>PATCH</a:t>
                </a:r>
                <a:endParaRPr b="1" sz="750">
                  <a:solidFill>
                    <a:srgbClr val="0B1325"/>
                  </a:solidFill>
                  <a:latin typeface="Inter"/>
                  <a:ea typeface="Inter"/>
                  <a:cs typeface="Inter"/>
                  <a:sym typeface="Inter"/>
                </a:endParaRPr>
              </a:p>
            </p:txBody>
          </p:sp>
          <p:sp>
            <p:nvSpPr>
              <p:cNvPr id="463" name="Google Shape;463;p21"/>
              <p:cNvSpPr txBox="1"/>
              <p:nvPr/>
            </p:nvSpPr>
            <p:spPr>
              <a:xfrm>
                <a:off x="495300" y="0"/>
                <a:ext cx="3238500" cy="171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GB" sz="850">
                    <a:solidFill>
                      <a:srgbClr val="38BDF8"/>
                    </a:solidFill>
                    <a:latin typeface="Fira Code Medium"/>
                    <a:ea typeface="Fira Code Medium"/>
                    <a:cs typeface="Fira Code Medium"/>
                    <a:sym typeface="Fira Code Medium"/>
                  </a:rPr>
                  <a:t>/api/admin/users/:id</a:t>
                </a:r>
                <a:r>
                  <a:rPr lang="en-GB" sz="850"/>
                  <a:t> </a:t>
                </a:r>
                <a:r>
                  <a:rPr b="0" lang="en-GB" sz="800">
                    <a:solidFill>
                      <a:srgbClr val="94A3B8"/>
                    </a:solidFill>
                    <a:latin typeface="Inter"/>
                    <a:ea typeface="Inter"/>
                    <a:cs typeface="Inter"/>
                    <a:sym typeface="Inter"/>
                  </a:rPr>
                  <a:t>— Modifies user account status/roles</a:t>
                </a:r>
                <a:endParaRPr sz="850"/>
              </a:p>
            </p:txBody>
          </p:sp>
        </p:grpSp>
      </p:grpSp>
      <p:grpSp>
        <p:nvGrpSpPr>
          <p:cNvPr id="464" name="Google Shape;464;p21"/>
          <p:cNvGrpSpPr/>
          <p:nvPr/>
        </p:nvGrpSpPr>
        <p:grpSpPr>
          <a:xfrm>
            <a:off x="4686300" y="3333750"/>
            <a:ext cx="4000500" cy="1314600"/>
            <a:chOff x="0" y="0"/>
            <a:chExt cx="4000500" cy="1314600"/>
          </a:xfrm>
        </p:grpSpPr>
        <p:sp>
          <p:nvSpPr>
            <p:cNvPr id="465" name="Google Shape;465;p21"/>
            <p:cNvSpPr/>
            <p:nvPr/>
          </p:nvSpPr>
          <p:spPr>
            <a:xfrm>
              <a:off x="0" y="0"/>
              <a:ext cx="4000500" cy="1314600"/>
            </a:xfrm>
            <a:prstGeom prst="roundRect">
              <a:avLst>
                <a:gd fmla="val 4347" name="adj"/>
              </a:avLst>
            </a:prstGeom>
            <a:solidFill>
              <a:srgbClr val="172554"/>
            </a:solidFill>
            <a:ln cap="flat" cmpd="sng" w="9525">
              <a:solidFill>
                <a:srgbClr val="38BDF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6" name="Google Shape;466;p21"/>
            <p:cNvSpPr/>
            <p:nvPr/>
          </p:nvSpPr>
          <p:spPr>
            <a:xfrm>
              <a:off x="0" y="0"/>
              <a:ext cx="4000500" cy="28500"/>
            </a:xfrm>
            <a:prstGeom prst="roundRect">
              <a:avLst>
                <a:gd fmla="val 33333" name="adj"/>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7" name="Google Shape;467;p21"/>
            <p:cNvSpPr txBox="1"/>
            <p:nvPr/>
          </p:nvSpPr>
          <p:spPr>
            <a:xfrm>
              <a:off x="133350" y="95250"/>
              <a:ext cx="37338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1200">
                  <a:solidFill>
                    <a:srgbClr val="38BDF8"/>
                  </a:solidFill>
                  <a:latin typeface="Outfit SemiBold"/>
                  <a:ea typeface="Outfit SemiBold"/>
                  <a:cs typeface="Outfit SemiBold"/>
                  <a:sym typeface="Outfit SemiBold"/>
                </a:rPr>
                <a:t>Architecture &amp; Middleware Highlights</a:t>
              </a:r>
              <a:endParaRPr b="0" sz="1200">
                <a:solidFill>
                  <a:srgbClr val="38BDF8"/>
                </a:solidFill>
                <a:latin typeface="Outfit SemiBold"/>
                <a:ea typeface="Outfit SemiBold"/>
                <a:cs typeface="Outfit SemiBold"/>
                <a:sym typeface="Outfit SemiBold"/>
              </a:endParaRPr>
            </a:p>
          </p:txBody>
        </p:sp>
        <p:grpSp>
          <p:nvGrpSpPr>
            <p:cNvPr id="468" name="Google Shape;468;p21"/>
            <p:cNvGrpSpPr/>
            <p:nvPr/>
          </p:nvGrpSpPr>
          <p:grpSpPr>
            <a:xfrm>
              <a:off x="152400" y="342900"/>
              <a:ext cx="3714750" cy="266700"/>
              <a:chOff x="19050" y="0"/>
              <a:chExt cx="3714750" cy="266700"/>
            </a:xfrm>
          </p:grpSpPr>
          <p:sp>
            <p:nvSpPr>
              <p:cNvPr id="469" name="Google Shape;469;p21"/>
              <p:cNvSpPr/>
              <p:nvPr/>
            </p:nvSpPr>
            <p:spPr>
              <a:xfrm>
                <a:off x="19050" y="47625"/>
                <a:ext cx="57300" cy="57300"/>
              </a:xfrm>
              <a:prstGeom prst="ellipse">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0" name="Google Shape;470;p21"/>
              <p:cNvSpPr txBox="1"/>
              <p:nvPr/>
            </p:nvSpPr>
            <p:spPr>
              <a:xfrm>
                <a:off x="152400" y="0"/>
                <a:ext cx="3581400" cy="266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850">
                    <a:solidFill>
                      <a:srgbClr val="F59E0B"/>
                    </a:solidFill>
                    <a:latin typeface="Inter SemiBold"/>
                    <a:ea typeface="Inter SemiBold"/>
                    <a:cs typeface="Inter SemiBold"/>
                    <a:sym typeface="Inter SemiBold"/>
                  </a:rPr>
                  <a:t>RBAC Protection:</a:t>
                </a:r>
                <a:r>
                  <a:rPr b="0" lang="en-GB" sz="850">
                    <a:solidFill>
                      <a:srgbClr val="F8FAFC"/>
                    </a:solidFill>
                    <a:latin typeface="Inter"/>
                    <a:ea typeface="Inter"/>
                    <a:cs typeface="Inter"/>
                    <a:sym typeface="Inter"/>
                  </a:rPr>
                  <a:t> Route-level authorization middleware verifies user JWT roles before executing requests.</a:t>
                </a:r>
                <a:endParaRPr b="0" sz="850">
                  <a:solidFill>
                    <a:srgbClr val="F8FAFC"/>
                  </a:solidFill>
                  <a:latin typeface="Inter"/>
                  <a:ea typeface="Inter"/>
                  <a:cs typeface="Inter"/>
                  <a:sym typeface="Inter"/>
                </a:endParaRPr>
              </a:p>
            </p:txBody>
          </p:sp>
        </p:grpSp>
        <p:grpSp>
          <p:nvGrpSpPr>
            <p:cNvPr id="471" name="Google Shape;471;p21"/>
            <p:cNvGrpSpPr/>
            <p:nvPr/>
          </p:nvGrpSpPr>
          <p:grpSpPr>
            <a:xfrm>
              <a:off x="152400" y="647700"/>
              <a:ext cx="3714750" cy="266700"/>
              <a:chOff x="19050" y="0"/>
              <a:chExt cx="3714750" cy="266700"/>
            </a:xfrm>
          </p:grpSpPr>
          <p:sp>
            <p:nvSpPr>
              <p:cNvPr id="472" name="Google Shape;472;p21"/>
              <p:cNvSpPr/>
              <p:nvPr/>
            </p:nvSpPr>
            <p:spPr>
              <a:xfrm>
                <a:off x="19050" y="47625"/>
                <a:ext cx="57300" cy="57300"/>
              </a:xfrm>
              <a:prstGeom prst="ellipse">
                <a:avLst/>
              </a:prstGeom>
              <a:solidFill>
                <a:srgbClr val="38BDF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3" name="Google Shape;473;p21"/>
              <p:cNvSpPr txBox="1"/>
              <p:nvPr/>
            </p:nvSpPr>
            <p:spPr>
              <a:xfrm>
                <a:off x="152400" y="0"/>
                <a:ext cx="3581400" cy="266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850">
                    <a:solidFill>
                      <a:srgbClr val="38BDF8"/>
                    </a:solidFill>
                    <a:latin typeface="Inter SemiBold"/>
                    <a:ea typeface="Inter SemiBold"/>
                    <a:cs typeface="Inter SemiBold"/>
                    <a:sym typeface="Inter SemiBold"/>
                  </a:rPr>
                  <a:t>Geospatial Engine:</a:t>
                </a:r>
                <a:r>
                  <a:rPr b="0" lang="en-GB" sz="850">
                    <a:solidFill>
                      <a:srgbClr val="F8FAFC"/>
                    </a:solidFill>
                    <a:latin typeface="Inter"/>
                    <a:ea typeface="Inter"/>
                    <a:cs typeface="Inter"/>
                    <a:sym typeface="Inter"/>
                  </a:rPr>
                  <a:t> Uses MongoDB 2DSphere indexing for real-time local technician discovery.</a:t>
                </a:r>
                <a:endParaRPr b="0" sz="850">
                  <a:solidFill>
                    <a:srgbClr val="F8FAFC"/>
                  </a:solidFill>
                  <a:latin typeface="Inter"/>
                  <a:ea typeface="Inter"/>
                  <a:cs typeface="Inter"/>
                  <a:sym typeface="Inter"/>
                </a:endParaRPr>
              </a:p>
            </p:txBody>
          </p:sp>
        </p:grpSp>
        <p:grpSp>
          <p:nvGrpSpPr>
            <p:cNvPr id="474" name="Google Shape;474;p21"/>
            <p:cNvGrpSpPr/>
            <p:nvPr/>
          </p:nvGrpSpPr>
          <p:grpSpPr>
            <a:xfrm>
              <a:off x="152400" y="952500"/>
              <a:ext cx="3714750" cy="266700"/>
              <a:chOff x="19050" y="0"/>
              <a:chExt cx="3714750" cy="266700"/>
            </a:xfrm>
          </p:grpSpPr>
          <p:sp>
            <p:nvSpPr>
              <p:cNvPr id="475" name="Google Shape;475;p21"/>
              <p:cNvSpPr/>
              <p:nvPr/>
            </p:nvSpPr>
            <p:spPr>
              <a:xfrm>
                <a:off x="19050" y="47625"/>
                <a:ext cx="57300" cy="57300"/>
              </a:xfrm>
              <a:prstGeom prst="ellipse">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6" name="Google Shape;476;p21"/>
              <p:cNvSpPr txBox="1"/>
              <p:nvPr/>
            </p:nvSpPr>
            <p:spPr>
              <a:xfrm>
                <a:off x="152400" y="0"/>
                <a:ext cx="3581400" cy="266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850">
                    <a:solidFill>
                      <a:srgbClr val="10B981"/>
                    </a:solidFill>
                    <a:latin typeface="Inter SemiBold"/>
                    <a:ea typeface="Inter SemiBold"/>
                    <a:cs typeface="Inter SemiBold"/>
                    <a:sym typeface="Inter SemiBold"/>
                  </a:rPr>
                  <a:t>State Engine:</a:t>
                </a:r>
                <a:r>
                  <a:rPr b="0" lang="en-GB" sz="850">
                    <a:solidFill>
                      <a:srgbClr val="F8FAFC"/>
                    </a:solidFill>
                    <a:latin typeface="Inter"/>
                    <a:ea typeface="Inter"/>
                    <a:cs typeface="Inter"/>
                    <a:sym typeface="Inter"/>
                  </a:rPr>
                  <a:t> Strict transition checks for pending fault assignment and technician dispatch.</a:t>
                </a:r>
                <a:endParaRPr b="0" sz="850">
                  <a:solidFill>
                    <a:srgbClr val="F8FAFC"/>
                  </a:solidFill>
                  <a:latin typeface="Inter"/>
                  <a:ea typeface="Inter"/>
                  <a:cs typeface="Inter"/>
                  <a:sym typeface="Inter"/>
                </a:endParaRPr>
              </a:p>
            </p:txBody>
          </p:sp>
        </p:gr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325"/>
        </a:solidFill>
      </p:bgPr>
    </p:bg>
    <p:spTree>
      <p:nvGrpSpPr>
        <p:cNvPr id="480" name="Shape 480"/>
        <p:cNvGrpSpPr/>
        <p:nvPr/>
      </p:nvGrpSpPr>
      <p:grpSpPr>
        <a:xfrm>
          <a:off x="0" y="0"/>
          <a:ext cx="0" cy="0"/>
          <a:chOff x="0" y="0"/>
          <a:chExt cx="0" cy="0"/>
        </a:xfrm>
      </p:grpSpPr>
      <p:pic>
        <p:nvPicPr>
          <p:cNvPr id="481" name="Google Shape;481;p22"/>
          <p:cNvPicPr preferRelativeResize="0"/>
          <p:nvPr/>
        </p:nvPicPr>
        <p:blipFill rotWithShape="1">
          <a:blip r:embed="rId3">
            <a:alphaModFix/>
          </a:blip>
          <a:srcRect b="0" l="0" r="0" t="0"/>
          <a:stretch/>
        </p:blipFill>
        <p:spPr>
          <a:xfrm>
            <a:off x="0" y="0"/>
            <a:ext cx="9144000" cy="5143500"/>
          </a:xfrm>
          <a:prstGeom prst="rect">
            <a:avLst/>
          </a:prstGeom>
          <a:noFill/>
          <a:ln>
            <a:noFill/>
          </a:ln>
        </p:spPr>
      </p:pic>
      <p:grpSp>
        <p:nvGrpSpPr>
          <p:cNvPr id="482" name="Google Shape;482;p22"/>
          <p:cNvGrpSpPr/>
          <p:nvPr/>
        </p:nvGrpSpPr>
        <p:grpSpPr>
          <a:xfrm>
            <a:off x="457200" y="400050"/>
            <a:ext cx="8229600" cy="733500"/>
            <a:chOff x="457200" y="400050"/>
            <a:chExt cx="8229600" cy="733500"/>
          </a:xfrm>
        </p:grpSpPr>
        <p:grpSp>
          <p:nvGrpSpPr>
            <p:cNvPr id="483" name="Google Shape;483;p22"/>
            <p:cNvGrpSpPr/>
            <p:nvPr/>
          </p:nvGrpSpPr>
          <p:grpSpPr>
            <a:xfrm>
              <a:off x="457200" y="400050"/>
              <a:ext cx="876300" cy="38100"/>
              <a:chOff x="0" y="0"/>
              <a:chExt cx="876300" cy="38100"/>
            </a:xfrm>
          </p:grpSpPr>
          <p:sp>
            <p:nvSpPr>
              <p:cNvPr id="484" name="Google Shape;484;p22"/>
              <p:cNvSpPr/>
              <p:nvPr/>
            </p:nvSpPr>
            <p:spPr>
              <a:xfrm>
                <a:off x="0" y="0"/>
                <a:ext cx="571500" cy="38100"/>
              </a:xfrm>
              <a:prstGeom prst="roundRect">
                <a:avLst>
                  <a:gd fmla="val 50000" name="adj"/>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5" name="Google Shape;485;p22"/>
              <p:cNvSpPr/>
              <p:nvPr/>
            </p:nvSpPr>
            <p:spPr>
              <a:xfrm>
                <a:off x="609600" y="0"/>
                <a:ext cx="152400" cy="38100"/>
              </a:xfrm>
              <a:prstGeom prst="roundRect">
                <a:avLst>
                  <a:gd fmla="val 50000" name="adj"/>
                </a:avLst>
              </a:prstGeom>
              <a:solidFill>
                <a:srgbClr val="38BDF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6" name="Google Shape;486;p22"/>
              <p:cNvSpPr/>
              <p:nvPr/>
            </p:nvSpPr>
            <p:spPr>
              <a:xfrm>
                <a:off x="800100" y="0"/>
                <a:ext cx="76200" cy="38100"/>
              </a:xfrm>
              <a:prstGeom prst="roundRect">
                <a:avLst>
                  <a:gd fmla="val 50000" name="adj"/>
                </a:avLst>
              </a:prstGeom>
              <a:solidFill>
                <a:srgbClr val="38BDF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487" name="Google Shape;487;p22"/>
            <p:cNvSpPr txBox="1"/>
            <p:nvPr/>
          </p:nvSpPr>
          <p:spPr>
            <a:xfrm>
              <a:off x="457200" y="514350"/>
              <a:ext cx="8229600" cy="619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2200">
                  <a:solidFill>
                    <a:srgbClr val="F8FAFC"/>
                  </a:solidFill>
                  <a:latin typeface="Outfit"/>
                  <a:ea typeface="Outfit"/>
                  <a:cs typeface="Outfit"/>
                  <a:sym typeface="Outfit"/>
                </a:rPr>
                <a:t>Quality Assurance, Testing &amp; Team Contributions</a:t>
              </a:r>
              <a:endParaRPr b="1" sz="2200">
                <a:solidFill>
                  <a:srgbClr val="F8FAFC"/>
                </a:solidFill>
                <a:latin typeface="Outfit"/>
                <a:ea typeface="Outfit"/>
                <a:cs typeface="Outfit"/>
                <a:sym typeface="Outfit"/>
              </a:endParaRPr>
            </a:p>
            <a:p>
              <a:pPr indent="0" lvl="0" marL="0" rtl="0" algn="l">
                <a:spcBef>
                  <a:spcPts val="300"/>
                </a:spcBef>
                <a:spcAft>
                  <a:spcPts val="0"/>
                </a:spcAft>
                <a:buNone/>
              </a:pPr>
              <a:r>
                <a:rPr b="0" lang="en-GB" sz="1200">
                  <a:solidFill>
                    <a:srgbClr val="38BDF8"/>
                  </a:solidFill>
                  <a:latin typeface="Inter"/>
                  <a:ea typeface="Inter"/>
                  <a:cs typeface="Inter"/>
                  <a:sym typeface="Inter"/>
                </a:rPr>
                <a:t>Automated Test Suite Features &amp; 4-Member Team Division of Labor</a:t>
              </a:r>
              <a:endParaRPr b="0" sz="1200">
                <a:solidFill>
                  <a:srgbClr val="38BDF8"/>
                </a:solidFill>
                <a:latin typeface="Inter"/>
                <a:ea typeface="Inter"/>
                <a:cs typeface="Inter"/>
                <a:sym typeface="Inter"/>
              </a:endParaRPr>
            </a:p>
          </p:txBody>
        </p:sp>
      </p:grpSp>
      <p:grpSp>
        <p:nvGrpSpPr>
          <p:cNvPr id="488" name="Google Shape;488;p22"/>
          <p:cNvGrpSpPr/>
          <p:nvPr/>
        </p:nvGrpSpPr>
        <p:grpSpPr>
          <a:xfrm>
            <a:off x="457200" y="1295400"/>
            <a:ext cx="4000500" cy="3238500"/>
            <a:chOff x="457200" y="1295400"/>
            <a:chExt cx="4000500" cy="3238500"/>
          </a:xfrm>
        </p:grpSpPr>
        <p:sp>
          <p:nvSpPr>
            <p:cNvPr id="489" name="Google Shape;489;p22"/>
            <p:cNvSpPr/>
            <p:nvPr/>
          </p:nvSpPr>
          <p:spPr>
            <a:xfrm>
              <a:off x="457200" y="1295400"/>
              <a:ext cx="4000500" cy="3238500"/>
            </a:xfrm>
            <a:prstGeom prst="roundRect">
              <a:avLst>
                <a:gd fmla="val 2352" name="adj"/>
              </a:avLst>
            </a:prstGeom>
            <a:solidFill>
              <a:srgbClr val="1E293B"/>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0" name="Google Shape;490;p22"/>
            <p:cNvSpPr/>
            <p:nvPr/>
          </p:nvSpPr>
          <p:spPr>
            <a:xfrm>
              <a:off x="457200" y="1295400"/>
              <a:ext cx="4000500" cy="38100"/>
            </a:xfrm>
            <a:prstGeom prst="roundRect">
              <a:avLst>
                <a:gd fmla="val 50000" name="adj"/>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1" name="Google Shape;491;p22"/>
            <p:cNvSpPr txBox="1"/>
            <p:nvPr/>
          </p:nvSpPr>
          <p:spPr>
            <a:xfrm>
              <a:off x="647700" y="1447800"/>
              <a:ext cx="3619500" cy="2933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1600">
                  <a:solidFill>
                    <a:srgbClr val="F59E0B"/>
                  </a:solidFill>
                  <a:latin typeface="Outfit SemiBold"/>
                  <a:ea typeface="Outfit SemiBold"/>
                  <a:cs typeface="Outfit SemiBold"/>
                  <a:sym typeface="Outfit SemiBold"/>
                </a:rPr>
                <a:t>Automated API Test Suite</a:t>
              </a:r>
              <a:endParaRPr b="0" sz="1600">
                <a:solidFill>
                  <a:srgbClr val="F59E0B"/>
                </a:solidFill>
                <a:latin typeface="Outfit SemiBold"/>
                <a:ea typeface="Outfit SemiBold"/>
                <a:cs typeface="Outfit SemiBold"/>
                <a:sym typeface="Outfit SemiBold"/>
              </a:endParaRPr>
            </a:p>
            <a:p>
              <a:pPr indent="0" lvl="0" marL="0" rtl="0" algn="l">
                <a:spcBef>
                  <a:spcPts val="600"/>
                </a:spcBef>
                <a:spcAft>
                  <a:spcPts val="0"/>
                </a:spcAft>
                <a:buNone/>
              </a:pPr>
              <a:r>
                <a:rPr b="0" lang="en-GB" sz="1000">
                  <a:solidFill>
                    <a:srgbClr val="CBD5E1"/>
                  </a:solidFill>
                  <a:latin typeface="Inter"/>
                  <a:ea typeface="Inter"/>
                  <a:cs typeface="Inter"/>
                  <a:sym typeface="Inter"/>
                </a:rPr>
                <a:t>To ensure enterprise-grade reliability, the backend is validated by a comprehensive automated test suite utilizing the native Node Test Runner paired with Supertest.</a:t>
              </a:r>
              <a:endParaRPr b="0" sz="1000">
                <a:solidFill>
                  <a:srgbClr val="CBD5E1"/>
                </a:solidFill>
                <a:latin typeface="Inter"/>
                <a:ea typeface="Inter"/>
                <a:cs typeface="Inter"/>
                <a:sym typeface="Inter"/>
              </a:endParaRPr>
            </a:p>
            <a:p>
              <a:pPr indent="0" lvl="0" marL="0" rtl="0" algn="l">
                <a:spcBef>
                  <a:spcPts val="900"/>
                </a:spcBef>
                <a:spcAft>
                  <a:spcPts val="0"/>
                </a:spcAft>
                <a:buNone/>
              </a:pPr>
              <a:r>
                <a:rPr b="0" lang="en-GB" sz="1050">
                  <a:solidFill>
                    <a:srgbClr val="38BDF8"/>
                  </a:solidFill>
                  <a:latin typeface="Inter Medium"/>
                  <a:ea typeface="Inter Medium"/>
                  <a:cs typeface="Inter Medium"/>
                  <a:sym typeface="Inter Medium"/>
                </a:rPr>
                <a:t>• Critical Infrastructure</a:t>
              </a:r>
              <a:endParaRPr b="0" sz="1050">
                <a:solidFill>
                  <a:srgbClr val="38BDF8"/>
                </a:solidFill>
                <a:latin typeface="Inter Medium"/>
                <a:ea typeface="Inter Medium"/>
                <a:cs typeface="Inter Medium"/>
                <a:sym typeface="Inter Medium"/>
              </a:endParaRPr>
            </a:p>
            <a:p>
              <a:pPr indent="0" lvl="0" marL="0" rtl="0" algn="l">
                <a:spcBef>
                  <a:spcPts val="150"/>
                </a:spcBef>
                <a:spcAft>
                  <a:spcPts val="0"/>
                </a:spcAft>
                <a:buNone/>
              </a:pPr>
              <a:r>
                <a:rPr b="0" lang="en-GB" sz="950">
                  <a:solidFill>
                    <a:srgbClr val="94A3B8"/>
                  </a:solidFill>
                  <a:latin typeface="Inter"/>
                  <a:ea typeface="Inter"/>
                  <a:cs typeface="Inter"/>
                  <a:sym typeface="Inter"/>
                </a:rPr>
                <a:t>Rigorously verifies HTTP 200 health checks, Zod payload validation, and bcrypt password hashing integrity.</a:t>
              </a:r>
              <a:endParaRPr b="0" sz="950">
                <a:solidFill>
                  <a:srgbClr val="94A3B8"/>
                </a:solidFill>
                <a:latin typeface="Inter"/>
                <a:ea typeface="Inter"/>
                <a:cs typeface="Inter"/>
                <a:sym typeface="Inter"/>
              </a:endParaRPr>
            </a:p>
            <a:p>
              <a:pPr indent="0" lvl="0" marL="0" rtl="0" algn="l">
                <a:spcBef>
                  <a:spcPts val="750"/>
                </a:spcBef>
                <a:spcAft>
                  <a:spcPts val="0"/>
                </a:spcAft>
                <a:buNone/>
              </a:pPr>
              <a:r>
                <a:rPr b="0" lang="en-GB" sz="1050">
                  <a:solidFill>
                    <a:srgbClr val="38BDF8"/>
                  </a:solidFill>
                  <a:latin typeface="Inter Medium"/>
                  <a:ea typeface="Inter Medium"/>
                  <a:cs typeface="Inter Medium"/>
                  <a:sym typeface="Inter Medium"/>
                </a:rPr>
                <a:t>• Security Boundaries</a:t>
              </a:r>
              <a:endParaRPr b="0" sz="1050">
                <a:solidFill>
                  <a:srgbClr val="38BDF8"/>
                </a:solidFill>
                <a:latin typeface="Inter Medium"/>
                <a:ea typeface="Inter Medium"/>
                <a:cs typeface="Inter Medium"/>
                <a:sym typeface="Inter Medium"/>
              </a:endParaRPr>
            </a:p>
            <a:p>
              <a:pPr indent="0" lvl="0" marL="0" rtl="0" algn="l">
                <a:spcBef>
                  <a:spcPts val="150"/>
                </a:spcBef>
                <a:spcAft>
                  <a:spcPts val="0"/>
                </a:spcAft>
                <a:buNone/>
              </a:pPr>
              <a:r>
                <a:rPr b="0" lang="en-GB" sz="950">
                  <a:solidFill>
                    <a:srgbClr val="94A3B8"/>
                  </a:solidFill>
                  <a:latin typeface="Inter"/>
                  <a:ea typeface="Inter"/>
                  <a:cs typeface="Inter"/>
                  <a:sym typeface="Inter"/>
                </a:rPr>
                <a:t>Explicitly tests customer isolation (verifying HTTP 403 Forbidden responses) and admin RBAC enforcement.</a:t>
              </a:r>
              <a:endParaRPr b="0" sz="950">
                <a:solidFill>
                  <a:srgbClr val="94A3B8"/>
                </a:solidFill>
                <a:latin typeface="Inter"/>
                <a:ea typeface="Inter"/>
                <a:cs typeface="Inter"/>
                <a:sym typeface="Inter"/>
              </a:endParaRPr>
            </a:p>
            <a:p>
              <a:pPr indent="0" lvl="0" marL="0" rtl="0" algn="l">
                <a:spcBef>
                  <a:spcPts val="750"/>
                </a:spcBef>
                <a:spcAft>
                  <a:spcPts val="0"/>
                </a:spcAft>
                <a:buNone/>
              </a:pPr>
              <a:r>
                <a:rPr b="0" lang="en-GB" sz="1050">
                  <a:solidFill>
                    <a:srgbClr val="38BDF8"/>
                  </a:solidFill>
                  <a:latin typeface="Inter Medium"/>
                  <a:ea typeface="Inter Medium"/>
                  <a:cs typeface="Inter Medium"/>
                  <a:sym typeface="Inter Medium"/>
                </a:rPr>
                <a:t>• Complex Business Logic</a:t>
              </a:r>
              <a:endParaRPr b="0" sz="1050">
                <a:solidFill>
                  <a:srgbClr val="38BDF8"/>
                </a:solidFill>
                <a:latin typeface="Inter Medium"/>
                <a:ea typeface="Inter Medium"/>
                <a:cs typeface="Inter Medium"/>
                <a:sym typeface="Inter Medium"/>
              </a:endParaRPr>
            </a:p>
            <a:p>
              <a:pPr indent="0" lvl="0" marL="0" rtl="0" algn="l">
                <a:spcBef>
                  <a:spcPts val="150"/>
                </a:spcBef>
                <a:spcAft>
                  <a:spcPts val="0"/>
                </a:spcAft>
                <a:buNone/>
              </a:pPr>
              <a:r>
                <a:rPr b="0" lang="en-GB" sz="950">
                  <a:solidFill>
                    <a:srgbClr val="94A3B8"/>
                  </a:solidFill>
                  <a:latin typeface="Inter"/>
                  <a:ea typeface="Inter"/>
                  <a:cs typeface="Inter"/>
                  <a:sym typeface="Inter"/>
                </a:rPr>
                <a:t>Tests accuracy of the Haversine sorting algorithm and reliability of state transition concurrency guards.</a:t>
              </a:r>
              <a:endParaRPr b="0" sz="950">
                <a:solidFill>
                  <a:srgbClr val="94A3B8"/>
                </a:solidFill>
                <a:latin typeface="Inter"/>
                <a:ea typeface="Inter"/>
                <a:cs typeface="Inter"/>
                <a:sym typeface="Inter"/>
              </a:endParaRPr>
            </a:p>
          </p:txBody>
        </p:sp>
      </p:grpSp>
      <p:grpSp>
        <p:nvGrpSpPr>
          <p:cNvPr id="492" name="Google Shape;492;p22"/>
          <p:cNvGrpSpPr/>
          <p:nvPr/>
        </p:nvGrpSpPr>
        <p:grpSpPr>
          <a:xfrm>
            <a:off x="4681538" y="1290638"/>
            <a:ext cx="4010100" cy="3238425"/>
            <a:chOff x="4681538" y="1290638"/>
            <a:chExt cx="4010100" cy="3238425"/>
          </a:xfrm>
        </p:grpSpPr>
        <p:grpSp>
          <p:nvGrpSpPr>
            <p:cNvPr id="493" name="Google Shape;493;p22"/>
            <p:cNvGrpSpPr/>
            <p:nvPr/>
          </p:nvGrpSpPr>
          <p:grpSpPr>
            <a:xfrm>
              <a:off x="4681538" y="1290638"/>
              <a:ext cx="4010100" cy="752400"/>
              <a:chOff x="-4762" y="-4762"/>
              <a:chExt cx="4010100" cy="752400"/>
            </a:xfrm>
          </p:grpSpPr>
          <p:pic>
            <p:nvPicPr>
              <p:cNvPr id="494" name="Google Shape;494;p22"/>
              <p:cNvPicPr preferRelativeResize="0"/>
              <p:nvPr/>
            </p:nvPicPr>
            <p:blipFill rotWithShape="1">
              <a:blip r:embed="rId4">
                <a:alphaModFix/>
              </a:blip>
              <a:srcRect b="0" l="0" r="0" t="0"/>
              <a:stretch/>
            </p:blipFill>
            <p:spPr>
              <a:xfrm>
                <a:off x="-4762" y="-4762"/>
                <a:ext cx="4010100" cy="752400"/>
              </a:xfrm>
              <a:prstGeom prst="rect">
                <a:avLst/>
              </a:prstGeom>
              <a:noFill/>
              <a:ln>
                <a:noFill/>
              </a:ln>
            </p:spPr>
          </p:pic>
          <p:sp>
            <p:nvSpPr>
              <p:cNvPr id="495" name="Google Shape;495;p22"/>
              <p:cNvSpPr/>
              <p:nvPr/>
            </p:nvSpPr>
            <p:spPr>
              <a:xfrm>
                <a:off x="0" y="0"/>
                <a:ext cx="57300" cy="743100"/>
              </a:xfrm>
              <a:prstGeom prst="roundRect">
                <a:avLst>
                  <a:gd fmla="val 50000" name="adj"/>
                </a:avLst>
              </a:prstGeom>
              <a:solidFill>
                <a:srgbClr val="38BDF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6" name="Google Shape;496;p22"/>
              <p:cNvSpPr txBox="1"/>
              <p:nvPr/>
            </p:nvSpPr>
            <p:spPr>
              <a:xfrm>
                <a:off x="152400" y="76200"/>
                <a:ext cx="3733800" cy="590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GB" sz="1110">
                    <a:solidFill>
                      <a:srgbClr val="F59E0B"/>
                    </a:solidFill>
                    <a:latin typeface="Outfit SemiBold"/>
                    <a:ea typeface="Outfit SemiBold"/>
                    <a:cs typeface="Outfit SemiBold"/>
                    <a:sym typeface="Outfit SemiBold"/>
                  </a:rPr>
                  <a:t>Member 1 (Frontend Lead)</a:t>
                </a:r>
                <a:endParaRPr b="0" sz="1110">
                  <a:solidFill>
                    <a:srgbClr val="F59E0B"/>
                  </a:solidFill>
                  <a:latin typeface="Outfit SemiBold"/>
                  <a:ea typeface="Outfit SemiBold"/>
                  <a:cs typeface="Outfit SemiBold"/>
                  <a:sym typeface="Outfit SemiBold"/>
                </a:endParaRPr>
              </a:p>
              <a:p>
                <a:pPr indent="0" lvl="0" marL="0" rtl="0" algn="l">
                  <a:spcBef>
                    <a:spcPts val="150"/>
                  </a:spcBef>
                  <a:spcAft>
                    <a:spcPts val="0"/>
                  </a:spcAft>
                  <a:buNone/>
                </a:pPr>
                <a:r>
                  <a:rPr b="0" lang="en-GB" sz="879">
                    <a:solidFill>
                      <a:srgbClr val="CBD5E1"/>
                    </a:solidFill>
                    <a:latin typeface="Inter"/>
                    <a:ea typeface="Inter"/>
                    <a:cs typeface="Inter"/>
                    <a:sym typeface="Inter"/>
                  </a:rPr>
                  <a:t>Architected the React UI, managed React Router navigation, integrated the Leaflet map interface, and developed role-specific dashboards.</a:t>
                </a:r>
                <a:endParaRPr b="0" sz="879">
                  <a:solidFill>
                    <a:srgbClr val="CBD5E1"/>
                  </a:solidFill>
                  <a:latin typeface="Inter"/>
                  <a:ea typeface="Inter"/>
                  <a:cs typeface="Inter"/>
                  <a:sym typeface="Inter"/>
                </a:endParaRPr>
              </a:p>
            </p:txBody>
          </p:sp>
        </p:grpSp>
        <p:grpSp>
          <p:nvGrpSpPr>
            <p:cNvPr id="497" name="Google Shape;497;p22"/>
            <p:cNvGrpSpPr/>
            <p:nvPr/>
          </p:nvGrpSpPr>
          <p:grpSpPr>
            <a:xfrm>
              <a:off x="4681538" y="2119313"/>
              <a:ext cx="4010100" cy="752400"/>
              <a:chOff x="-4762" y="-4762"/>
              <a:chExt cx="4010100" cy="752400"/>
            </a:xfrm>
          </p:grpSpPr>
          <p:pic>
            <p:nvPicPr>
              <p:cNvPr id="498" name="Google Shape;498;p22"/>
              <p:cNvPicPr preferRelativeResize="0"/>
              <p:nvPr/>
            </p:nvPicPr>
            <p:blipFill rotWithShape="1">
              <a:blip r:embed="rId4">
                <a:alphaModFix/>
              </a:blip>
              <a:srcRect b="0" l="0" r="0" t="0"/>
              <a:stretch/>
            </p:blipFill>
            <p:spPr>
              <a:xfrm>
                <a:off x="-4762" y="-4762"/>
                <a:ext cx="4010100" cy="752400"/>
              </a:xfrm>
              <a:prstGeom prst="rect">
                <a:avLst/>
              </a:prstGeom>
              <a:noFill/>
              <a:ln>
                <a:noFill/>
              </a:ln>
            </p:spPr>
          </p:pic>
          <p:sp>
            <p:nvSpPr>
              <p:cNvPr id="499" name="Google Shape;499;p22"/>
              <p:cNvSpPr/>
              <p:nvPr/>
            </p:nvSpPr>
            <p:spPr>
              <a:xfrm>
                <a:off x="0" y="0"/>
                <a:ext cx="57300" cy="743100"/>
              </a:xfrm>
              <a:prstGeom prst="roundRect">
                <a:avLst>
                  <a:gd fmla="val 50000" name="adj"/>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00" name="Google Shape;500;p22"/>
              <p:cNvSpPr txBox="1"/>
              <p:nvPr/>
            </p:nvSpPr>
            <p:spPr>
              <a:xfrm>
                <a:off x="152400" y="76200"/>
                <a:ext cx="3733800" cy="590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GB" sz="1200">
                    <a:solidFill>
                      <a:srgbClr val="F59E0B"/>
                    </a:solidFill>
                    <a:latin typeface="Outfit SemiBold"/>
                    <a:ea typeface="Outfit SemiBold"/>
                    <a:cs typeface="Outfit SemiBold"/>
                    <a:sym typeface="Outfit SemiBold"/>
                  </a:rPr>
                  <a:t>Member 2 (Backend Logic)</a:t>
                </a:r>
                <a:endParaRPr b="0" sz="1200">
                  <a:solidFill>
                    <a:srgbClr val="F59E0B"/>
                  </a:solidFill>
                  <a:latin typeface="Outfit SemiBold"/>
                  <a:ea typeface="Outfit SemiBold"/>
                  <a:cs typeface="Outfit SemiBold"/>
                  <a:sym typeface="Outfit SemiBold"/>
                </a:endParaRPr>
              </a:p>
              <a:p>
                <a:pPr indent="0" lvl="0" marL="0" rtl="0" algn="l">
                  <a:spcBef>
                    <a:spcPts val="150"/>
                  </a:spcBef>
                  <a:spcAft>
                    <a:spcPts val="0"/>
                  </a:spcAft>
                  <a:buNone/>
                </a:pPr>
                <a:r>
                  <a:rPr b="0" lang="en-GB" sz="950">
                    <a:solidFill>
                      <a:srgbClr val="CBD5E1"/>
                    </a:solidFill>
                    <a:latin typeface="Inter"/>
                    <a:ea typeface="Inter"/>
                    <a:cs typeface="Inter"/>
                    <a:sym typeface="Inter"/>
                  </a:rPr>
                  <a:t>Engineered Express Controllers, implemented the Haversine distance service, and enforced Zod data validation.</a:t>
                </a:r>
                <a:endParaRPr b="0" sz="950">
                  <a:solidFill>
                    <a:srgbClr val="CBD5E1"/>
                  </a:solidFill>
                  <a:latin typeface="Inter"/>
                  <a:ea typeface="Inter"/>
                  <a:cs typeface="Inter"/>
                  <a:sym typeface="Inter"/>
                </a:endParaRPr>
              </a:p>
            </p:txBody>
          </p:sp>
        </p:grpSp>
        <p:grpSp>
          <p:nvGrpSpPr>
            <p:cNvPr id="501" name="Google Shape;501;p22"/>
            <p:cNvGrpSpPr/>
            <p:nvPr/>
          </p:nvGrpSpPr>
          <p:grpSpPr>
            <a:xfrm>
              <a:off x="4681538" y="2947988"/>
              <a:ext cx="4010100" cy="752400"/>
              <a:chOff x="-4762" y="-4762"/>
              <a:chExt cx="4010100" cy="752400"/>
            </a:xfrm>
          </p:grpSpPr>
          <p:pic>
            <p:nvPicPr>
              <p:cNvPr id="502" name="Google Shape;502;p22"/>
              <p:cNvPicPr preferRelativeResize="0"/>
              <p:nvPr/>
            </p:nvPicPr>
            <p:blipFill rotWithShape="1">
              <a:blip r:embed="rId4">
                <a:alphaModFix/>
              </a:blip>
              <a:srcRect b="0" l="0" r="0" t="0"/>
              <a:stretch/>
            </p:blipFill>
            <p:spPr>
              <a:xfrm>
                <a:off x="-4762" y="-4762"/>
                <a:ext cx="4010100" cy="752400"/>
              </a:xfrm>
              <a:prstGeom prst="rect">
                <a:avLst/>
              </a:prstGeom>
              <a:noFill/>
              <a:ln>
                <a:noFill/>
              </a:ln>
            </p:spPr>
          </p:pic>
          <p:sp>
            <p:nvSpPr>
              <p:cNvPr id="503" name="Google Shape;503;p22"/>
              <p:cNvSpPr/>
              <p:nvPr/>
            </p:nvSpPr>
            <p:spPr>
              <a:xfrm>
                <a:off x="0" y="0"/>
                <a:ext cx="57300" cy="743100"/>
              </a:xfrm>
              <a:prstGeom prst="roundRect">
                <a:avLst>
                  <a:gd fmla="val 50000" name="adj"/>
                </a:avLst>
              </a:prstGeom>
              <a:solidFill>
                <a:srgbClr val="38BDF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04" name="Google Shape;504;p22"/>
              <p:cNvSpPr txBox="1"/>
              <p:nvPr/>
            </p:nvSpPr>
            <p:spPr>
              <a:xfrm>
                <a:off x="152400" y="76200"/>
                <a:ext cx="3733800" cy="590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GB" sz="1110">
                    <a:solidFill>
                      <a:srgbClr val="F59E0B"/>
                    </a:solidFill>
                    <a:latin typeface="Outfit SemiBold"/>
                    <a:ea typeface="Outfit SemiBold"/>
                    <a:cs typeface="Outfit SemiBold"/>
                    <a:sym typeface="Outfit SemiBold"/>
                  </a:rPr>
                  <a:t>Member 3 (Database Architecture)</a:t>
                </a:r>
                <a:endParaRPr b="0" sz="1110">
                  <a:solidFill>
                    <a:srgbClr val="F59E0B"/>
                  </a:solidFill>
                  <a:latin typeface="Outfit SemiBold"/>
                  <a:ea typeface="Outfit SemiBold"/>
                  <a:cs typeface="Outfit SemiBold"/>
                  <a:sym typeface="Outfit SemiBold"/>
                </a:endParaRPr>
              </a:p>
              <a:p>
                <a:pPr indent="0" lvl="0" marL="0" rtl="0" algn="l">
                  <a:spcBef>
                    <a:spcPts val="150"/>
                  </a:spcBef>
                  <a:spcAft>
                    <a:spcPts val="0"/>
                  </a:spcAft>
                  <a:buNone/>
                </a:pPr>
                <a:r>
                  <a:rPr b="0" lang="en-GB" sz="879">
                    <a:solidFill>
                      <a:srgbClr val="CBD5E1"/>
                    </a:solidFill>
                    <a:latin typeface="Inter"/>
                    <a:ea typeface="Inter"/>
                    <a:cs typeface="Inter"/>
                    <a:sym typeface="Inter"/>
                  </a:rPr>
                  <a:t>Designed Mongoose schemas, configured complex GeoJSON 2dsphere indexes, and developed database seed scripts for rapid deployment.</a:t>
                </a:r>
                <a:endParaRPr b="0" sz="879">
                  <a:solidFill>
                    <a:srgbClr val="CBD5E1"/>
                  </a:solidFill>
                  <a:latin typeface="Inter"/>
                  <a:ea typeface="Inter"/>
                  <a:cs typeface="Inter"/>
                  <a:sym typeface="Inter"/>
                </a:endParaRPr>
              </a:p>
            </p:txBody>
          </p:sp>
        </p:grpSp>
        <p:grpSp>
          <p:nvGrpSpPr>
            <p:cNvPr id="505" name="Google Shape;505;p22"/>
            <p:cNvGrpSpPr/>
            <p:nvPr/>
          </p:nvGrpSpPr>
          <p:grpSpPr>
            <a:xfrm>
              <a:off x="4681538" y="3776663"/>
              <a:ext cx="4010100" cy="752400"/>
              <a:chOff x="-4762" y="-4762"/>
              <a:chExt cx="4010100" cy="752400"/>
            </a:xfrm>
          </p:grpSpPr>
          <p:pic>
            <p:nvPicPr>
              <p:cNvPr id="506" name="Google Shape;506;p22"/>
              <p:cNvPicPr preferRelativeResize="0"/>
              <p:nvPr/>
            </p:nvPicPr>
            <p:blipFill rotWithShape="1">
              <a:blip r:embed="rId4">
                <a:alphaModFix/>
              </a:blip>
              <a:srcRect b="0" l="0" r="0" t="0"/>
              <a:stretch/>
            </p:blipFill>
            <p:spPr>
              <a:xfrm>
                <a:off x="-4762" y="-4762"/>
                <a:ext cx="4010100" cy="752400"/>
              </a:xfrm>
              <a:prstGeom prst="rect">
                <a:avLst/>
              </a:prstGeom>
              <a:noFill/>
              <a:ln>
                <a:noFill/>
              </a:ln>
            </p:spPr>
          </p:pic>
          <p:sp>
            <p:nvSpPr>
              <p:cNvPr id="507" name="Google Shape;507;p22"/>
              <p:cNvSpPr/>
              <p:nvPr/>
            </p:nvSpPr>
            <p:spPr>
              <a:xfrm>
                <a:off x="0" y="0"/>
                <a:ext cx="57300" cy="743100"/>
              </a:xfrm>
              <a:prstGeom prst="roundRect">
                <a:avLst>
                  <a:gd fmla="val 50000" name="adj"/>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08" name="Google Shape;508;p22"/>
              <p:cNvSpPr txBox="1"/>
              <p:nvPr/>
            </p:nvSpPr>
            <p:spPr>
              <a:xfrm>
                <a:off x="152400" y="76200"/>
                <a:ext cx="3733800" cy="590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GB" sz="1110">
                    <a:solidFill>
                      <a:srgbClr val="F59E0B"/>
                    </a:solidFill>
                    <a:latin typeface="Outfit SemiBold"/>
                    <a:ea typeface="Outfit SemiBold"/>
                    <a:cs typeface="Outfit SemiBold"/>
                    <a:sym typeface="Outfit SemiBold"/>
                  </a:rPr>
                  <a:t>Member 4 (Security &amp; QA)</a:t>
                </a:r>
                <a:endParaRPr b="0" sz="1110">
                  <a:solidFill>
                    <a:srgbClr val="F59E0B"/>
                  </a:solidFill>
                  <a:latin typeface="Outfit SemiBold"/>
                  <a:ea typeface="Outfit SemiBold"/>
                  <a:cs typeface="Outfit SemiBold"/>
                  <a:sym typeface="Outfit SemiBold"/>
                </a:endParaRPr>
              </a:p>
              <a:p>
                <a:pPr indent="0" lvl="0" marL="0" rtl="0" algn="l">
                  <a:spcBef>
                    <a:spcPts val="150"/>
                  </a:spcBef>
                  <a:spcAft>
                    <a:spcPts val="0"/>
                  </a:spcAft>
                  <a:buNone/>
                </a:pPr>
                <a:r>
                  <a:rPr b="0" lang="en-GB" sz="879">
                    <a:solidFill>
                      <a:srgbClr val="CBD5E1"/>
                    </a:solidFill>
                    <a:latin typeface="Inter"/>
                    <a:ea typeface="Inter"/>
                    <a:cs typeface="Inter"/>
                    <a:sym typeface="Inter"/>
                  </a:rPr>
                  <a:t>Implemented JWT authentication and RBAC middleware, authored the automated Supertest suite, and managed final demo QA processes.</a:t>
                </a:r>
                <a:endParaRPr b="0" sz="879">
                  <a:solidFill>
                    <a:srgbClr val="CBD5E1"/>
                  </a:solidFill>
                  <a:latin typeface="Inter"/>
                  <a:ea typeface="Inter"/>
                  <a:cs typeface="Inter"/>
                  <a:sym typeface="Inter"/>
                </a:endParaRPr>
              </a:p>
            </p:txBody>
          </p:sp>
        </p:grpSp>
      </p:grpSp>
      <p:grpSp>
        <p:nvGrpSpPr>
          <p:cNvPr id="509" name="Google Shape;509;p22"/>
          <p:cNvGrpSpPr/>
          <p:nvPr/>
        </p:nvGrpSpPr>
        <p:grpSpPr>
          <a:xfrm>
            <a:off x="457200" y="4762500"/>
            <a:ext cx="8229600" cy="285750"/>
            <a:chOff x="457200" y="4762500"/>
            <a:chExt cx="8229600" cy="285750"/>
          </a:xfrm>
        </p:grpSpPr>
        <p:sp>
          <p:nvSpPr>
            <p:cNvPr id="510" name="Google Shape;510;p22"/>
            <p:cNvSpPr/>
            <p:nvPr/>
          </p:nvSpPr>
          <p:spPr>
            <a:xfrm>
              <a:off x="457200" y="4762500"/>
              <a:ext cx="8229600" cy="9600"/>
            </a:xfrm>
            <a:prstGeom prst="rect">
              <a:avLst/>
            </a:prstGeom>
            <a:solidFill>
              <a:srgbClr val="F59E0B">
                <a:alpha val="5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11" name="Google Shape;511;p22"/>
            <p:cNvSpPr txBox="1"/>
            <p:nvPr/>
          </p:nvSpPr>
          <p:spPr>
            <a:xfrm>
              <a:off x="457200" y="485775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1100">
                  <a:solidFill>
                    <a:srgbClr val="94A3B8"/>
                  </a:solidFill>
                  <a:latin typeface="Inter SemiBold"/>
                  <a:ea typeface="Inter SemiBold"/>
                  <a:cs typeface="Inter SemiBold"/>
                  <a:sym typeface="Inter SemiBold"/>
                </a:rPr>
                <a:t>Smart EB Connect | QA &amp; Team Structure</a:t>
              </a:r>
              <a:endParaRPr b="0" sz="1100">
                <a:solidFill>
                  <a:srgbClr val="94A3B8"/>
                </a:solidFill>
                <a:latin typeface="Inter SemiBold"/>
                <a:ea typeface="Inter SemiBold"/>
                <a:cs typeface="Inter SemiBold"/>
                <a:sym typeface="Inter SemiBold"/>
              </a:endParaRPr>
            </a:p>
          </p:txBody>
        </p:sp>
        <p:sp>
          <p:nvSpPr>
            <p:cNvPr id="512" name="Google Shape;512;p22"/>
            <p:cNvSpPr txBox="1"/>
            <p:nvPr/>
          </p:nvSpPr>
          <p:spPr>
            <a:xfrm>
              <a:off x="4876800" y="485775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GB" sz="1100">
                  <a:solidFill>
                    <a:srgbClr val="94A3B8"/>
                  </a:solidFill>
                  <a:latin typeface="Inter SemiBold"/>
                  <a:ea typeface="Inter SemiBold"/>
                  <a:cs typeface="Inter SemiBold"/>
                  <a:sym typeface="Inter SemiBold"/>
                </a:rPr>
                <a:t>Full-Stack Architecture</a:t>
              </a:r>
              <a:endParaRPr b="0" sz="1100">
                <a:solidFill>
                  <a:srgbClr val="94A3B8"/>
                </a:solidFill>
                <a:latin typeface="Inter SemiBold"/>
                <a:ea typeface="Inter SemiBold"/>
                <a:cs typeface="Inter SemiBold"/>
                <a:sym typeface="Inter SemiBold"/>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sp>
        <p:nvSpPr>
          <p:cNvPr id="517" name="Google Shape;517;p23"/>
          <p:cNvSpPr/>
          <p:nvPr/>
        </p:nvSpPr>
        <p:spPr>
          <a:xfrm>
            <a:off x="0" y="0"/>
            <a:ext cx="9144000" cy="5143500"/>
          </a:xfrm>
          <a:prstGeom prst="rect">
            <a:avLst/>
          </a:prstGeom>
          <a:solidFill>
            <a:srgbClr val="0B132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518" name="Google Shape;518;p23"/>
          <p:cNvPicPr preferRelativeResize="0"/>
          <p:nvPr/>
        </p:nvPicPr>
        <p:blipFill rotWithShape="1">
          <a:blip r:embed="rId3">
            <a:alphaModFix/>
          </a:blip>
          <a:srcRect b="0" l="0" r="0" t="0"/>
          <a:stretch/>
        </p:blipFill>
        <p:spPr>
          <a:xfrm>
            <a:off x="0" y="0"/>
            <a:ext cx="9144000" cy="5143500"/>
          </a:xfrm>
          <a:prstGeom prst="rect">
            <a:avLst/>
          </a:prstGeom>
          <a:noFill/>
          <a:ln>
            <a:noFill/>
          </a:ln>
        </p:spPr>
      </p:pic>
      <p:grpSp>
        <p:nvGrpSpPr>
          <p:cNvPr id="519" name="Google Shape;519;p23"/>
          <p:cNvGrpSpPr/>
          <p:nvPr/>
        </p:nvGrpSpPr>
        <p:grpSpPr>
          <a:xfrm>
            <a:off x="457200" y="400050"/>
            <a:ext cx="876300" cy="38100"/>
            <a:chOff x="0" y="0"/>
            <a:chExt cx="876300" cy="38100"/>
          </a:xfrm>
        </p:grpSpPr>
        <p:sp>
          <p:nvSpPr>
            <p:cNvPr id="520" name="Google Shape;520;p23"/>
            <p:cNvSpPr/>
            <p:nvPr/>
          </p:nvSpPr>
          <p:spPr>
            <a:xfrm>
              <a:off x="0" y="0"/>
              <a:ext cx="571500" cy="38100"/>
            </a:xfrm>
            <a:prstGeom prst="roundRect">
              <a:avLst>
                <a:gd fmla="val 50000" name="adj"/>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21" name="Google Shape;521;p23"/>
            <p:cNvSpPr/>
            <p:nvPr/>
          </p:nvSpPr>
          <p:spPr>
            <a:xfrm>
              <a:off x="609600" y="0"/>
              <a:ext cx="152400" cy="38100"/>
            </a:xfrm>
            <a:prstGeom prst="roundRect">
              <a:avLst>
                <a:gd fmla="val 50000" name="adj"/>
              </a:avLst>
            </a:prstGeom>
            <a:solidFill>
              <a:srgbClr val="38BDF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22" name="Google Shape;522;p23"/>
            <p:cNvSpPr/>
            <p:nvPr/>
          </p:nvSpPr>
          <p:spPr>
            <a:xfrm>
              <a:off x="800100" y="0"/>
              <a:ext cx="76200" cy="38100"/>
            </a:xfrm>
            <a:prstGeom prst="roundRect">
              <a:avLst>
                <a:gd fmla="val 50000" name="adj"/>
              </a:avLst>
            </a:prstGeom>
            <a:solidFill>
              <a:srgbClr val="38BDF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523" name="Google Shape;523;p23"/>
          <p:cNvSpPr txBox="1"/>
          <p:nvPr/>
        </p:nvSpPr>
        <p:spPr>
          <a:xfrm>
            <a:off x="457200" y="514350"/>
            <a:ext cx="8229600" cy="476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2400">
                <a:solidFill>
                  <a:srgbClr val="F8FAFC"/>
                </a:solidFill>
                <a:latin typeface="Outfit"/>
                <a:ea typeface="Outfit"/>
                <a:cs typeface="Outfit"/>
                <a:sym typeface="Outfit"/>
              </a:rPr>
              <a:t>End-to-End Demo Walkthrough &amp; Future Scope</a:t>
            </a:r>
            <a:endParaRPr b="1" sz="2400">
              <a:solidFill>
                <a:srgbClr val="F8FAFC"/>
              </a:solidFill>
              <a:latin typeface="Outfit"/>
              <a:ea typeface="Outfit"/>
              <a:cs typeface="Outfit"/>
              <a:sym typeface="Outfit"/>
            </a:endParaRPr>
          </a:p>
        </p:txBody>
      </p:sp>
      <p:grpSp>
        <p:nvGrpSpPr>
          <p:cNvPr id="524" name="Google Shape;524;p23"/>
          <p:cNvGrpSpPr/>
          <p:nvPr/>
        </p:nvGrpSpPr>
        <p:grpSpPr>
          <a:xfrm>
            <a:off x="457200" y="1104900"/>
            <a:ext cx="4000500" cy="3162450"/>
            <a:chOff x="457200" y="1104900"/>
            <a:chExt cx="4000500" cy="3162450"/>
          </a:xfrm>
        </p:grpSpPr>
        <p:sp>
          <p:nvSpPr>
            <p:cNvPr id="525" name="Google Shape;525;p23"/>
            <p:cNvSpPr txBox="1"/>
            <p:nvPr/>
          </p:nvSpPr>
          <p:spPr>
            <a:xfrm>
              <a:off x="457200" y="1104900"/>
              <a:ext cx="40005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1500">
                  <a:solidFill>
                    <a:srgbClr val="F59E0B"/>
                  </a:solidFill>
                  <a:latin typeface="Outfit SemiBold"/>
                  <a:ea typeface="Outfit SemiBold"/>
                  <a:cs typeface="Outfit SemiBold"/>
                  <a:sym typeface="Outfit SemiBold"/>
                </a:rPr>
                <a:t>Live Demonstration Flow</a:t>
              </a:r>
              <a:endParaRPr b="0" sz="1500">
                <a:solidFill>
                  <a:srgbClr val="F59E0B"/>
                </a:solidFill>
                <a:latin typeface="Outfit SemiBold"/>
                <a:ea typeface="Outfit SemiBold"/>
                <a:cs typeface="Outfit SemiBold"/>
                <a:sym typeface="Outfit SemiBold"/>
              </a:endParaRPr>
            </a:p>
          </p:txBody>
        </p:sp>
        <p:pic>
          <p:nvPicPr>
            <p:cNvPr id="526" name="Google Shape;526;p23"/>
            <p:cNvPicPr preferRelativeResize="0"/>
            <p:nvPr/>
          </p:nvPicPr>
          <p:blipFill rotWithShape="1">
            <a:blip r:embed="rId4">
              <a:alphaModFix/>
            </a:blip>
            <a:srcRect b="0" l="0" r="0" t="0"/>
            <a:stretch/>
          </p:blipFill>
          <p:spPr>
            <a:xfrm>
              <a:off x="638175" y="1638300"/>
              <a:ext cx="19200" cy="2552700"/>
            </a:xfrm>
            <a:prstGeom prst="rect">
              <a:avLst/>
            </a:prstGeom>
            <a:noFill/>
            <a:ln>
              <a:noFill/>
            </a:ln>
          </p:spPr>
        </p:pic>
        <p:sp>
          <p:nvSpPr>
            <p:cNvPr id="527" name="Google Shape;527;p23"/>
            <p:cNvSpPr/>
            <p:nvPr/>
          </p:nvSpPr>
          <p:spPr>
            <a:xfrm>
              <a:off x="514350" y="1504950"/>
              <a:ext cx="266700" cy="266700"/>
            </a:xfrm>
            <a:prstGeom prst="ellipse">
              <a:avLst/>
            </a:prstGeom>
            <a:solidFill>
              <a:srgbClr val="1E293B"/>
            </a:solidFill>
            <a:ln cap="flat" cmpd="sng" w="19050">
              <a:solidFill>
                <a:srgbClr val="F59E0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28" name="Google Shape;528;p23"/>
            <p:cNvSpPr txBox="1"/>
            <p:nvPr/>
          </p:nvSpPr>
          <p:spPr>
            <a:xfrm>
              <a:off x="514350" y="1543050"/>
              <a:ext cx="2667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000">
                  <a:solidFill>
                    <a:srgbClr val="F59E0B"/>
                  </a:solidFill>
                  <a:latin typeface="Inter"/>
                  <a:ea typeface="Inter"/>
                  <a:cs typeface="Inter"/>
                  <a:sym typeface="Inter"/>
                </a:rPr>
                <a:t>1</a:t>
              </a:r>
              <a:endParaRPr b="1" sz="1000">
                <a:solidFill>
                  <a:srgbClr val="F59E0B"/>
                </a:solidFill>
                <a:latin typeface="Inter"/>
                <a:ea typeface="Inter"/>
                <a:cs typeface="Inter"/>
                <a:sym typeface="Inter"/>
              </a:endParaRPr>
            </a:p>
          </p:txBody>
        </p:sp>
        <p:sp>
          <p:nvSpPr>
            <p:cNvPr id="529" name="Google Shape;529;p23"/>
            <p:cNvSpPr txBox="1"/>
            <p:nvPr/>
          </p:nvSpPr>
          <p:spPr>
            <a:xfrm>
              <a:off x="895350" y="1485900"/>
              <a:ext cx="3562200" cy="666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1100">
                  <a:solidFill>
                    <a:srgbClr val="F8FAFC"/>
                  </a:solidFill>
                  <a:latin typeface="Inter SemiBold"/>
                  <a:ea typeface="Inter SemiBold"/>
                  <a:cs typeface="Inter SemiBold"/>
                  <a:sym typeface="Inter SemiBold"/>
                </a:rPr>
                <a:t>Customer Reporting </a:t>
              </a:r>
              <a:r>
                <a:rPr b="0" lang="en-GB" sz="950">
                  <a:solidFill>
                    <a:srgbClr val="38BDF8"/>
                  </a:solidFill>
                  <a:latin typeface="Fira Code"/>
                  <a:ea typeface="Fira Code"/>
                  <a:cs typeface="Fira Code"/>
                  <a:sym typeface="Fira Code"/>
                </a:rPr>
                <a:t>(ananya@smarteb.local)</a:t>
              </a:r>
              <a:endParaRPr b="0" sz="1100">
                <a:solidFill>
                  <a:srgbClr val="F8FAFC"/>
                </a:solidFill>
                <a:latin typeface="Inter SemiBold"/>
                <a:ea typeface="Inter SemiBold"/>
                <a:cs typeface="Inter SemiBold"/>
                <a:sym typeface="Inter SemiBold"/>
              </a:endParaRPr>
            </a:p>
            <a:p>
              <a:pPr indent="0" lvl="0" marL="0" rtl="0" algn="l">
                <a:spcBef>
                  <a:spcPts val="150"/>
                </a:spcBef>
                <a:spcAft>
                  <a:spcPts val="0"/>
                </a:spcAft>
                <a:buNone/>
              </a:pPr>
              <a:r>
                <a:rPr b="0" lang="en-GB" sz="1050">
                  <a:solidFill>
                    <a:srgbClr val="94A3B8"/>
                  </a:solidFill>
                  <a:latin typeface="Inter"/>
                  <a:ea typeface="Inter"/>
                  <a:cs typeface="Inter"/>
                  <a:sym typeface="Inter"/>
                </a:rPr>
                <a:t>Simulated customer logs into platform, identifies outage, and submits a geo-tagged complaint.</a:t>
              </a:r>
              <a:endParaRPr b="0" sz="1050">
                <a:solidFill>
                  <a:srgbClr val="94A3B8"/>
                </a:solidFill>
                <a:latin typeface="Inter"/>
                <a:ea typeface="Inter"/>
                <a:cs typeface="Inter"/>
                <a:sym typeface="Inter"/>
              </a:endParaRPr>
            </a:p>
          </p:txBody>
        </p:sp>
        <p:sp>
          <p:nvSpPr>
            <p:cNvPr id="530" name="Google Shape;530;p23"/>
            <p:cNvSpPr/>
            <p:nvPr/>
          </p:nvSpPr>
          <p:spPr>
            <a:xfrm>
              <a:off x="514350" y="2209800"/>
              <a:ext cx="266700" cy="266700"/>
            </a:xfrm>
            <a:prstGeom prst="ellipse">
              <a:avLst/>
            </a:prstGeom>
            <a:solidFill>
              <a:srgbClr val="1E293B"/>
            </a:solidFill>
            <a:ln cap="flat" cmpd="sng" w="19050">
              <a:solidFill>
                <a:srgbClr val="F59E0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31" name="Google Shape;531;p23"/>
            <p:cNvSpPr txBox="1"/>
            <p:nvPr/>
          </p:nvSpPr>
          <p:spPr>
            <a:xfrm>
              <a:off x="514350" y="2247900"/>
              <a:ext cx="2667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000">
                  <a:solidFill>
                    <a:srgbClr val="F59E0B"/>
                  </a:solidFill>
                  <a:latin typeface="Inter"/>
                  <a:ea typeface="Inter"/>
                  <a:cs typeface="Inter"/>
                  <a:sym typeface="Inter"/>
                </a:rPr>
                <a:t>2</a:t>
              </a:r>
              <a:endParaRPr b="1" sz="1000">
                <a:solidFill>
                  <a:srgbClr val="F59E0B"/>
                </a:solidFill>
                <a:latin typeface="Inter"/>
                <a:ea typeface="Inter"/>
                <a:cs typeface="Inter"/>
                <a:sym typeface="Inter"/>
              </a:endParaRPr>
            </a:p>
          </p:txBody>
        </p:sp>
        <p:sp>
          <p:nvSpPr>
            <p:cNvPr id="532" name="Google Shape;532;p23"/>
            <p:cNvSpPr txBox="1"/>
            <p:nvPr/>
          </p:nvSpPr>
          <p:spPr>
            <a:xfrm>
              <a:off x="895350" y="2190750"/>
              <a:ext cx="3562200" cy="666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1100">
                  <a:solidFill>
                    <a:srgbClr val="F8FAFC"/>
                  </a:solidFill>
                  <a:latin typeface="Inter SemiBold"/>
                  <a:ea typeface="Inter SemiBold"/>
                  <a:cs typeface="Inter SemiBold"/>
                  <a:sym typeface="Inter SemiBold"/>
                </a:rPr>
                <a:t>Dispatch &amp; Assignment </a:t>
              </a:r>
              <a:r>
                <a:rPr b="0" lang="en-GB" sz="950">
                  <a:solidFill>
                    <a:srgbClr val="38BDF8"/>
                  </a:solidFill>
                  <a:latin typeface="Fira Code"/>
                  <a:ea typeface="Fira Code"/>
                  <a:cs typeface="Fira Code"/>
                  <a:sym typeface="Fira Code"/>
                </a:rPr>
                <a:t>(karthik.tech@smarteb.local)</a:t>
              </a:r>
              <a:endParaRPr b="0" sz="1100">
                <a:solidFill>
                  <a:srgbClr val="F8FAFC"/>
                </a:solidFill>
                <a:latin typeface="Inter SemiBold"/>
                <a:ea typeface="Inter SemiBold"/>
                <a:cs typeface="Inter SemiBold"/>
                <a:sym typeface="Inter SemiBold"/>
              </a:endParaRPr>
            </a:p>
            <a:p>
              <a:pPr indent="0" lvl="0" marL="0" rtl="0" algn="l">
                <a:spcBef>
                  <a:spcPts val="150"/>
                </a:spcBef>
                <a:spcAft>
                  <a:spcPts val="0"/>
                </a:spcAft>
                <a:buNone/>
              </a:pPr>
              <a:r>
                <a:rPr b="0" lang="en-GB" sz="1050">
                  <a:solidFill>
                    <a:srgbClr val="94A3B8"/>
                  </a:solidFill>
                  <a:latin typeface="Inter"/>
                  <a:ea typeface="Inter"/>
                  <a:cs typeface="Inter"/>
                  <a:sym typeface="Inter"/>
                </a:rPr>
                <a:t>System identifies &amp; assigns nearest available field technician based on Haversine ranking.</a:t>
              </a:r>
              <a:endParaRPr b="0" sz="1050">
                <a:solidFill>
                  <a:srgbClr val="94A3B8"/>
                </a:solidFill>
                <a:latin typeface="Inter"/>
                <a:ea typeface="Inter"/>
                <a:cs typeface="Inter"/>
                <a:sym typeface="Inter"/>
              </a:endParaRPr>
            </a:p>
          </p:txBody>
        </p:sp>
        <p:sp>
          <p:nvSpPr>
            <p:cNvPr id="533" name="Google Shape;533;p23"/>
            <p:cNvSpPr/>
            <p:nvPr/>
          </p:nvSpPr>
          <p:spPr>
            <a:xfrm>
              <a:off x="514350" y="2914650"/>
              <a:ext cx="266700" cy="266700"/>
            </a:xfrm>
            <a:prstGeom prst="ellipse">
              <a:avLst/>
            </a:prstGeom>
            <a:solidFill>
              <a:srgbClr val="1E293B"/>
            </a:solidFill>
            <a:ln cap="flat" cmpd="sng" w="19050">
              <a:solidFill>
                <a:srgbClr val="F59E0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34" name="Google Shape;534;p23"/>
            <p:cNvSpPr txBox="1"/>
            <p:nvPr/>
          </p:nvSpPr>
          <p:spPr>
            <a:xfrm>
              <a:off x="514350" y="2952750"/>
              <a:ext cx="2667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000">
                  <a:solidFill>
                    <a:srgbClr val="F59E0B"/>
                  </a:solidFill>
                  <a:latin typeface="Inter"/>
                  <a:ea typeface="Inter"/>
                  <a:cs typeface="Inter"/>
                  <a:sym typeface="Inter"/>
                </a:rPr>
                <a:t>3</a:t>
              </a:r>
              <a:endParaRPr b="1" sz="1000">
                <a:solidFill>
                  <a:srgbClr val="F59E0B"/>
                </a:solidFill>
                <a:latin typeface="Inter"/>
                <a:ea typeface="Inter"/>
                <a:cs typeface="Inter"/>
                <a:sym typeface="Inter"/>
              </a:endParaRPr>
            </a:p>
          </p:txBody>
        </p:sp>
        <p:sp>
          <p:nvSpPr>
            <p:cNvPr id="535" name="Google Shape;535;p23"/>
            <p:cNvSpPr txBox="1"/>
            <p:nvPr/>
          </p:nvSpPr>
          <p:spPr>
            <a:xfrm>
              <a:off x="895350" y="2895600"/>
              <a:ext cx="3562200" cy="666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1100">
                  <a:solidFill>
                    <a:srgbClr val="F8FAFC"/>
                  </a:solidFill>
                  <a:latin typeface="Inter SemiBold"/>
                  <a:ea typeface="Inter SemiBold"/>
                  <a:cs typeface="Inter SemiBold"/>
                  <a:sym typeface="Inter SemiBold"/>
                </a:rPr>
                <a:t>Technician Resolution</a:t>
              </a:r>
              <a:endParaRPr b="0" sz="1100">
                <a:solidFill>
                  <a:srgbClr val="F8FAFC"/>
                </a:solidFill>
                <a:latin typeface="Inter SemiBold"/>
                <a:ea typeface="Inter SemiBold"/>
                <a:cs typeface="Inter SemiBold"/>
                <a:sym typeface="Inter SemiBold"/>
              </a:endParaRPr>
            </a:p>
            <a:p>
              <a:pPr indent="0" lvl="0" marL="0" rtl="0" algn="l">
                <a:spcBef>
                  <a:spcPts val="150"/>
                </a:spcBef>
                <a:spcAft>
                  <a:spcPts val="0"/>
                </a:spcAft>
                <a:buNone/>
              </a:pPr>
              <a:r>
                <a:rPr b="0" lang="en-GB" sz="1050">
                  <a:solidFill>
                    <a:srgbClr val="94A3B8"/>
                  </a:solidFill>
                  <a:latin typeface="Inter"/>
                  <a:ea typeface="Inter"/>
                  <a:cs typeface="Inter"/>
                  <a:sym typeface="Inter"/>
                </a:rPr>
                <a:t>Technician receives alert, accepts job, travels to location, and updates state machine to 'Resolved'.</a:t>
              </a:r>
              <a:endParaRPr b="0" sz="1050">
                <a:solidFill>
                  <a:srgbClr val="94A3B8"/>
                </a:solidFill>
                <a:latin typeface="Inter"/>
                <a:ea typeface="Inter"/>
                <a:cs typeface="Inter"/>
                <a:sym typeface="Inter"/>
              </a:endParaRPr>
            </a:p>
          </p:txBody>
        </p:sp>
        <p:sp>
          <p:nvSpPr>
            <p:cNvPr id="536" name="Google Shape;536;p23"/>
            <p:cNvSpPr/>
            <p:nvPr/>
          </p:nvSpPr>
          <p:spPr>
            <a:xfrm>
              <a:off x="514350" y="3619500"/>
              <a:ext cx="266700" cy="266700"/>
            </a:xfrm>
            <a:prstGeom prst="ellipse">
              <a:avLst/>
            </a:prstGeom>
            <a:solidFill>
              <a:srgbClr val="1E293B"/>
            </a:solidFill>
            <a:ln cap="flat" cmpd="sng" w="19050">
              <a:solidFill>
                <a:srgbClr val="F59E0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37" name="Google Shape;537;p23"/>
            <p:cNvSpPr txBox="1"/>
            <p:nvPr/>
          </p:nvSpPr>
          <p:spPr>
            <a:xfrm>
              <a:off x="514350" y="3657600"/>
              <a:ext cx="2667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000">
                  <a:solidFill>
                    <a:srgbClr val="F59E0B"/>
                  </a:solidFill>
                  <a:latin typeface="Inter"/>
                  <a:ea typeface="Inter"/>
                  <a:cs typeface="Inter"/>
                  <a:sym typeface="Inter"/>
                </a:rPr>
                <a:t>4</a:t>
              </a:r>
              <a:endParaRPr b="1" sz="1000">
                <a:solidFill>
                  <a:srgbClr val="F59E0B"/>
                </a:solidFill>
                <a:latin typeface="Inter"/>
                <a:ea typeface="Inter"/>
                <a:cs typeface="Inter"/>
                <a:sym typeface="Inter"/>
              </a:endParaRPr>
            </a:p>
          </p:txBody>
        </p:sp>
        <p:sp>
          <p:nvSpPr>
            <p:cNvPr id="538" name="Google Shape;538;p23"/>
            <p:cNvSpPr txBox="1"/>
            <p:nvPr/>
          </p:nvSpPr>
          <p:spPr>
            <a:xfrm>
              <a:off x="895350" y="3600450"/>
              <a:ext cx="3562200" cy="666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1100">
                  <a:solidFill>
                    <a:srgbClr val="F8FAFC"/>
                  </a:solidFill>
                  <a:latin typeface="Inter SemiBold"/>
                  <a:ea typeface="Inter SemiBold"/>
                  <a:cs typeface="Inter SemiBold"/>
                  <a:sym typeface="Inter SemiBold"/>
                </a:rPr>
                <a:t>Administrative Audit </a:t>
              </a:r>
              <a:r>
                <a:rPr b="0" lang="en-GB" sz="950">
                  <a:solidFill>
                    <a:srgbClr val="38BDF8"/>
                  </a:solidFill>
                  <a:latin typeface="Fira Code"/>
                  <a:ea typeface="Fira Code"/>
                  <a:cs typeface="Fira Code"/>
                  <a:sym typeface="Fira Code"/>
                </a:rPr>
                <a:t>(admin@smarteb.local)</a:t>
              </a:r>
              <a:endParaRPr b="0" sz="1100">
                <a:solidFill>
                  <a:srgbClr val="F8FAFC"/>
                </a:solidFill>
                <a:latin typeface="Inter SemiBold"/>
                <a:ea typeface="Inter SemiBold"/>
                <a:cs typeface="Inter SemiBold"/>
                <a:sym typeface="Inter SemiBold"/>
              </a:endParaRPr>
            </a:p>
            <a:p>
              <a:pPr indent="0" lvl="0" marL="0" rtl="0" algn="l">
                <a:spcBef>
                  <a:spcPts val="150"/>
                </a:spcBef>
                <a:spcAft>
                  <a:spcPts val="0"/>
                </a:spcAft>
                <a:buNone/>
              </a:pPr>
              <a:r>
                <a:rPr b="0" lang="en-GB" sz="1050">
                  <a:solidFill>
                    <a:srgbClr val="94A3B8"/>
                  </a:solidFill>
                  <a:latin typeface="Inter"/>
                  <a:ea typeface="Inter"/>
                  <a:cs typeface="Inter"/>
                  <a:sym typeface="Inter"/>
                </a:rPr>
                <a:t>System administrator logs in to review updated operational metrics and audit completed ticket.</a:t>
              </a:r>
              <a:endParaRPr b="0" sz="1050">
                <a:solidFill>
                  <a:srgbClr val="94A3B8"/>
                </a:solidFill>
                <a:latin typeface="Inter"/>
                <a:ea typeface="Inter"/>
                <a:cs typeface="Inter"/>
                <a:sym typeface="Inter"/>
              </a:endParaRPr>
            </a:p>
          </p:txBody>
        </p:sp>
      </p:grpSp>
      <p:grpSp>
        <p:nvGrpSpPr>
          <p:cNvPr id="539" name="Google Shape;539;p23"/>
          <p:cNvGrpSpPr/>
          <p:nvPr/>
        </p:nvGrpSpPr>
        <p:grpSpPr>
          <a:xfrm>
            <a:off x="4686300" y="1104900"/>
            <a:ext cx="4000500" cy="3371850"/>
            <a:chOff x="4686300" y="1104900"/>
            <a:chExt cx="4000500" cy="3371850"/>
          </a:xfrm>
        </p:grpSpPr>
        <p:sp>
          <p:nvSpPr>
            <p:cNvPr id="540" name="Google Shape;540;p23"/>
            <p:cNvSpPr txBox="1"/>
            <p:nvPr/>
          </p:nvSpPr>
          <p:spPr>
            <a:xfrm>
              <a:off x="4686300" y="1104900"/>
              <a:ext cx="40005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1500">
                  <a:solidFill>
                    <a:srgbClr val="38BDF8"/>
                  </a:solidFill>
                  <a:latin typeface="Outfit SemiBold"/>
                  <a:ea typeface="Outfit SemiBold"/>
                  <a:cs typeface="Outfit SemiBold"/>
                  <a:sym typeface="Outfit SemiBold"/>
                </a:rPr>
                <a:t>Future Scope &amp; Enhancements</a:t>
              </a:r>
              <a:endParaRPr b="0" sz="1500">
                <a:solidFill>
                  <a:srgbClr val="38BDF8"/>
                </a:solidFill>
                <a:latin typeface="Outfit SemiBold"/>
                <a:ea typeface="Outfit SemiBold"/>
                <a:cs typeface="Outfit SemiBold"/>
                <a:sym typeface="Outfit SemiBold"/>
              </a:endParaRPr>
            </a:p>
          </p:txBody>
        </p:sp>
        <p:grpSp>
          <p:nvGrpSpPr>
            <p:cNvPr id="541" name="Google Shape;541;p23"/>
            <p:cNvGrpSpPr/>
            <p:nvPr/>
          </p:nvGrpSpPr>
          <p:grpSpPr>
            <a:xfrm>
              <a:off x="4686300" y="1466850"/>
              <a:ext cx="1943100" cy="1447800"/>
              <a:chOff x="0" y="0"/>
              <a:chExt cx="1943100" cy="1447800"/>
            </a:xfrm>
          </p:grpSpPr>
          <p:sp>
            <p:nvSpPr>
              <p:cNvPr id="542" name="Google Shape;542;p23"/>
              <p:cNvSpPr/>
              <p:nvPr/>
            </p:nvSpPr>
            <p:spPr>
              <a:xfrm>
                <a:off x="0" y="0"/>
                <a:ext cx="1943100" cy="1447800"/>
              </a:xfrm>
              <a:prstGeom prst="roundRect">
                <a:avLst>
                  <a:gd fmla="val 5263" name="adj"/>
                </a:avLst>
              </a:prstGeom>
              <a:solidFill>
                <a:srgbClr val="1E293B"/>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43" name="Google Shape;543;p23"/>
              <p:cNvSpPr/>
              <p:nvPr/>
            </p:nvSpPr>
            <p:spPr>
              <a:xfrm>
                <a:off x="0" y="0"/>
                <a:ext cx="1943100" cy="28500"/>
              </a:xfrm>
              <a:prstGeom prst="roundRect">
                <a:avLst>
                  <a:gd fmla="val 33333" name="adj"/>
                </a:avLst>
              </a:prstGeom>
              <a:solidFill>
                <a:srgbClr val="38BDF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44" name="Google Shape;544;p23"/>
              <p:cNvSpPr txBox="1"/>
              <p:nvPr/>
            </p:nvSpPr>
            <p:spPr>
              <a:xfrm>
                <a:off x="133350" y="133350"/>
                <a:ext cx="1676400" cy="1181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1300">
                    <a:solidFill>
                      <a:srgbClr val="38BDF8"/>
                    </a:solidFill>
                    <a:latin typeface="Outfit SemiBold"/>
                    <a:ea typeface="Outfit SemiBold"/>
                    <a:cs typeface="Outfit SemiBold"/>
                    <a:sym typeface="Outfit SemiBold"/>
                  </a:rPr>
                  <a:t>Advanced Routing</a:t>
                </a:r>
                <a:endParaRPr b="0" sz="1300">
                  <a:solidFill>
                    <a:srgbClr val="38BDF8"/>
                  </a:solidFill>
                  <a:latin typeface="Outfit SemiBold"/>
                  <a:ea typeface="Outfit SemiBold"/>
                  <a:cs typeface="Outfit SemiBold"/>
                  <a:sym typeface="Outfit SemiBold"/>
                </a:endParaRPr>
              </a:p>
              <a:p>
                <a:pPr indent="0" lvl="0" marL="0" rtl="0" algn="l">
                  <a:spcBef>
                    <a:spcPts val="300"/>
                  </a:spcBef>
                  <a:spcAft>
                    <a:spcPts val="0"/>
                  </a:spcAft>
                  <a:buNone/>
                </a:pPr>
                <a:r>
                  <a:rPr b="0" lang="en-GB" sz="1050">
                    <a:solidFill>
                      <a:srgbClr val="94A3B8"/>
                    </a:solidFill>
                    <a:latin typeface="Inter"/>
                    <a:ea typeface="Inter"/>
                    <a:cs typeface="Inter"/>
                    <a:sym typeface="Inter"/>
                  </a:rPr>
                  <a:t>Replacing straight-line Haversine calculations with road routing &amp; accurate ETAs via OSRM or Mapbox.</a:t>
                </a:r>
                <a:endParaRPr b="0" sz="1050">
                  <a:solidFill>
                    <a:srgbClr val="94A3B8"/>
                  </a:solidFill>
                  <a:latin typeface="Inter"/>
                  <a:ea typeface="Inter"/>
                  <a:cs typeface="Inter"/>
                  <a:sym typeface="Inter"/>
                </a:endParaRPr>
              </a:p>
            </p:txBody>
          </p:sp>
        </p:grpSp>
        <p:grpSp>
          <p:nvGrpSpPr>
            <p:cNvPr id="545" name="Google Shape;545;p23"/>
            <p:cNvGrpSpPr/>
            <p:nvPr/>
          </p:nvGrpSpPr>
          <p:grpSpPr>
            <a:xfrm>
              <a:off x="6743700" y="1466850"/>
              <a:ext cx="1943100" cy="1447800"/>
              <a:chOff x="0" y="0"/>
              <a:chExt cx="1943100" cy="1447800"/>
            </a:xfrm>
          </p:grpSpPr>
          <p:sp>
            <p:nvSpPr>
              <p:cNvPr id="546" name="Google Shape;546;p23"/>
              <p:cNvSpPr/>
              <p:nvPr/>
            </p:nvSpPr>
            <p:spPr>
              <a:xfrm>
                <a:off x="0" y="0"/>
                <a:ext cx="1943100" cy="1447800"/>
              </a:xfrm>
              <a:prstGeom prst="roundRect">
                <a:avLst>
                  <a:gd fmla="val 5263" name="adj"/>
                </a:avLst>
              </a:prstGeom>
              <a:solidFill>
                <a:srgbClr val="1E293B"/>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47" name="Google Shape;547;p23"/>
              <p:cNvSpPr/>
              <p:nvPr/>
            </p:nvSpPr>
            <p:spPr>
              <a:xfrm>
                <a:off x="0" y="0"/>
                <a:ext cx="1943100" cy="28500"/>
              </a:xfrm>
              <a:prstGeom prst="roundRect">
                <a:avLst>
                  <a:gd fmla="val 33333" name="adj"/>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48" name="Google Shape;548;p23"/>
              <p:cNvSpPr txBox="1"/>
              <p:nvPr/>
            </p:nvSpPr>
            <p:spPr>
              <a:xfrm>
                <a:off x="133350" y="133350"/>
                <a:ext cx="1676400" cy="1181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1300">
                    <a:solidFill>
                      <a:srgbClr val="F59E0B"/>
                    </a:solidFill>
                    <a:latin typeface="Outfit SemiBold"/>
                    <a:ea typeface="Outfit SemiBold"/>
                    <a:cs typeface="Outfit SemiBold"/>
                    <a:sym typeface="Outfit SemiBold"/>
                  </a:rPr>
                  <a:t>Real-Time Comms</a:t>
                </a:r>
                <a:endParaRPr b="0" sz="1300">
                  <a:solidFill>
                    <a:srgbClr val="F59E0B"/>
                  </a:solidFill>
                  <a:latin typeface="Outfit SemiBold"/>
                  <a:ea typeface="Outfit SemiBold"/>
                  <a:cs typeface="Outfit SemiBold"/>
                  <a:sym typeface="Outfit SemiBold"/>
                </a:endParaRPr>
              </a:p>
              <a:p>
                <a:pPr indent="0" lvl="0" marL="0" rtl="0" algn="l">
                  <a:spcBef>
                    <a:spcPts val="300"/>
                  </a:spcBef>
                  <a:spcAft>
                    <a:spcPts val="0"/>
                  </a:spcAft>
                  <a:buNone/>
                </a:pPr>
                <a:r>
                  <a:rPr b="0" lang="en-GB" sz="1050">
                    <a:solidFill>
                      <a:srgbClr val="94A3B8"/>
                    </a:solidFill>
                    <a:latin typeface="Inter"/>
                    <a:ea typeface="Inter"/>
                    <a:cs typeface="Inter"/>
                    <a:sym typeface="Inter"/>
                  </a:rPr>
                  <a:t>Implementing WebSockets to push live notification updates to users without manual page refreshes.</a:t>
                </a:r>
                <a:endParaRPr b="0" sz="1050">
                  <a:solidFill>
                    <a:srgbClr val="94A3B8"/>
                  </a:solidFill>
                  <a:latin typeface="Inter"/>
                  <a:ea typeface="Inter"/>
                  <a:cs typeface="Inter"/>
                  <a:sym typeface="Inter"/>
                </a:endParaRPr>
              </a:p>
            </p:txBody>
          </p:sp>
        </p:grpSp>
        <p:grpSp>
          <p:nvGrpSpPr>
            <p:cNvPr id="549" name="Google Shape;549;p23"/>
            <p:cNvGrpSpPr/>
            <p:nvPr/>
          </p:nvGrpSpPr>
          <p:grpSpPr>
            <a:xfrm>
              <a:off x="4686300" y="3028950"/>
              <a:ext cx="1943100" cy="1447800"/>
              <a:chOff x="0" y="0"/>
              <a:chExt cx="1943100" cy="1447800"/>
            </a:xfrm>
          </p:grpSpPr>
          <p:sp>
            <p:nvSpPr>
              <p:cNvPr id="550" name="Google Shape;550;p23"/>
              <p:cNvSpPr/>
              <p:nvPr/>
            </p:nvSpPr>
            <p:spPr>
              <a:xfrm>
                <a:off x="0" y="0"/>
                <a:ext cx="1943100" cy="1447800"/>
              </a:xfrm>
              <a:prstGeom prst="roundRect">
                <a:avLst>
                  <a:gd fmla="val 5263" name="adj"/>
                </a:avLst>
              </a:prstGeom>
              <a:solidFill>
                <a:srgbClr val="1E293B"/>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51" name="Google Shape;551;p23"/>
              <p:cNvSpPr/>
              <p:nvPr/>
            </p:nvSpPr>
            <p:spPr>
              <a:xfrm>
                <a:off x="0" y="0"/>
                <a:ext cx="1943100" cy="28500"/>
              </a:xfrm>
              <a:prstGeom prst="roundRect">
                <a:avLst>
                  <a:gd fmla="val 33333" name="adj"/>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52" name="Google Shape;552;p23"/>
              <p:cNvSpPr txBox="1"/>
              <p:nvPr/>
            </p:nvSpPr>
            <p:spPr>
              <a:xfrm>
                <a:off x="133350" y="133350"/>
                <a:ext cx="1676400" cy="1181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1300">
                    <a:solidFill>
                      <a:srgbClr val="F59E0B"/>
                    </a:solidFill>
                    <a:latin typeface="Outfit SemiBold"/>
                    <a:ea typeface="Outfit SemiBold"/>
                    <a:cs typeface="Outfit SemiBold"/>
                    <a:sym typeface="Outfit SemiBold"/>
                  </a:rPr>
                  <a:t>Media Integration</a:t>
                </a:r>
                <a:endParaRPr b="0" sz="1300">
                  <a:solidFill>
                    <a:srgbClr val="F59E0B"/>
                  </a:solidFill>
                  <a:latin typeface="Outfit SemiBold"/>
                  <a:ea typeface="Outfit SemiBold"/>
                  <a:cs typeface="Outfit SemiBold"/>
                  <a:sym typeface="Outfit SemiBold"/>
                </a:endParaRPr>
              </a:p>
              <a:p>
                <a:pPr indent="0" lvl="0" marL="0" rtl="0" algn="l">
                  <a:spcBef>
                    <a:spcPts val="300"/>
                  </a:spcBef>
                  <a:spcAft>
                    <a:spcPts val="0"/>
                  </a:spcAft>
                  <a:buNone/>
                </a:pPr>
                <a:r>
                  <a:rPr b="0" lang="en-GB" sz="1050">
                    <a:solidFill>
                      <a:srgbClr val="94A3B8"/>
                    </a:solidFill>
                    <a:latin typeface="Inter"/>
                    <a:ea typeface="Inter"/>
                    <a:cs typeface="Inter"/>
                    <a:sym typeface="Inter"/>
                  </a:rPr>
                  <a:t>Adding secure cloud storage to allow users to upload photos of faults for better technician preparation.</a:t>
                </a:r>
                <a:endParaRPr b="0" sz="1050">
                  <a:solidFill>
                    <a:srgbClr val="94A3B8"/>
                  </a:solidFill>
                  <a:latin typeface="Inter"/>
                  <a:ea typeface="Inter"/>
                  <a:cs typeface="Inter"/>
                  <a:sym typeface="Inter"/>
                </a:endParaRPr>
              </a:p>
            </p:txBody>
          </p:sp>
        </p:grpSp>
        <p:grpSp>
          <p:nvGrpSpPr>
            <p:cNvPr id="553" name="Google Shape;553;p23"/>
            <p:cNvGrpSpPr/>
            <p:nvPr/>
          </p:nvGrpSpPr>
          <p:grpSpPr>
            <a:xfrm>
              <a:off x="6743700" y="3028950"/>
              <a:ext cx="1943100" cy="1447800"/>
              <a:chOff x="0" y="0"/>
              <a:chExt cx="1943100" cy="1447800"/>
            </a:xfrm>
          </p:grpSpPr>
          <p:sp>
            <p:nvSpPr>
              <p:cNvPr id="554" name="Google Shape;554;p23"/>
              <p:cNvSpPr/>
              <p:nvPr/>
            </p:nvSpPr>
            <p:spPr>
              <a:xfrm>
                <a:off x="0" y="0"/>
                <a:ext cx="1943100" cy="1447800"/>
              </a:xfrm>
              <a:prstGeom prst="roundRect">
                <a:avLst>
                  <a:gd fmla="val 5263" name="adj"/>
                </a:avLst>
              </a:prstGeom>
              <a:solidFill>
                <a:srgbClr val="1E293B"/>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55" name="Google Shape;555;p23"/>
              <p:cNvSpPr/>
              <p:nvPr/>
            </p:nvSpPr>
            <p:spPr>
              <a:xfrm>
                <a:off x="0" y="0"/>
                <a:ext cx="1943100" cy="28500"/>
              </a:xfrm>
              <a:prstGeom prst="roundRect">
                <a:avLst>
                  <a:gd fmla="val 33333" name="adj"/>
                </a:avLst>
              </a:prstGeom>
              <a:solidFill>
                <a:srgbClr val="38BDF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56" name="Google Shape;556;p23"/>
              <p:cNvSpPr txBox="1"/>
              <p:nvPr/>
            </p:nvSpPr>
            <p:spPr>
              <a:xfrm>
                <a:off x="133350" y="133350"/>
                <a:ext cx="1676400" cy="1181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1300">
                    <a:solidFill>
                      <a:srgbClr val="38BDF8"/>
                    </a:solidFill>
                    <a:latin typeface="Outfit SemiBold"/>
                    <a:ea typeface="Outfit SemiBold"/>
                    <a:cs typeface="Outfit SemiBold"/>
                    <a:sym typeface="Outfit SemiBold"/>
                  </a:rPr>
                  <a:t>Accessibility</a:t>
                </a:r>
                <a:endParaRPr b="0" sz="1300">
                  <a:solidFill>
                    <a:srgbClr val="38BDF8"/>
                  </a:solidFill>
                  <a:latin typeface="Outfit SemiBold"/>
                  <a:ea typeface="Outfit SemiBold"/>
                  <a:cs typeface="Outfit SemiBold"/>
                  <a:sym typeface="Outfit SemiBold"/>
                </a:endParaRPr>
              </a:p>
              <a:p>
                <a:pPr indent="0" lvl="0" marL="0" rtl="0" algn="l">
                  <a:spcBef>
                    <a:spcPts val="300"/>
                  </a:spcBef>
                  <a:spcAft>
                    <a:spcPts val="0"/>
                  </a:spcAft>
                  <a:buNone/>
                </a:pPr>
                <a:r>
                  <a:rPr b="0" lang="en-GB" sz="1050">
                    <a:solidFill>
                      <a:srgbClr val="94A3B8"/>
                    </a:solidFill>
                    <a:latin typeface="Inter"/>
                    <a:ea typeface="Inter"/>
                    <a:cs typeface="Inter"/>
                    <a:sym typeface="Inter"/>
                  </a:rPr>
                  <a:t>Expanding platform reach through comprehensive regional language localization.</a:t>
                </a:r>
                <a:endParaRPr b="0" sz="1050">
                  <a:solidFill>
                    <a:srgbClr val="94A3B8"/>
                  </a:solidFill>
                  <a:latin typeface="Inter"/>
                  <a:ea typeface="Inter"/>
                  <a:cs typeface="Inter"/>
                  <a:sym typeface="Inter"/>
                </a:endParaRPr>
              </a:p>
            </p:txBody>
          </p:sp>
        </p:grpSp>
      </p:grpSp>
      <p:grpSp>
        <p:nvGrpSpPr>
          <p:cNvPr id="557" name="Google Shape;557;p23"/>
          <p:cNvGrpSpPr/>
          <p:nvPr/>
        </p:nvGrpSpPr>
        <p:grpSpPr>
          <a:xfrm>
            <a:off x="457200" y="4681538"/>
            <a:ext cx="8229600" cy="290513"/>
            <a:chOff x="457200" y="4681538"/>
            <a:chExt cx="8229600" cy="290513"/>
          </a:xfrm>
        </p:grpSpPr>
        <p:pic>
          <p:nvPicPr>
            <p:cNvPr id="558" name="Google Shape;558;p23"/>
            <p:cNvPicPr preferRelativeResize="0"/>
            <p:nvPr/>
          </p:nvPicPr>
          <p:blipFill rotWithShape="1">
            <a:blip r:embed="rId5">
              <a:alphaModFix/>
            </a:blip>
            <a:srcRect b="0" l="0" r="0" t="0"/>
            <a:stretch/>
          </p:blipFill>
          <p:spPr>
            <a:xfrm>
              <a:off x="457200" y="4681538"/>
              <a:ext cx="8229600" cy="9600"/>
            </a:xfrm>
            <a:prstGeom prst="rect">
              <a:avLst/>
            </a:prstGeom>
            <a:noFill/>
            <a:ln>
              <a:noFill/>
            </a:ln>
          </p:spPr>
        </p:pic>
        <p:sp>
          <p:nvSpPr>
            <p:cNvPr id="559" name="Google Shape;559;p23"/>
            <p:cNvSpPr txBox="1"/>
            <p:nvPr/>
          </p:nvSpPr>
          <p:spPr>
            <a:xfrm>
              <a:off x="457200" y="478155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1000">
                  <a:solidFill>
                    <a:srgbClr val="94A3B8"/>
                  </a:solidFill>
                  <a:latin typeface="Inter SemiBold"/>
                  <a:ea typeface="Inter SemiBold"/>
                  <a:cs typeface="Inter SemiBold"/>
                  <a:sym typeface="Inter SemiBold"/>
                </a:rPr>
                <a:t>Smart EB Connect | FSD Architecture</a:t>
              </a:r>
              <a:endParaRPr b="0" sz="1000">
                <a:solidFill>
                  <a:srgbClr val="94A3B8"/>
                </a:solidFill>
                <a:latin typeface="Inter SemiBold"/>
                <a:ea typeface="Inter SemiBold"/>
                <a:cs typeface="Inter SemiBold"/>
                <a:sym typeface="Inter SemiBold"/>
              </a:endParaRPr>
            </a:p>
          </p:txBody>
        </p:sp>
        <p:sp>
          <p:nvSpPr>
            <p:cNvPr id="560" name="Google Shape;560;p23"/>
            <p:cNvSpPr txBox="1"/>
            <p:nvPr/>
          </p:nvSpPr>
          <p:spPr>
            <a:xfrm>
              <a:off x="4876800" y="478155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GB" sz="1000">
                  <a:solidFill>
                    <a:srgbClr val="94A3B8"/>
                  </a:solidFill>
                  <a:latin typeface="Inter SemiBold"/>
                  <a:ea typeface="Inter SemiBold"/>
                  <a:cs typeface="Inter SemiBold"/>
                  <a:sym typeface="Inter SemiBold"/>
                </a:rPr>
                <a:t>Demo Walkthrough &amp; Roadmap</a:t>
              </a:r>
              <a:endParaRPr b="0" sz="1000">
                <a:solidFill>
                  <a:srgbClr val="94A3B8"/>
                </a:solidFill>
                <a:latin typeface="Inter SemiBold"/>
                <a:ea typeface="Inter SemiBold"/>
                <a:cs typeface="Inter SemiBold"/>
                <a:sym typeface="Inter SemiBold"/>
              </a:endParaRPr>
            </a:p>
          </p:txBody>
        </p:sp>
      </p:gr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